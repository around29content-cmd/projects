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Open Sans"/>
      <p:regular r:id="rId17"/>
      <p:bold r:id="rId16"/>
      <p:italic r:id="rId19"/>
    </p:embeddedFont>
    <p:embeddedFont>
      <p:font typeface="Open Sans Semi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049250" y="-2762250"/>
            <a:ext cx="8191500" cy="8191500"/>
          </a:xfrm>
          <a:prstGeom prst="ellipse">
            <a:avLst/>
          </a:prstGeom>
          <a:solidFill>
            <a:srgbClr val="1B1B1C"/>
          </a:solidFill>
          <a:ln/>
        </p:spPr>
      </p:sp>
      <p:sp>
        <p:nvSpPr>
          <p:cNvPr id="3" name="Shape 1"/>
          <p:cNvSpPr/>
          <p:nvPr/>
        </p:nvSpPr>
        <p:spPr>
          <a:xfrm>
            <a:off x="13335000" y="6572250"/>
            <a:ext cx="4572000" cy="4572000"/>
          </a:xfrm>
          <a:prstGeom prst="ellipse">
            <a:avLst/>
          </a:prstGeom>
          <a:solidFill>
            <a:srgbClr val="FFA737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333500"/>
            <a:ext cx="1238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PREPARED</a:t>
            </a:r>
            <a:r>
              <a:rPr lang="en-US" sz="1800" b="1" spc="451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</a:t>
            </a:r>
            <a:r>
              <a:rPr lang="en-US" sz="1800" b="1" spc="455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AA</a:t>
            </a:r>
            <a:r>
              <a:rPr lang="en-US" sz="1800" b="1" spc="449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ROOFING</a:t>
            </a:r>
            <a:r>
              <a:rPr lang="en-US" sz="1800" b="1" spc="452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b="1" spc="449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DECKING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381250"/>
            <a:ext cx="12192000" cy="2857500"/>
          </a:xfrm>
          <a:prstGeom prst="rect">
            <a:avLst/>
          </a:prstGeom>
          <a:noFill/>
          <a:ln/>
        </p:spPr>
        <p:txBody>
          <a:bodyPr wrap="square" lIns="0" tIns="75056" rIns="0" bIns="-75056" rtlCol="0" anchor="t"/>
          <a:lstStyle/>
          <a:p>
            <a:pPr algn="l" indent="0" marL="0">
              <a:lnSpc>
                <a:spcPts val="6765"/>
              </a:lnSpc>
              <a:buNone/>
            </a:pPr>
            <a:r>
              <a:rPr lang="en-US" sz="6150" b="1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More re-roof</a:t>
            </a:r>
            <a:r>
              <a:rPr lang="en-US" sz="6150" b="1" dirty="0" spc="-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estimates</a:t>
            </a:r>
            <a:r>
              <a:rPr lang="en-US" sz="6150" b="1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from</a:t>
            </a:r>
            <a:r>
              <a:rPr lang="en-US" sz="6150" b="1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cities</a:t>
            </a:r>
            <a:r>
              <a:rPr lang="en-US" sz="6150" b="1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</a:t>
            </a:r>
            <a:r>
              <a:rPr lang="en-US" sz="6150" b="1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choose</a:t>
            </a:r>
            <a:endParaRPr lang="en-US" sz="6150" dirty="0"/>
          </a:p>
        </p:txBody>
      </p:sp>
      <p:sp>
        <p:nvSpPr>
          <p:cNvPr id="6" name="Text 4"/>
          <p:cNvSpPr/>
          <p:nvPr/>
        </p:nvSpPr>
        <p:spPr>
          <a:xfrm>
            <a:off x="1143000" y="5905500"/>
            <a:ext cx="10477500" cy="1095375"/>
          </a:xfrm>
          <a:prstGeom prst="rect">
            <a:avLst/>
          </a:prstGeom>
          <a:noFill/>
          <a:ln/>
        </p:spPr>
        <p:txBody>
          <a:bodyPr wrap="square" lIns="0" tIns="7253" rIns="0" bIns="-7253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 spc="-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r>
              <a:rPr lang="en-US" sz="2250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Google</a:t>
            </a:r>
            <a:r>
              <a:rPr lang="en-US" sz="2250" dirty="0" spc="-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Ads</a:t>
            </a:r>
            <a:r>
              <a:rPr lang="en-US" sz="2250" dirty="0" spc="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opportunity</a:t>
            </a:r>
            <a:r>
              <a:rPr lang="en-US" sz="2250" dirty="0" spc="3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built</a:t>
            </a:r>
            <a:r>
              <a:rPr lang="en-US" sz="2250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around</a:t>
            </a:r>
            <a:r>
              <a:rPr lang="en-US" sz="2250" dirty="0" spc="0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 roofing</a:t>
            </a:r>
            <a:r>
              <a:rPr lang="en-US" sz="2250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2250" dirty="0" spc="-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deck work,</a:t>
            </a:r>
            <a:r>
              <a:rPr lang="en-US" sz="2250" dirty="0" spc="0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2250" dirty="0" spc="-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free-estimate</a:t>
            </a:r>
            <a:r>
              <a:rPr lang="en-US" sz="2250" dirty="0" spc="-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offer</a:t>
            </a:r>
            <a:r>
              <a:rPr lang="en-US" sz="2250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your</a:t>
            </a:r>
            <a:r>
              <a:rPr lang="en-US" sz="2250" dirty="0" spc="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financing.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143000" y="8096250"/>
            <a:ext cx="3143250" cy="99060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/>
        </p:spPr>
      </p:sp>
      <p:pic>
        <p:nvPicPr>
          <p:cNvPr id="8" name="Moda image rect-1792011998711-35088239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47800" y="8286750"/>
            <a:ext cx="609600" cy="609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47900" y="8420100"/>
            <a:ext cx="180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Around29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4667250" y="8343900"/>
            <a:ext cx="7239000" cy="666750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0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Around29</a:t>
            </a:r>
            <a:r>
              <a:rPr lang="en-US" sz="1725" dirty="0" spc="-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Digital</a:t>
            </a:r>
            <a:r>
              <a:rPr lang="en-US" sz="1725" dirty="0" spc="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Media</a:t>
            </a:r>
            <a:r>
              <a:rPr lang="en-US" sz="1725" dirty="0" spc="-2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Solutions</a:t>
            </a:r>
            <a:r>
              <a:rPr lang="en-US" sz="1725" dirty="0" spc="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</a:t>
            </a:r>
            <a:r>
              <a:rPr lang="en-US" sz="1725" dirty="0" spc="0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around29.com</a:t>
            </a:r>
            <a:endParaRPr lang="en-US" sz="1725" dirty="0"/>
          </a:p>
          <a:p>
            <a:pPr algn="l" indent="0" marL="0">
              <a:lnSpc>
                <a:spcPts val="2415"/>
              </a:lnSpc>
              <a:buNone/>
            </a:pPr>
            <a:r>
              <a:rPr lang="en-US" sz="1725" dirty="0" spc="4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October</a:t>
            </a:r>
            <a:r>
              <a:rPr lang="en-US" sz="1725" dirty="0" spc="-2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2026</a:t>
            </a:r>
            <a:endParaRPr lang="en-US" sz="1725" dirty="0"/>
          </a:p>
        </p:txBody>
      </p:sp>
      <p:sp>
        <p:nvSpPr>
          <p:cNvPr id="11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2" name="Moda image moda-export-watermark-4ee4109c-e094-4815-b83e-0edd09e06b59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5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</a:t>
            </a:r>
            <a:r>
              <a:rPr lang="en-US" sz="1650" b="1" spc="376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650" b="1" spc="373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BUSINESS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we understand about</a:t>
            </a:r>
            <a:r>
              <a:rPr lang="en-US" sz="420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AA</a:t>
            </a:r>
            <a:r>
              <a:rPr lang="en-US" sz="42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Roofing and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Decking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43000" y="2857500"/>
            <a:ext cx="5080000" cy="4953000"/>
          </a:xfrm>
          <a:prstGeom prst="roundRect">
            <a:avLst>
              <a:gd name="adj" fmla="val 3846"/>
            </a:avLst>
          </a:prstGeom>
          <a:solidFill>
            <a:srgbClr val="F3F3F5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238500"/>
            <a:ext cx="431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</a:t>
            </a:r>
            <a:r>
              <a:rPr lang="en-US" sz="21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 do</a:t>
            </a:r>
            <a:endParaRPr lang="en-US" sz="2100" dirty="0"/>
          </a:p>
        </p:txBody>
      </p:sp>
      <p:sp>
        <p:nvSpPr>
          <p:cNvPr id="6" name="Text richtext-1792012052285-577266167"/>
          <p:cNvSpPr/>
          <p:nvPr/>
        </p:nvSpPr>
        <p:spPr>
          <a:xfrm>
            <a:off x="1524000" y="3790950"/>
            <a:ext cx="4318000" cy="3143250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Roof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installation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repair: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flat,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shingle,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composition,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metal, tile,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TPO and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PVC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Residential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commercial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roofing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composite decks,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patio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covers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pergolas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Siding,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railings and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painting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04000" y="2857500"/>
            <a:ext cx="5080000" cy="4953000"/>
          </a:xfrm>
          <a:prstGeom prst="roundRect">
            <a:avLst>
              <a:gd name="adj" fmla="val 3846"/>
            </a:avLst>
          </a:prstGeom>
          <a:solidFill>
            <a:srgbClr val="101112"/>
          </a:solidFill>
          <a:ln/>
        </p:spPr>
      </p:sp>
      <p:sp>
        <p:nvSpPr>
          <p:cNvPr id="8" name="Text 6"/>
          <p:cNvSpPr/>
          <p:nvPr/>
        </p:nvSpPr>
        <p:spPr>
          <a:xfrm>
            <a:off x="6985000" y="3238500"/>
            <a:ext cx="431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2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</a:t>
            </a:r>
            <a:r>
              <a:rPr lang="en-US" sz="2100" b="1" dirty="0" spc="0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offer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985000" y="3790950"/>
            <a:ext cx="4318000" cy="1714500"/>
          </a:xfrm>
          <a:prstGeom prst="rect">
            <a:avLst/>
          </a:prstGeom>
          <a:noFill/>
          <a:ln/>
        </p:spPr>
        <p:txBody>
          <a:bodyPr wrap="square" lIns="0" tIns="7019" rIns="0" bIns="-7019" rtlCol="0" anchor="t"/>
          <a:lstStyle/>
          <a:p>
            <a:pPr algn="l" indent="0" marL="0">
              <a:lnSpc>
                <a:spcPts val="3154"/>
              </a:lnSpc>
              <a:buNone/>
            </a:pPr>
            <a:r>
              <a:rPr lang="en-US" sz="2175" dirty="0" spc="0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"FREE</a:t>
            </a:r>
            <a:r>
              <a:rPr lang="en-US" sz="2175" dirty="0" spc="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ESTIMATE</a:t>
            </a:r>
            <a:r>
              <a:rPr lang="en-US" sz="2175" dirty="0" spc="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for</a:t>
            </a:r>
            <a:r>
              <a:rPr lang="en-US" sz="2175" dirty="0" spc="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your re-roof</a:t>
            </a:r>
            <a:r>
              <a:rPr lang="en-US" sz="2175" dirty="0" spc="3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or</a:t>
            </a:r>
            <a:r>
              <a:rPr lang="en-US" sz="2175" dirty="0" spc="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roof</a:t>
            </a:r>
            <a:r>
              <a:rPr lang="en-US" sz="2175" dirty="0" spc="0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repair"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6985000" y="5676900"/>
            <a:ext cx="4318000" cy="1428750"/>
          </a:xfrm>
          <a:prstGeom prst="rect">
            <a:avLst/>
          </a:prstGeom>
          <a:noFill/>
          <a:ln/>
        </p:spPr>
        <p:txBody>
          <a:bodyPr wrap="square" lIns="0" tIns="2819" rIns="0" bIns="-2819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1725" dirty="0" spc="-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Financing</a:t>
            </a:r>
            <a:r>
              <a:rPr lang="en-US" sz="1725" dirty="0" spc="-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available,</a:t>
            </a:r>
            <a:r>
              <a:rPr lang="en-US" sz="1725" dirty="0" spc="-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725" dirty="0" spc="0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725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contractor</a:t>
            </a:r>
            <a:r>
              <a:rPr lang="en-US" sz="1725" dirty="0" spc="0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licence</a:t>
            </a:r>
            <a:r>
              <a:rPr lang="en-US" sz="1725" dirty="0" spc="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AAROORD797KC</a:t>
            </a:r>
            <a:r>
              <a:rPr lang="en-US" sz="1725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displayed</a:t>
            </a:r>
            <a:r>
              <a:rPr lang="en-US" sz="1725" dirty="0" spc="-3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</a:t>
            </a:r>
            <a:r>
              <a:rPr lang="en-US" sz="1725" dirty="0" spc="0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725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site.</a:t>
            </a:r>
            <a:r>
              <a:rPr lang="en-US" sz="1725" dirty="0" spc="0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Licensed,</a:t>
            </a:r>
            <a:r>
              <a:rPr lang="en-US" sz="1725" dirty="0" spc="3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bonded</a:t>
            </a:r>
            <a:r>
              <a:rPr lang="en-US" sz="1725" dirty="0" spc="-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725" dirty="0" spc="0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insured.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12065000" y="2857500"/>
            <a:ext cx="5080000" cy="4953000"/>
          </a:xfrm>
          <a:prstGeom prst="roundRect">
            <a:avLst>
              <a:gd name="adj" fmla="val 3846"/>
            </a:avLst>
          </a:prstGeom>
          <a:solidFill>
            <a:srgbClr val="F3F3F5"/>
          </a:solidFill>
          <a:ln/>
        </p:spPr>
      </p:sp>
      <p:sp>
        <p:nvSpPr>
          <p:cNvPr id="12" name="Text 10"/>
          <p:cNvSpPr/>
          <p:nvPr/>
        </p:nvSpPr>
        <p:spPr>
          <a:xfrm>
            <a:off x="12446000" y="3238500"/>
            <a:ext cx="431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</a:t>
            </a:r>
            <a:r>
              <a:rPr lang="en-US" sz="210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customers</a:t>
            </a:r>
            <a:r>
              <a:rPr lang="en-US" sz="2100" b="1" dirty="0" spc="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reach</a:t>
            </a:r>
            <a:r>
              <a:rPr lang="en-US" sz="21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</a:t>
            </a:r>
            <a:endParaRPr lang="en-US" sz="2100" dirty="0"/>
          </a:p>
        </p:txBody>
      </p:sp>
      <p:sp>
        <p:nvSpPr>
          <p:cNvPr id="13" name="Text richtext-1792012052329-479045928"/>
          <p:cNvSpPr/>
          <p:nvPr/>
        </p:nvSpPr>
        <p:spPr>
          <a:xfrm>
            <a:off x="12446000" y="3790950"/>
            <a:ext cx="4318000" cy="1905000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Phone,</a:t>
            </a:r>
            <a:r>
              <a:rPr lang="en-US" sz="180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site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header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Email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Website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contact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form for estimates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91440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Everything</a:t>
            </a:r>
            <a:r>
              <a:rPr lang="en-US" sz="1500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</a:t>
            </a:r>
            <a:r>
              <a:rPr lang="en-US" sz="1500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this</a:t>
            </a:r>
            <a:r>
              <a:rPr lang="en-US" sz="1500" dirty="0" spc="4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slide</a:t>
            </a:r>
            <a:r>
              <a:rPr lang="en-US" sz="1500" dirty="0" spc="3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comes</a:t>
            </a:r>
            <a:r>
              <a:rPr lang="en-US" sz="1500" dirty="0" spc="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from</a:t>
            </a:r>
            <a:r>
              <a:rPr lang="en-US" sz="1500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 own</a:t>
            </a:r>
            <a:r>
              <a:rPr lang="en-US" sz="1500" dirty="0" spc="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website,</a:t>
            </a:r>
            <a:r>
              <a:rPr lang="en-US" sz="1500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aaroofingdecking.com.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05b55c02-f264-4cf1-a95d-801d316ccef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7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</a:t>
            </a:r>
            <a:r>
              <a:rPr lang="en-US" sz="1650" b="1" spc="376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CUSTOMER SEARCH OPPORTUNITY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</a:t>
            </a:r>
            <a:r>
              <a:rPr lang="en-US" sz="42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customers</a:t>
            </a:r>
            <a:r>
              <a:rPr lang="en-US" sz="4200" b="1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are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searching</a:t>
            </a:r>
            <a:r>
              <a:rPr lang="en-US" sz="4200" b="1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right</a:t>
            </a:r>
            <a:r>
              <a:rPr lang="en-US" sz="42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now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43000" y="2571750"/>
            <a:ext cx="14287500" cy="952500"/>
          </a:xfrm>
          <a:prstGeom prst="rect">
            <a:avLst/>
          </a:prstGeom>
          <a:noFill/>
          <a:ln/>
        </p:spPr>
        <p:txBody>
          <a:bodyPr wrap="square" lIns="0" tIns="3451" rIns="0" bIns="-345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r>
              <a:rPr lang="en-US" sz="21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failing</a:t>
            </a:r>
            <a:r>
              <a:rPr lang="en-US" sz="2100" dirty="0" spc="-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roof</a:t>
            </a:r>
            <a:r>
              <a:rPr lang="en-US" sz="21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rarely</a:t>
            </a:r>
            <a:r>
              <a:rPr lang="en-US" sz="21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waits,</a:t>
            </a:r>
            <a:r>
              <a:rPr lang="en-US" sz="21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21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homeowner</a:t>
            </a:r>
            <a:r>
              <a:rPr lang="en-US" sz="21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planning a replacement</a:t>
            </a:r>
            <a:r>
              <a:rPr lang="en-US" sz="21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starts</a:t>
            </a:r>
            <a:r>
              <a:rPr lang="en-US" sz="2100" dirty="0" spc="-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by</a:t>
            </a:r>
            <a:r>
              <a:rPr lang="en-US" sz="21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searching. These</a:t>
            </a:r>
            <a:r>
              <a:rPr lang="en-US" sz="21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are</a:t>
            </a:r>
            <a:r>
              <a:rPr lang="en-US" sz="21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21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kinds</a:t>
            </a:r>
            <a:r>
              <a:rPr lang="en-US" sz="2100" dirty="0" spc="-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</a:t>
            </a:r>
            <a:r>
              <a:rPr lang="en-US" sz="21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searches</a:t>
            </a:r>
            <a:r>
              <a:rPr lang="en-US" sz="21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21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services answer: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43000" y="4095750"/>
            <a:ext cx="400050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roof</a:t>
            </a:r>
            <a:r>
              <a:rPr lang="en-US" sz="1950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replacement</a:t>
            </a:r>
            <a:r>
              <a:rPr lang="en-US" sz="1950" dirty="0" spc="-5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near</a:t>
            </a:r>
            <a:r>
              <a:rPr lang="en-US" sz="1950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372100" y="4095750"/>
            <a:ext cx="3286125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roof</a:t>
            </a:r>
            <a:r>
              <a:rPr lang="en-US" sz="1950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repair</a:t>
            </a:r>
            <a:r>
              <a:rPr lang="en-US" sz="1950" dirty="0" spc="-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near</a:t>
            </a:r>
            <a:r>
              <a:rPr lang="en-US" sz="1950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886825" y="4095750"/>
            <a:ext cx="2428875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metal roofing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544300" y="4095750"/>
            <a:ext cx="285750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roof</a:t>
            </a:r>
            <a:r>
              <a:rPr lang="en-US" sz="1950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leak repair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43000" y="5048250"/>
            <a:ext cx="361950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roof</a:t>
            </a:r>
            <a:r>
              <a:rPr lang="en-US" sz="1950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replacement</a:t>
            </a:r>
            <a:r>
              <a:rPr lang="en-US" sz="1950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cost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991100" y="5048250"/>
            <a:ext cx="257175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roof</a:t>
            </a:r>
            <a:r>
              <a:rPr lang="en-US" sz="1950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financing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791450" y="5048250"/>
            <a:ext cx="342900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deck</a:t>
            </a:r>
            <a:r>
              <a:rPr lang="en-US" sz="1950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builder</a:t>
            </a:r>
            <a:r>
              <a:rPr lang="en-US" sz="1950" dirty="0" spc="-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near</a:t>
            </a:r>
            <a:r>
              <a:rPr lang="en-US" sz="1950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449050" y="5048250"/>
            <a:ext cx="3571875" cy="6858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free</a:t>
            </a:r>
            <a:r>
              <a:rPr lang="en-US" sz="1950" dirty="0" spc="3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roofing</a:t>
            </a:r>
            <a:r>
              <a:rPr lang="en-US" sz="1950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estimate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143000" y="6667500"/>
            <a:ext cx="16002000" cy="2190750"/>
          </a:xfrm>
          <a:prstGeom prst="roundRect">
            <a:avLst>
              <a:gd name="adj" fmla="val 8696"/>
            </a:avLst>
          </a:prstGeom>
          <a:solidFill>
            <a:srgbClr val="101112"/>
          </a:solidFill>
          <a:ln/>
        </p:spPr>
      </p:sp>
      <p:sp>
        <p:nvSpPr>
          <p:cNvPr id="14" name="Text 12"/>
          <p:cNvSpPr/>
          <p:nvPr/>
        </p:nvSpPr>
        <p:spPr>
          <a:xfrm>
            <a:off x="1524000" y="7048500"/>
            <a:ext cx="15240000" cy="331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 spc="1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</a:t>
            </a:r>
            <a:r>
              <a:rPr lang="en-US" sz="2025" b="1" dirty="0" spc="2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this</a:t>
            </a:r>
            <a:r>
              <a:rPr lang="en-US" sz="2025" b="1" dirty="0" spc="-1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matters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524000" y="7518942"/>
            <a:ext cx="15240000" cy="958308"/>
          </a:xfrm>
          <a:prstGeom prst="rect">
            <a:avLst/>
          </a:prstGeom>
          <a:noFill/>
          <a:ln/>
        </p:spPr>
        <p:txBody>
          <a:bodyPr wrap="square" lIns="0" tIns="3065" rIns="0" bIns="-3065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Google Search advertising shows your business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only</a:t>
            </a:r>
            <a:r>
              <a:rPr lang="en-US" sz="1875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cities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choose,</a:t>
            </a:r>
            <a:r>
              <a:rPr lang="en-US" sz="1875" dirty="0" spc="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at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moment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these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searches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happen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there.</a:t>
            </a:r>
            <a:r>
              <a:rPr lang="en-US" sz="1875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companies advertising</a:t>
            </a:r>
            <a:r>
              <a:rPr lang="en-US" sz="1875" dirty="0" spc="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are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ones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being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seen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called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first.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143000" y="9286875"/>
            <a:ext cx="142875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Illustrative search</a:t>
            </a:r>
            <a:r>
              <a:rPr lang="en-US" sz="1500" i="1" dirty="0" spc="-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themes</a:t>
            </a: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based on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 services.</a:t>
            </a:r>
            <a:r>
              <a:rPr lang="en-US" sz="1500" i="1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Not keyword-volume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research.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4181eab5-44c2-4132-a8d6-3826c8188a3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7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</a:t>
            </a:r>
            <a:r>
              <a:rPr lang="en-US" sz="1650" b="1" spc="374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BUSINESS-SPECIFIC</a:t>
            </a:r>
            <a:r>
              <a:rPr lang="en-US" sz="1650" b="1" spc="377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OPPORTUNITY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r>
              <a:rPr lang="en-US" sz="4200" b="1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strong offer,</a:t>
            </a:r>
            <a:r>
              <a:rPr lang="en-US" sz="4200" b="1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ready</a:t>
            </a:r>
            <a:r>
              <a:rPr lang="en-US" sz="4200" b="1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</a:t>
            </a:r>
            <a:r>
              <a:rPr lang="en-US" sz="4200" b="1" dirty="0" spc="-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be</a:t>
            </a:r>
            <a:r>
              <a:rPr lang="en-US" sz="4200" b="1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seen</a:t>
            </a:r>
            <a:r>
              <a:rPr lang="en-US" sz="4200" b="1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city</a:t>
            </a:r>
            <a:r>
              <a:rPr lang="en-US" sz="4200" b="1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by</a:t>
            </a:r>
            <a:r>
              <a:rPr lang="en-US" sz="4200" b="1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city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43000" y="2762250"/>
            <a:ext cx="5080000" cy="3810000"/>
          </a:xfrm>
          <a:prstGeom prst="roundRect">
            <a:avLst>
              <a:gd name="adj" fmla="val 5000"/>
            </a:avLst>
          </a:prstGeom>
          <a:solidFill>
            <a:srgbClr val="1B1B1C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14325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FREE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524000" y="42672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10118" rIns="0" bIns="-10118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Estimate</a:t>
            </a:r>
            <a:r>
              <a:rPr lang="en-US" sz="2100" dirty="0" spc="-4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for your re-roof</a:t>
            </a:r>
            <a:r>
              <a:rPr lang="en-US" sz="2100" dirty="0" spc="-6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or</a:t>
            </a:r>
            <a:r>
              <a:rPr lang="en-US" sz="2100" dirty="0" spc="-5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roof</a:t>
            </a:r>
            <a:r>
              <a:rPr lang="en-US" sz="2100" dirty="0" spc="-3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repair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24000" y="5581650"/>
            <a:ext cx="431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 spc="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</a:t>
            </a:r>
            <a:r>
              <a:rPr lang="en-US" sz="1500" dirty="0" spc="0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500" dirty="0" spc="2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roofing</a:t>
            </a:r>
            <a:r>
              <a:rPr lang="en-US" sz="1500" dirty="0" spc="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page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04000" y="2762250"/>
            <a:ext cx="5080000" cy="3810000"/>
          </a:xfrm>
          <a:prstGeom prst="roundRect">
            <a:avLst>
              <a:gd name="adj" fmla="val 5000"/>
            </a:avLst>
          </a:prstGeom>
          <a:solidFill>
            <a:srgbClr val="1B1B1C"/>
          </a:solidFill>
          <a:ln/>
        </p:spPr>
      </p:sp>
      <p:sp>
        <p:nvSpPr>
          <p:cNvPr id="9" name="Text 7"/>
          <p:cNvSpPr/>
          <p:nvPr/>
        </p:nvSpPr>
        <p:spPr>
          <a:xfrm>
            <a:off x="6985000" y="314325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2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Financing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985000" y="42672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10118" rIns="0" bIns="-10118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3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Offered</a:t>
            </a:r>
            <a:r>
              <a:rPr lang="en-US" sz="2100" dirty="0" spc="-4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on your</a:t>
            </a:r>
            <a:r>
              <a:rPr lang="en-US" sz="2100" dirty="0" spc="-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site, widening</a:t>
            </a:r>
            <a:r>
              <a:rPr lang="en-US" sz="2100" dirty="0" spc="-4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who</a:t>
            </a:r>
            <a:r>
              <a:rPr lang="en-US" sz="2100" dirty="0" spc="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can</a:t>
            </a:r>
            <a:r>
              <a:rPr lang="en-US" sz="2100" dirty="0" spc="-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say</a:t>
            </a:r>
            <a:r>
              <a:rPr lang="en-US" sz="2100" dirty="0" spc="-3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yes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985000" y="5581650"/>
            <a:ext cx="431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 spc="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</a:t>
            </a:r>
            <a:r>
              <a:rPr lang="en-US" sz="1500" dirty="0" spc="0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500" dirty="0" spc="3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website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2065000" y="2762250"/>
            <a:ext cx="5080000" cy="3810000"/>
          </a:xfrm>
          <a:prstGeom prst="roundRect">
            <a:avLst>
              <a:gd name="adj" fmla="val 5000"/>
            </a:avLst>
          </a:prstGeom>
          <a:solidFill>
            <a:srgbClr val="1B1B1C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6000" y="314325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 spc="6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6+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12446000" y="42672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10118" rIns="0" bIns="-10118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Roofing</a:t>
            </a:r>
            <a:r>
              <a:rPr lang="en-US" sz="2100" dirty="0" spc="-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systems</a:t>
            </a:r>
            <a:r>
              <a:rPr lang="en-US" sz="2100" dirty="0" spc="-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installed, shingle</a:t>
            </a:r>
            <a:r>
              <a:rPr lang="en-US" sz="2100" dirty="0" spc="-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to</a:t>
            </a:r>
            <a:r>
              <a:rPr lang="en-US" sz="2100" dirty="0" spc="0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TPO</a:t>
            </a:r>
            <a:r>
              <a:rPr lang="en-US" sz="2100" dirty="0" spc="-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and</a:t>
            </a:r>
            <a:r>
              <a:rPr lang="en-US" sz="2100" dirty="0" spc="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PVC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446000" y="5581650"/>
            <a:ext cx="431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 spc="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</a:t>
            </a:r>
            <a:r>
              <a:rPr lang="en-US" sz="1500" dirty="0" spc="0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500" dirty="0" spc="3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website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43000" y="7239000"/>
            <a:ext cx="16002000" cy="1905000"/>
          </a:xfrm>
          <a:prstGeom prst="roundRect">
            <a:avLst>
              <a:gd name="adj" fmla="val 10000"/>
            </a:avLst>
          </a:prstGeom>
          <a:solidFill>
            <a:srgbClr val="FFA737"/>
          </a:solidFill>
          <a:ln/>
        </p:spPr>
      </p:sp>
      <p:sp>
        <p:nvSpPr>
          <p:cNvPr id="17" name="Text 15"/>
          <p:cNvSpPr/>
          <p:nvPr/>
        </p:nvSpPr>
        <p:spPr>
          <a:xfrm>
            <a:off x="1524000" y="7620000"/>
            <a:ext cx="15240000" cy="1143000"/>
          </a:xfrm>
          <a:prstGeom prst="rect">
            <a:avLst/>
          </a:prstGeom>
          <a:noFill/>
          <a:ln/>
        </p:spPr>
        <p:txBody>
          <a:bodyPr wrap="square" lIns="0" tIns="7019" rIns="0" bIns="-7019" rtlCol="0" anchor="ctr"/>
          <a:lstStyle/>
          <a:p>
            <a:pPr algn="l" indent="0" marL="0">
              <a:lnSpc>
                <a:spcPts val="3154"/>
              </a:lnSpc>
              <a:buNone/>
            </a:pPr>
            <a:r>
              <a:rPr lang="en-US" sz="217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One</a:t>
            </a:r>
            <a:r>
              <a:rPr lang="en-US" sz="2175" dirty="0" spc="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re-roof</a:t>
            </a:r>
            <a:r>
              <a:rPr lang="en-US" sz="217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can</a:t>
            </a:r>
            <a:r>
              <a:rPr lang="en-US" sz="2175" dirty="0" spc="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carry</a:t>
            </a: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weeks</a:t>
            </a:r>
            <a:r>
              <a:rPr lang="en-US" sz="217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of</a:t>
            </a:r>
            <a:r>
              <a:rPr lang="en-US" sz="217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advertising.</a:t>
            </a:r>
            <a:r>
              <a:rPr lang="en-US" sz="217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City-targeted</a:t>
            </a: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ads put your free-estimate</a:t>
            </a:r>
            <a:r>
              <a:rPr lang="en-US" sz="2175" dirty="0" spc="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offer</a:t>
            </a:r>
            <a:r>
              <a:rPr lang="en-US" sz="2175" dirty="0" spc="-4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in</a:t>
            </a: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front</a:t>
            </a:r>
            <a:r>
              <a:rPr lang="en-US" sz="217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of</a:t>
            </a: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homeowners</a:t>
            </a:r>
            <a:r>
              <a:rPr lang="en-US" sz="217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at</a:t>
            </a: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decision time,</a:t>
            </a:r>
            <a:r>
              <a:rPr lang="en-US" sz="2175" dirty="0" spc="-4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in</a:t>
            </a: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exactly the</a:t>
            </a:r>
            <a:r>
              <a:rPr lang="en-US" sz="217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cities</a:t>
            </a: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</a:t>
            </a:r>
            <a:r>
              <a:rPr lang="en-US" sz="217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choose</a:t>
            </a:r>
            <a:r>
              <a:rPr lang="en-US" sz="2175" dirty="0" spc="-3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with us.</a:t>
            </a:r>
            <a:endParaRPr lang="en-US" sz="2175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38dc66f8-1bb7-42ad-b57f-bb015751554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6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RECOMMENDED</a:t>
            </a:r>
            <a:r>
              <a:rPr lang="en-US" sz="1650" b="1" spc="375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CAMPAIGN</a:t>
            </a:r>
            <a:r>
              <a:rPr lang="en-US" sz="1650" b="1" spc="376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APPROACH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City-targeted Search,</a:t>
            </a:r>
            <a:r>
              <a:rPr lang="en-US" sz="405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</a:t>
            </a:r>
            <a:r>
              <a:rPr lang="en-US" sz="4050" b="1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page</a:t>
            </a:r>
            <a:r>
              <a:rPr lang="en-US" sz="4050" b="1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</a:t>
            </a:r>
            <a:r>
              <a:rPr lang="en-US" sz="405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land it on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1143000" y="2667000"/>
            <a:ext cx="7810500" cy="2952750"/>
          </a:xfrm>
          <a:prstGeom prst="roundRect">
            <a:avLst>
              <a:gd name="adj" fmla="val 6452"/>
            </a:avLst>
          </a:prstGeom>
          <a:solidFill>
            <a:srgbClr val="F3F3F5"/>
          </a:solidFill>
          <a:ln/>
        </p:spPr>
      </p:sp>
      <p:sp>
        <p:nvSpPr>
          <p:cNvPr id="5" name="Text 3"/>
          <p:cNvSpPr/>
          <p:nvPr/>
        </p:nvSpPr>
        <p:spPr>
          <a:xfrm>
            <a:off x="1485900" y="3009900"/>
            <a:ext cx="7124700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Campaign themes</a:t>
            </a:r>
            <a:endParaRPr lang="en-US" sz="2025" dirty="0"/>
          </a:p>
        </p:txBody>
      </p:sp>
      <p:sp>
        <p:nvSpPr>
          <p:cNvPr id="6" name="Text richtext-1792012213837-454259122"/>
          <p:cNvSpPr/>
          <p:nvPr/>
        </p:nvSpPr>
        <p:spPr>
          <a:xfrm>
            <a:off x="1485900" y="3482181"/>
            <a:ext cx="7124700" cy="1794669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Roof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replacement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Roof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repair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leaks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Metal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specialty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roofing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Decks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patio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covers,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season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34500" y="2667000"/>
            <a:ext cx="7810500" cy="2952750"/>
          </a:xfrm>
          <a:prstGeom prst="roundRect">
            <a:avLst>
              <a:gd name="adj" fmla="val 6452"/>
            </a:avLst>
          </a:prstGeom>
          <a:solidFill>
            <a:srgbClr val="F3F3F5"/>
          </a:solidFill>
          <a:ln/>
        </p:spPr>
      </p:sp>
      <p:sp>
        <p:nvSpPr>
          <p:cNvPr id="8" name="Text 6"/>
          <p:cNvSpPr/>
          <p:nvPr/>
        </p:nvSpPr>
        <p:spPr>
          <a:xfrm>
            <a:off x="9677400" y="3009900"/>
            <a:ext cx="7124700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Geographic targeting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9677400" y="3482181"/>
            <a:ext cx="7124700" cy="1794669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entirely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around</a:t>
            </a:r>
            <a:r>
              <a:rPr lang="en-US" sz="180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cities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tell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 you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serve;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ads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show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only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there.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Deciding that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list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together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first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step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our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first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conversation.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5905500"/>
            <a:ext cx="7810500" cy="2952750"/>
          </a:xfrm>
          <a:prstGeom prst="roundRect">
            <a:avLst>
              <a:gd name="adj" fmla="val 6452"/>
            </a:avLst>
          </a:prstGeom>
          <a:solidFill>
            <a:srgbClr val="F3F3F5"/>
          </a:solidFill>
          <a:ln/>
        </p:spPr>
      </p:sp>
      <p:sp>
        <p:nvSpPr>
          <p:cNvPr id="11" name="Text 9"/>
          <p:cNvSpPr/>
          <p:nvPr/>
        </p:nvSpPr>
        <p:spPr>
          <a:xfrm>
            <a:off x="1485900" y="6248400"/>
            <a:ext cx="7124700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Landing</a:t>
            </a:r>
            <a:r>
              <a:rPr lang="en-US" sz="2025" b="1" dirty="0" spc="-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pages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485900" y="6720681"/>
            <a:ext cx="7124700" cy="1794669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roof-replacement page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pairing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 free-estimate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offer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 licence</a:t>
            </a:r>
            <a:r>
              <a:rPr lang="en-US" sz="180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financing,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plus</a:t>
            </a:r>
            <a:r>
              <a:rPr lang="en-US" sz="180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quote form. We</a:t>
            </a:r>
            <a:r>
              <a:rPr lang="en-US" sz="180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build it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as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part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setup,</a:t>
            </a:r>
            <a:r>
              <a:rPr lang="en-US" sz="1800" dirty="0" spc="-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clicks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land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where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estimates start.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334500" y="5905500"/>
            <a:ext cx="7810500" cy="2952750"/>
          </a:xfrm>
          <a:prstGeom prst="roundRect">
            <a:avLst>
              <a:gd name="adj" fmla="val 6452"/>
            </a:avLst>
          </a:prstGeom>
          <a:solidFill>
            <a:srgbClr val="F3F3F5"/>
          </a:solidFill>
          <a:ln/>
        </p:spPr>
      </p:sp>
      <p:sp>
        <p:nvSpPr>
          <p:cNvPr id="14" name="Text 12"/>
          <p:cNvSpPr/>
          <p:nvPr/>
        </p:nvSpPr>
        <p:spPr>
          <a:xfrm>
            <a:off x="9677400" y="6248400"/>
            <a:ext cx="7124700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Traffic</a:t>
            </a:r>
            <a:r>
              <a:rPr lang="en-US" sz="2025" b="1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quality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9677400" y="6720681"/>
            <a:ext cx="7124700" cy="1794669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Negative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keywords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filter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out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do-it-yourself,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job-seeker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out-of-area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searches,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budget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goes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homeowners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looking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hire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roofer.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9286875"/>
            <a:ext cx="142875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 spc="3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proposed</a:t>
            </a:r>
            <a:r>
              <a:rPr lang="en-US" sz="1500" i="1" dirty="0" spc="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approach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</a:t>
            </a: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discussion,</a:t>
            </a:r>
            <a:r>
              <a:rPr lang="en-US" sz="1500" i="1" dirty="0" spc="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refined</a:t>
            </a:r>
            <a:r>
              <a:rPr lang="en-US" sz="1500" i="1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together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before anything launches.</a:t>
            </a:r>
            <a:r>
              <a:rPr lang="en-US" sz="1500" i="1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Not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 audit</a:t>
            </a: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any</a:t>
            </a: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existing account.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23a96798-4501-4043-9973-f4488e4134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7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</a:t>
            </a:r>
            <a:r>
              <a:rPr lang="en-US" sz="1650" b="1" spc="374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PROPOSED</a:t>
            </a:r>
            <a:r>
              <a:rPr lang="en-US" sz="1650" b="1" spc="377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CUSTOMER</a:t>
            </a:r>
            <a:r>
              <a:rPr lang="en-US" sz="1650" b="1" spc="375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JOURNEY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</a:t>
            </a:r>
            <a:r>
              <a:rPr lang="en-US" sz="4200" b="1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homeowner</a:t>
            </a:r>
            <a:r>
              <a:rPr lang="en-US" sz="4200" b="1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reaches</a:t>
            </a:r>
            <a:r>
              <a:rPr lang="en-US" sz="4200" b="1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43000" y="3143250"/>
            <a:ext cx="2819400" cy="3238500"/>
          </a:xfrm>
          <a:prstGeom prst="roundRect">
            <a:avLst>
              <a:gd name="adj" fmla="val 6757"/>
            </a:avLst>
          </a:prstGeom>
          <a:solidFill>
            <a:srgbClr val="F3F3F5"/>
          </a:solidFill>
          <a:ln/>
        </p:spPr>
      </p:sp>
      <p:sp>
        <p:nvSpPr>
          <p:cNvPr id="5" name="Text 3"/>
          <p:cNvSpPr/>
          <p:nvPr/>
        </p:nvSpPr>
        <p:spPr>
          <a:xfrm>
            <a:off x="1409700" y="3409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409700" y="40767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18667" rIns="0" bIns="-18667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</a:t>
            </a:r>
            <a:r>
              <a:rPr lang="en-US" sz="195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search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09700" y="4876800"/>
            <a:ext cx="2286000" cy="1238250"/>
          </a:xfrm>
          <a:prstGeom prst="rect">
            <a:avLst/>
          </a:prstGeom>
          <a:noFill/>
          <a:ln/>
        </p:spPr>
        <p:txBody>
          <a:bodyPr wrap="square" lIns="0" tIns="7950" rIns="0" bIns="-795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"roof</a:t>
            </a:r>
            <a:r>
              <a:rPr lang="en-US" sz="165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replacement"</a:t>
            </a:r>
            <a:r>
              <a:rPr lang="en-US" sz="165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</a:t>
            </a:r>
            <a:r>
              <a:rPr lang="en-US" sz="165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65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city</a:t>
            </a:r>
            <a:r>
              <a:rPr lang="en-US" sz="165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 chose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438650" y="3143250"/>
            <a:ext cx="2819400" cy="3238500"/>
          </a:xfrm>
          <a:prstGeom prst="roundRect">
            <a:avLst>
              <a:gd name="adj" fmla="val 6757"/>
            </a:avLst>
          </a:prstGeom>
          <a:solidFill>
            <a:srgbClr val="F3F3F5"/>
          </a:solidFill>
          <a:ln/>
        </p:spPr>
      </p:sp>
      <p:sp>
        <p:nvSpPr>
          <p:cNvPr id="9" name="Text 7"/>
          <p:cNvSpPr/>
          <p:nvPr/>
        </p:nvSpPr>
        <p:spPr>
          <a:xfrm>
            <a:off x="4705350" y="3409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705350" y="40767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18667" rIns="0" bIns="-18667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</a:t>
            </a:r>
            <a:r>
              <a:rPr lang="en-US" sz="195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see</a:t>
            </a:r>
            <a:r>
              <a:rPr lang="en-US" sz="1950" b="1" dirty="0" spc="-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95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4705350" y="4876800"/>
            <a:ext cx="2286000" cy="1238250"/>
          </a:xfrm>
          <a:prstGeom prst="rect">
            <a:avLst/>
          </a:prstGeom>
          <a:noFill/>
          <a:ln/>
        </p:spPr>
        <p:txBody>
          <a:bodyPr wrap="square" lIns="0" tIns="7950" rIns="0" bIns="-795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Free</a:t>
            </a:r>
            <a:r>
              <a:rPr lang="en-US" sz="165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estimate</a:t>
            </a:r>
            <a:r>
              <a:rPr lang="en-US" sz="165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65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financing,</a:t>
            </a:r>
            <a:r>
              <a:rPr lang="en-US" sz="165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up</a:t>
            </a:r>
            <a:r>
              <a:rPr lang="en-US" sz="165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front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734300" y="3143250"/>
            <a:ext cx="2819400" cy="3238500"/>
          </a:xfrm>
          <a:prstGeom prst="roundRect">
            <a:avLst>
              <a:gd name="adj" fmla="val 6757"/>
            </a:avLst>
          </a:prstGeom>
          <a:solidFill>
            <a:srgbClr val="F3F3F5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0" y="3409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001000" y="40767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18667" rIns="0" bIns="-18667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</a:t>
            </a:r>
            <a:r>
              <a:rPr lang="en-US" sz="1950" b="1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land</a:t>
            </a:r>
            <a:r>
              <a:rPr lang="en-US" sz="1950" b="1" dirty="0" spc="-6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</a:t>
            </a:r>
            <a:r>
              <a:rPr lang="en-US" sz="1950" b="1" dirty="0" spc="-5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95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page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001000" y="4876800"/>
            <a:ext cx="2286000" cy="1238250"/>
          </a:xfrm>
          <a:prstGeom prst="rect">
            <a:avLst/>
          </a:prstGeom>
          <a:noFill/>
          <a:ln/>
        </p:spPr>
        <p:txBody>
          <a:bodyPr wrap="square" lIns="0" tIns="7950" rIns="0" bIns="-795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Licence, financing</a:t>
            </a:r>
            <a:r>
              <a:rPr lang="en-US" sz="165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65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65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quote</a:t>
            </a:r>
            <a:r>
              <a:rPr lang="en-US" sz="165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form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1029950" y="3143250"/>
            <a:ext cx="2819400" cy="3238500"/>
          </a:xfrm>
          <a:prstGeom prst="roundRect">
            <a:avLst>
              <a:gd name="adj" fmla="val 6757"/>
            </a:avLst>
          </a:prstGeom>
          <a:solidFill>
            <a:srgbClr val="F3F3F5"/>
          </a:solidFill>
          <a:ln/>
        </p:spPr>
      </p:sp>
      <p:sp>
        <p:nvSpPr>
          <p:cNvPr id="17" name="Text 15"/>
          <p:cNvSpPr/>
          <p:nvPr/>
        </p:nvSpPr>
        <p:spPr>
          <a:xfrm>
            <a:off x="11296650" y="3409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296650" y="40767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18667" rIns="0" bIns="-18667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</a:t>
            </a:r>
            <a:r>
              <a:rPr lang="en-US" sz="1950" b="1" dirty="0" spc="-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book an</a:t>
            </a:r>
            <a:r>
              <a:rPr lang="en-US" sz="195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estimate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296650" y="4876800"/>
            <a:ext cx="2286000" cy="1238250"/>
          </a:xfrm>
          <a:prstGeom prst="rect">
            <a:avLst/>
          </a:prstGeom>
          <a:noFill/>
          <a:ln/>
        </p:spPr>
        <p:txBody>
          <a:bodyPr wrap="square" lIns="0" tIns="7950" rIns="0" bIns="-795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By</a:t>
            </a:r>
            <a:r>
              <a:rPr lang="en-US" sz="165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phone,</a:t>
            </a:r>
            <a:r>
              <a:rPr lang="en-US" sz="165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email or</a:t>
            </a:r>
            <a:r>
              <a:rPr lang="en-US" sz="165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65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form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4325600" y="3143250"/>
            <a:ext cx="2819400" cy="3238500"/>
          </a:xfrm>
          <a:prstGeom prst="roundRect">
            <a:avLst>
              <a:gd name="adj" fmla="val 6757"/>
            </a:avLst>
          </a:prstGeom>
          <a:solidFill>
            <a:srgbClr val="101112"/>
          </a:solidFill>
          <a:ln/>
        </p:spPr>
      </p:sp>
      <p:sp>
        <p:nvSpPr>
          <p:cNvPr id="21" name="Text 19"/>
          <p:cNvSpPr/>
          <p:nvPr/>
        </p:nvSpPr>
        <p:spPr>
          <a:xfrm>
            <a:off x="14592300" y="3409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4592300" y="40767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18667" rIns="0" bIns="-18667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2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see</a:t>
            </a:r>
            <a:r>
              <a:rPr lang="en-US" sz="1950" b="1" dirty="0" spc="-5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it</a:t>
            </a:r>
            <a:r>
              <a:rPr lang="en-US" sz="1950" b="1" dirty="0" spc="-3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all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4592300" y="4876800"/>
            <a:ext cx="2286000" cy="1238250"/>
          </a:xfrm>
          <a:prstGeom prst="rect">
            <a:avLst/>
          </a:prstGeom>
          <a:noFill/>
          <a:ln/>
        </p:spPr>
        <p:txBody>
          <a:bodyPr wrap="square" lIns="0" tIns="7950" rIns="0" bIns="-795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</a:t>
            </a:r>
            <a:r>
              <a:rPr lang="en-US" sz="1650" dirty="0" spc="4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call</a:t>
            </a:r>
            <a:r>
              <a:rPr lang="en-US" sz="1650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650" dirty="0" spc="3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form</a:t>
            </a:r>
            <a:r>
              <a:rPr lang="en-US" sz="1650" dirty="0" spc="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tracked</a:t>
            </a:r>
            <a:r>
              <a:rPr lang="en-US" sz="1650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refined</a:t>
            </a:r>
            <a:endParaRPr lang="en-US" sz="1650" dirty="0"/>
          </a:p>
        </p:txBody>
      </p:sp>
      <p:sp>
        <p:nvSpPr>
          <p:cNvPr id="24" name="Connector line-1792012281337-655160876"/>
          <p:cNvSpPr/>
          <p:nvPr/>
        </p:nvSpPr>
        <p:spPr>
          <a:xfrm>
            <a:off x="4019550" y="4762500"/>
            <a:ext cx="361950" cy="0"/>
          </a:xfrm>
          <a:prstGeom prst="line">
            <a:avLst/>
          </a:prstGeom>
          <a:noFill/>
          <a:ln w="28575">
            <a:solidFill>
              <a:srgbClr val="919399"/>
            </a:solidFill>
            <a:prstDash val="solid"/>
            <a:headEnd type="none"/>
            <a:tailEnd type="triangle" w="lg" len="lg"/>
          </a:ln>
        </p:spPr>
      </p:sp>
      <p:sp>
        <p:nvSpPr>
          <p:cNvPr id="25" name="Connector line-1792012281338-659859112"/>
          <p:cNvSpPr/>
          <p:nvPr/>
        </p:nvSpPr>
        <p:spPr>
          <a:xfrm>
            <a:off x="7315200" y="4762500"/>
            <a:ext cx="361950" cy="0"/>
          </a:xfrm>
          <a:prstGeom prst="line">
            <a:avLst/>
          </a:prstGeom>
          <a:noFill/>
          <a:ln w="28575">
            <a:solidFill>
              <a:srgbClr val="919399"/>
            </a:solidFill>
            <a:prstDash val="solid"/>
            <a:headEnd type="none"/>
            <a:tailEnd type="triangle" w="lg" len="lg"/>
          </a:ln>
        </p:spPr>
      </p:sp>
      <p:sp>
        <p:nvSpPr>
          <p:cNvPr id="26" name="Connector line-1792012281338-611151406"/>
          <p:cNvSpPr/>
          <p:nvPr/>
        </p:nvSpPr>
        <p:spPr>
          <a:xfrm>
            <a:off x="10610850" y="4762500"/>
            <a:ext cx="361950" cy="0"/>
          </a:xfrm>
          <a:prstGeom prst="line">
            <a:avLst/>
          </a:prstGeom>
          <a:noFill/>
          <a:ln w="28575">
            <a:solidFill>
              <a:srgbClr val="919399"/>
            </a:solidFill>
            <a:prstDash val="solid"/>
            <a:headEnd type="none"/>
            <a:tailEnd type="triangle" w="lg" len="lg"/>
          </a:ln>
        </p:spPr>
      </p:sp>
      <p:sp>
        <p:nvSpPr>
          <p:cNvPr id="27" name="Connector line-1792012281338-406975193"/>
          <p:cNvSpPr/>
          <p:nvPr/>
        </p:nvSpPr>
        <p:spPr>
          <a:xfrm>
            <a:off x="13906500" y="4762500"/>
            <a:ext cx="361950" cy="0"/>
          </a:xfrm>
          <a:prstGeom prst="line">
            <a:avLst/>
          </a:prstGeom>
          <a:noFill/>
          <a:ln w="28575">
            <a:solidFill>
              <a:srgbClr val="919399"/>
            </a:solidFill>
            <a:prstDash val="solid"/>
            <a:headEnd type="none"/>
            <a:tailEnd type="triangle" w="lg" len="lg"/>
          </a:ln>
        </p:spPr>
      </p:sp>
      <p:sp>
        <p:nvSpPr>
          <p:cNvPr id="28" name="Shape 26"/>
          <p:cNvSpPr/>
          <p:nvPr/>
        </p:nvSpPr>
        <p:spPr>
          <a:xfrm>
            <a:off x="1143000" y="7239000"/>
            <a:ext cx="16002000" cy="1524000"/>
          </a:xfrm>
          <a:prstGeom prst="roundRect">
            <a:avLst>
              <a:gd name="adj" fmla="val 12500"/>
            </a:avLst>
          </a:prstGeom>
          <a:solidFill>
            <a:srgbClr val="F3F3F5"/>
          </a:solidFill>
          <a:ln/>
        </p:spPr>
      </p:sp>
      <p:sp>
        <p:nvSpPr>
          <p:cNvPr id="29" name="Text 27"/>
          <p:cNvSpPr/>
          <p:nvPr/>
        </p:nvSpPr>
        <p:spPr>
          <a:xfrm>
            <a:off x="1485900" y="7581900"/>
            <a:ext cx="15316200" cy="762000"/>
          </a:xfrm>
          <a:prstGeom prst="rect">
            <a:avLst/>
          </a:prstGeom>
          <a:noFill/>
          <a:ln/>
        </p:spPr>
        <p:txBody>
          <a:bodyPr wrap="square" lIns="0" tIns="6050" rIns="0" bIns="-6050" rtlCol="0" anchor="ctr"/>
          <a:lstStyle/>
          <a:p>
            <a:pPr algn="l" indent="0" marL="0">
              <a:lnSpc>
                <a:spcPts val="2719"/>
              </a:lnSpc>
              <a:buNone/>
            </a:pPr>
            <a:r>
              <a:rPr lang="en-US" sz="1875" dirty="0" spc="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every</a:t>
            </a:r>
            <a:r>
              <a:rPr lang="en-US" sz="1875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click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becomes a</a:t>
            </a:r>
            <a:r>
              <a:rPr lang="en-US" sz="187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customer,</a:t>
            </a:r>
            <a:r>
              <a:rPr lang="en-US" sz="1875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7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</a:t>
            </a:r>
            <a:r>
              <a:rPr lang="en-US" sz="187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will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never pretend</a:t>
            </a:r>
            <a:r>
              <a:rPr lang="en-US" sz="1875" dirty="0" spc="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otherwise.</a:t>
            </a:r>
            <a:r>
              <a:rPr lang="en-US" sz="1875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point</a:t>
            </a:r>
            <a:r>
              <a:rPr lang="en-US" sz="187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this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journey is</a:t>
            </a:r>
            <a:r>
              <a:rPr lang="en-US" sz="1875" dirty="0" spc="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that</a:t>
            </a:r>
            <a:r>
              <a:rPr lang="en-US" sz="187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every step is</a:t>
            </a:r>
            <a:r>
              <a:rPr lang="en-US" sz="187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visible,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measured and improvable.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77f9d27c-be5a-4bd1-8652-25fc4d6cf5b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6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MEASUREMENT</a:t>
            </a:r>
            <a:r>
              <a:rPr lang="en-US" sz="1650" b="1" spc="377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OPTIMIZATION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You'll</a:t>
            </a:r>
            <a:r>
              <a:rPr lang="en-US" sz="42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always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see</a:t>
            </a:r>
            <a:r>
              <a:rPr lang="en-US" sz="420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what's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working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43000" y="2667000"/>
            <a:ext cx="933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What</a:t>
            </a:r>
            <a:r>
              <a:rPr lang="en-US" sz="1950" dirty="0" spc="-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we</a:t>
            </a:r>
            <a:r>
              <a:rPr lang="en-US" sz="1950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measure</a:t>
            </a:r>
            <a:r>
              <a:rPr lang="en-US" sz="1950" dirty="0" spc="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and</a:t>
            </a:r>
            <a:r>
              <a:rPr lang="en-US" sz="1950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act</a:t>
            </a:r>
            <a:r>
              <a:rPr lang="en-US" sz="1950" dirty="0" spc="-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on:</a:t>
            </a:r>
            <a:endParaRPr lang="en-US" sz="1950" dirty="0"/>
          </a:p>
        </p:txBody>
      </p:sp>
      <p:sp>
        <p:nvSpPr>
          <p:cNvPr id="5" name="Text richtext-1792012328474-175372656"/>
          <p:cNvSpPr/>
          <p:nvPr/>
        </p:nvSpPr>
        <p:spPr>
          <a:xfrm>
            <a:off x="1143000" y="3238500"/>
            <a:ext cx="9334500" cy="4191000"/>
          </a:xfrm>
          <a:prstGeom prst="rect">
            <a:avLst/>
          </a:prstGeom>
          <a:noFill/>
          <a:ln/>
        </p:spPr>
        <p:txBody>
          <a:bodyPr wrap="square" lIns="0" tIns="-2872" rIns="0" bIns="2872" rtlCol="0" anchor="t"/>
          <a:lstStyle/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Estimate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calls</a:t>
            </a:r>
            <a:r>
              <a:rPr lang="en-US" sz="187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quote-form</a:t>
            </a:r>
            <a:r>
              <a:rPr lang="en-US" sz="187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inquiries,</a:t>
            </a: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tracked to the search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that</a:t>
            </a:r>
            <a:r>
              <a:rPr lang="en-US" sz="187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produced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them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Search-term reviews,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budget moves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toward</a:t>
            </a: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what brings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estimates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by</a:t>
            </a:r>
            <a:r>
              <a:rPr lang="en-US" sz="187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city, and</a:t>
            </a:r>
            <a:r>
              <a:rPr lang="en-US" sz="1875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roofs</a:t>
            </a: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versus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decks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5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</a:t>
            </a:r>
            <a:r>
              <a:rPr lang="en-US" sz="187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inquiry, once</a:t>
            </a: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enough</a:t>
            </a:r>
            <a:r>
              <a:rPr lang="en-US" sz="187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reliable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data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accumulates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-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plain-English monthly report,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not</a:t>
            </a: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spreadsheet</a:t>
            </a:r>
            <a:r>
              <a:rPr lang="en-US" sz="1875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dump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11049000" y="2667000"/>
            <a:ext cx="6096000" cy="4762500"/>
          </a:xfrm>
          <a:prstGeom prst="roundRect">
            <a:avLst>
              <a:gd name="adj" fmla="val 4000"/>
            </a:avLst>
          </a:prstGeom>
          <a:solidFill>
            <a:srgbClr val="101112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0" y="30480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 spc="1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</a:t>
            </a:r>
            <a:r>
              <a:rPr lang="en-US" sz="2025" b="1" dirty="0" spc="-2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</a:t>
            </a:r>
            <a:r>
              <a:rPr lang="en-US" sz="2025" b="1" dirty="0" spc="2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won't</a:t>
            </a:r>
            <a:r>
              <a:rPr lang="en-US" sz="2025" b="1" dirty="0" spc="-1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1430000" y="3543300"/>
            <a:ext cx="5334000" cy="3143250"/>
          </a:xfrm>
          <a:prstGeom prst="rect">
            <a:avLst/>
          </a:prstGeom>
          <a:noFill/>
          <a:ln/>
        </p:spPr>
        <p:txBody>
          <a:bodyPr wrap="square" lIns="0" tIns="100" rIns="0" bIns="-10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Promise</a:t>
            </a: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number of</a:t>
            </a: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leads.</a:t>
            </a:r>
            <a:r>
              <a:rPr lang="en-US" sz="18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Guarantee outcomes.</a:t>
            </a: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Keep spending</a:t>
            </a: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where</a:t>
            </a:r>
            <a:r>
              <a:rPr lang="en-US" sz="18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evidence</a:t>
            </a: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says</a:t>
            </a:r>
            <a:r>
              <a:rPr lang="en-US" sz="18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stop.</a:t>
            </a:r>
            <a:endParaRPr lang="en-US" sz="1800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Call</a:t>
            </a: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tracking and</a:t>
            </a:r>
            <a:r>
              <a:rPr lang="en-US" sz="18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conversion</a:t>
            </a: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measurement don't</a:t>
            </a: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exist</a:t>
            </a:r>
            <a:r>
              <a:rPr lang="en-US" sz="1800" dirty="0" spc="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until</a:t>
            </a: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someone</a:t>
            </a:r>
            <a:r>
              <a:rPr lang="en-US" sz="18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builds them,</a:t>
            </a:r>
            <a:r>
              <a:rPr lang="en-US" sz="1800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</a:t>
            </a: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</a:t>
            </a:r>
            <a:r>
              <a:rPr lang="en-US" sz="18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build</a:t>
            </a:r>
            <a:r>
              <a:rPr lang="en-US" sz="1800" dirty="0" spc="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them</a:t>
            </a: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as</a:t>
            </a: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part of</a:t>
            </a:r>
            <a:r>
              <a:rPr lang="en-US" sz="18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setup.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9144000"/>
            <a:ext cx="142875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Decisions follow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evidence from</a:t>
            </a:r>
            <a:r>
              <a:rPr lang="en-US" sz="1500" i="1" dirty="0" spc="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500" i="1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own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campaign</a:t>
            </a:r>
            <a:r>
              <a:rPr lang="en-US" sz="1500" i="1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data,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never industry averages.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a2eaf0b5-bbef-445a-a68c-8968028b1ae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4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PROPOSED</a:t>
            </a:r>
            <a:r>
              <a:rPr lang="en-US" sz="1650" b="1" spc="376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IMPLEMENTATION</a:t>
            </a:r>
            <a:r>
              <a:rPr lang="en-US" sz="1650" b="1" spc="375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PROCESS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we'd</a:t>
            </a:r>
            <a:r>
              <a:rPr lang="en-US" sz="420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work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together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43000" y="2857500"/>
            <a:ext cx="5105400" cy="190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409700" y="31242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09700" y="3649133"/>
            <a:ext cx="4572000" cy="846667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Confirm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your</a:t>
            </a:r>
            <a:r>
              <a:rPr lang="en-US" sz="1725" dirty="0" spc="-3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service</a:t>
            </a:r>
            <a:r>
              <a:rPr lang="en-US" sz="1725" dirty="0" spc="-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cities, priority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services</a:t>
            </a:r>
            <a:r>
              <a:rPr lang="en-US" sz="1725" dirty="0" spc="-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and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budget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6591300" y="2857500"/>
            <a:ext cx="5105400" cy="190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31242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0" y="3649133"/>
            <a:ext cx="4572000" cy="846667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Agree</a:t>
            </a: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campaign priorities</a:t>
            </a:r>
            <a:r>
              <a:rPr lang="en-US" sz="1725" dirty="0" spc="-3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together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12039600" y="2857500"/>
            <a:ext cx="5105400" cy="190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306300" y="31242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06300" y="3649133"/>
            <a:ext cx="4572000" cy="846667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-4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Prepare the</a:t>
            </a:r>
            <a:r>
              <a:rPr lang="en-US" sz="1725" dirty="0" spc="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landing</a:t>
            </a: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page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and</a:t>
            </a:r>
            <a:r>
              <a:rPr lang="en-US" sz="1725" dirty="0" spc="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call</a:t>
            </a:r>
            <a:r>
              <a:rPr lang="en-US" sz="1725" dirty="0" spc="-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tracking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1143000" y="5143500"/>
            <a:ext cx="5105400" cy="190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409700" y="54102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09700" y="5935133"/>
            <a:ext cx="4572000" cy="846667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Build</a:t>
            </a:r>
            <a:r>
              <a:rPr lang="en-US" sz="1725" dirty="0" spc="-4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the</a:t>
            </a: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campaigns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for your</a:t>
            </a: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approval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6591300" y="5143500"/>
            <a:ext cx="5105400" cy="190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54102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0" y="5935133"/>
            <a:ext cx="4572000" cy="846667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-3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Launch</a:t>
            </a:r>
            <a:r>
              <a:rPr lang="en-US" sz="1725" dirty="0" spc="-4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when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</a:t>
            </a: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say</a:t>
            </a:r>
            <a:r>
              <a:rPr lang="en-US" sz="1725" dirty="0" spc="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go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12039600" y="5143500"/>
            <a:ext cx="5105400" cy="1905000"/>
          </a:xfrm>
          <a:prstGeom prst="roundRect">
            <a:avLst>
              <a:gd name="adj" fmla="val 9000"/>
            </a:avLst>
          </a:prstGeom>
          <a:solidFill>
            <a:srgbClr val="101112"/>
          </a:solidFill>
          <a:ln/>
        </p:spPr>
      </p:sp>
      <p:sp>
        <p:nvSpPr>
          <p:cNvPr id="20" name="Text 18"/>
          <p:cNvSpPr/>
          <p:nvPr/>
        </p:nvSpPr>
        <p:spPr>
          <a:xfrm>
            <a:off x="12306300" y="54102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06300" y="5935133"/>
            <a:ext cx="4572000" cy="846667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-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Review results</a:t>
            </a:r>
            <a:r>
              <a:rPr lang="en-US" sz="1725" dirty="0" spc="-3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together</a:t>
            </a:r>
            <a:r>
              <a:rPr lang="en-US" sz="1725" dirty="0" spc="-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and</a:t>
            </a:r>
            <a:r>
              <a:rPr lang="en-US" sz="1725" dirty="0" spc="-3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refine, month after month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1143000" y="7715250"/>
            <a:ext cx="15240000" cy="666750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Nothing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goes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live without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 approval,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you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keep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ownership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access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own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Google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Ads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account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throughout.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7728d0af-5617-4128-9e93-e5b8f3fd015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192250" y="-3905250"/>
            <a:ext cx="6286500" cy="6286500"/>
          </a:xfrm>
          <a:prstGeom prst="ellipse">
            <a:avLst/>
          </a:prstGeom>
          <a:solidFill>
            <a:srgbClr val="1B1B1C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7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NEXT</a:t>
            </a:r>
            <a:r>
              <a:rPr lang="en-US" sz="1650" b="1" spc="376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STEP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1333500"/>
            <a:ext cx="14287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Worth</a:t>
            </a:r>
            <a:r>
              <a:rPr lang="en-US" sz="4500" b="1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4500" b="1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20-minute</a:t>
            </a:r>
            <a:r>
              <a:rPr lang="en-US" sz="4500" b="1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conversation?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143000" y="276225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What</a:t>
            </a:r>
            <a:r>
              <a:rPr lang="en-US" sz="1950" dirty="0" spc="-1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we'd</a:t>
            </a:r>
            <a:r>
              <a:rPr lang="en-US" sz="1950" dirty="0" spc="2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like</a:t>
            </a:r>
            <a:r>
              <a:rPr lang="en-US" sz="1950" dirty="0" spc="-2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to</a:t>
            </a:r>
            <a:r>
              <a:rPr lang="en-US" sz="1950" dirty="0" spc="2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learn</a:t>
            </a:r>
            <a:r>
              <a:rPr lang="en-US" sz="1950" dirty="0" spc="0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from</a:t>
            </a:r>
            <a:r>
              <a:rPr lang="en-US" sz="1950" dirty="0" spc="1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you:</a:t>
            </a:r>
            <a:endParaRPr lang="en-US" sz="1950" dirty="0"/>
          </a:p>
        </p:txBody>
      </p:sp>
      <p:sp>
        <p:nvSpPr>
          <p:cNvPr id="6" name="Text richtext-1792012428222-868064457"/>
          <p:cNvSpPr/>
          <p:nvPr/>
        </p:nvSpPr>
        <p:spPr>
          <a:xfrm>
            <a:off x="1143000" y="3333750"/>
            <a:ext cx="8953500" cy="3429000"/>
          </a:xfrm>
          <a:prstGeom prst="rect">
            <a:avLst/>
          </a:prstGeom>
          <a:noFill/>
          <a:ln/>
        </p:spPr>
        <p:txBody>
          <a:bodyPr wrap="square" lIns="0" tIns="-2872" rIns="0" bIns="2872" rtlCol="0" anchor="t"/>
          <a:lstStyle/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Which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cities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 want more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roof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work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from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</a:t>
            </a:r>
            <a:r>
              <a:rPr lang="en-US" sz="1875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mix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re-roofs,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repairs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decks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across the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year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typical</a:t>
            </a:r>
            <a:r>
              <a:rPr lang="en-US" sz="1875" dirty="0" spc="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re-roof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worth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Whether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focused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Google Ads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pilot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makes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sense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0858500" y="2762250"/>
            <a:ext cx="6286500" cy="40957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pic>
        <p:nvPicPr>
          <p:cNvPr id="8" name="Moda image rect-1792012428657-6620943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239500" y="3143250"/>
            <a:ext cx="609600" cy="609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239500" y="3943350"/>
            <a:ext cx="5524500" cy="1714500"/>
          </a:xfrm>
          <a:prstGeom prst="rect">
            <a:avLst/>
          </a:prstGeom>
          <a:noFill/>
          <a:ln/>
        </p:spPr>
        <p:txBody>
          <a:bodyPr wrap="square" lIns="0" tIns="2819" rIns="0" bIns="-2819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172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Around29</a:t>
            </a:r>
            <a:r>
              <a:rPr lang="en-US" sz="1725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Digital</a:t>
            </a:r>
            <a:r>
              <a:rPr lang="en-US" sz="172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Media</a:t>
            </a:r>
            <a:r>
              <a:rPr lang="en-US" sz="1725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Solutions</a:t>
            </a:r>
            <a:r>
              <a:rPr lang="en-US" sz="172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builds</a:t>
            </a:r>
            <a:r>
              <a:rPr lang="en-US" sz="1725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manages</a:t>
            </a:r>
            <a:r>
              <a:rPr lang="en-US" sz="172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Google Ads</a:t>
            </a:r>
            <a:r>
              <a:rPr lang="en-US" sz="172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</a:t>
            </a:r>
            <a:r>
              <a:rPr lang="en-US" sz="1725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local</a:t>
            </a:r>
            <a:r>
              <a:rPr lang="en-US" sz="172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service</a:t>
            </a:r>
            <a:r>
              <a:rPr lang="en-US" sz="1725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businesses, with</a:t>
            </a:r>
            <a:r>
              <a:rPr lang="en-US" sz="1725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landing</a:t>
            </a:r>
            <a:r>
              <a:rPr lang="en-US" sz="172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pages,</a:t>
            </a:r>
            <a:r>
              <a:rPr lang="en-US" sz="172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web</a:t>
            </a:r>
            <a:r>
              <a:rPr lang="en-US" sz="172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development,</a:t>
            </a:r>
            <a:r>
              <a:rPr lang="en-US" sz="172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SEO</a:t>
            </a:r>
            <a:r>
              <a:rPr lang="en-US" sz="1725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72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content</a:t>
            </a:r>
            <a:r>
              <a:rPr lang="en-US" sz="172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under</a:t>
            </a:r>
            <a:r>
              <a:rPr lang="en-US" sz="172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one</a:t>
            </a:r>
            <a:r>
              <a:rPr lang="en-US" sz="172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roof.</a:t>
            </a:r>
            <a:endParaRPr lang="en-US" sz="1725" dirty="0"/>
          </a:p>
        </p:txBody>
      </p:sp>
      <p:sp>
        <p:nvSpPr>
          <p:cNvPr id="10" name="Text 7"/>
          <p:cNvSpPr/>
          <p:nvPr/>
        </p:nvSpPr>
        <p:spPr>
          <a:xfrm>
            <a:off x="11239500" y="5848350"/>
            <a:ext cx="552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around29.com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1143000" y="7620000"/>
            <a:ext cx="16002000" cy="1428750"/>
          </a:xfrm>
          <a:prstGeom prst="roundRect">
            <a:avLst>
              <a:gd name="adj" fmla="val 13333"/>
            </a:avLst>
          </a:prstGeom>
          <a:solidFill>
            <a:srgbClr val="FFA737"/>
          </a:solidFill>
          <a:ln/>
        </p:spPr>
      </p:sp>
      <p:sp>
        <p:nvSpPr>
          <p:cNvPr id="12" name="Text 9"/>
          <p:cNvSpPr/>
          <p:nvPr/>
        </p:nvSpPr>
        <p:spPr>
          <a:xfrm>
            <a:off x="1485900" y="7962900"/>
            <a:ext cx="15316200" cy="742950"/>
          </a:xfrm>
          <a:prstGeom prst="rect">
            <a:avLst/>
          </a:prstGeom>
          <a:noFill/>
          <a:ln/>
        </p:spPr>
        <p:txBody>
          <a:bodyPr wrap="square" lIns="0" tIns="9757" rIns="0" bIns="-9757" rtlCol="0" anchor="ctr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02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No</a:t>
            </a:r>
            <a:r>
              <a:rPr lang="en-US" sz="202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pressure and</a:t>
            </a:r>
            <a:r>
              <a:rPr lang="en-US" sz="202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no</a:t>
            </a:r>
            <a:r>
              <a:rPr lang="en-US" sz="202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obligation:</a:t>
            </a:r>
            <a:r>
              <a:rPr lang="en-US" sz="202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if the</a:t>
            </a:r>
            <a:r>
              <a:rPr lang="en-US" sz="202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numbers</a:t>
            </a:r>
            <a:r>
              <a:rPr lang="en-US" sz="202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don't</a:t>
            </a:r>
            <a:r>
              <a:rPr lang="en-US" sz="202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make</a:t>
            </a:r>
            <a:r>
              <a:rPr lang="en-US" sz="202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sense</a:t>
            </a:r>
            <a:r>
              <a:rPr lang="en-US" sz="202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for</a:t>
            </a:r>
            <a:r>
              <a:rPr lang="en-US" sz="202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AA</a:t>
            </a:r>
            <a:r>
              <a:rPr lang="en-US" sz="202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Roofing</a:t>
            </a:r>
            <a:r>
              <a:rPr lang="en-US" sz="202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and</a:t>
            </a:r>
            <a:r>
              <a:rPr lang="en-US" sz="202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Decking,</a:t>
            </a:r>
            <a:r>
              <a:rPr lang="en-US" sz="2025" dirty="0" spc="3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we'll</a:t>
            </a:r>
            <a:r>
              <a:rPr lang="en-US" sz="2025" dirty="0" spc="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tell</a:t>
            </a:r>
            <a:r>
              <a:rPr lang="en-US" sz="202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</a:t>
            </a:r>
            <a:r>
              <a:rPr lang="en-US" sz="202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so.</a:t>
            </a:r>
            <a:r>
              <a:rPr lang="en-US" sz="202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Thank</a:t>
            </a:r>
            <a:r>
              <a:rPr lang="en-US" sz="202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</a:t>
            </a:r>
            <a:r>
              <a:rPr lang="en-US" sz="202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for</a:t>
            </a:r>
            <a:r>
              <a:rPr lang="en-US" sz="202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your</a:t>
            </a:r>
            <a:r>
              <a:rPr lang="en-US" sz="202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time.</a:t>
            </a:r>
            <a:endParaRPr lang="en-US" sz="2025" dirty="0"/>
          </a:p>
        </p:txBody>
      </p:sp>
      <p:sp>
        <p:nvSpPr>
          <p:cNvPr id="13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34275754-70f7-4817-b440-b5304cb3f8bf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2026-10-14T21:14:34Z</dcterms:created>
  <dcterms:modified xsi:type="dcterms:W3CDTF">2026-10-14T21:14:34Z</dcterms:modified>
</cp:coreProperties>
</file>