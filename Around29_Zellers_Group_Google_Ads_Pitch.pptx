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Open Sans"/>
      <p:regular r:id="rId17"/>
      <p:bold r:id="rId16"/>
      <p:italic r:id="rId19"/>
    </p:embeddedFont>
    <p:embeddedFont>
      <p:font typeface="Open Sans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049250" y="-2762250"/>
            <a:ext cx="8191500" cy="8191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Shape 1"/>
          <p:cNvSpPr/>
          <p:nvPr/>
        </p:nvSpPr>
        <p:spPr>
          <a:xfrm>
            <a:off x="13335000" y="6572250"/>
            <a:ext cx="4572000" cy="4572000"/>
          </a:xfrm>
          <a:prstGeom prst="ellipse">
            <a:avLst/>
          </a:prstGeom>
          <a:solidFill>
            <a:srgbClr val="FFA737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333500"/>
            <a:ext cx="1238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450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PREPARED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800" b="1" spc="452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ZELLERS</a:t>
            </a:r>
            <a:r>
              <a:rPr lang="en-US" sz="1800" b="1" spc="451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381250"/>
            <a:ext cx="12192000" cy="2857500"/>
          </a:xfrm>
          <a:prstGeom prst="rect">
            <a:avLst/>
          </a:prstGeom>
          <a:noFill/>
          <a:ln/>
        </p:spPr>
        <p:txBody>
          <a:bodyPr wrap="square" lIns="0" tIns="69564" rIns="0" bIns="-69564" rtlCol="0" anchor="t"/>
          <a:lstStyle/>
          <a:p>
            <a:pPr algn="l" indent="0" marL="0">
              <a:lnSpc>
                <a:spcPts val="6270"/>
              </a:lnSpc>
              <a:buNone/>
            </a:pPr>
            <a:r>
              <a:rPr lang="en-US" sz="5700" b="1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</a:t>
            </a:r>
            <a:r>
              <a:rPr lang="en-US" sz="5700" b="1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weeks</a:t>
            </a:r>
            <a:r>
              <a:rPr lang="en-US" sz="57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when</a:t>
            </a:r>
            <a:r>
              <a:rPr lang="en-US" sz="5700" b="1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Sonoma, Napa</a:t>
            </a:r>
            <a:r>
              <a:rPr lang="en-US" sz="57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57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Marin</a:t>
            </a:r>
            <a:r>
              <a:rPr lang="en-US" sz="5700" b="1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choose</a:t>
            </a:r>
            <a:r>
              <a:rPr lang="en-US" sz="57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their</a:t>
            </a:r>
            <a:r>
              <a:rPr lang="en-US" sz="5700" b="1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</a:t>
            </a:r>
            <a:r>
              <a:rPr lang="en-US" sz="57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plans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143000" y="5905500"/>
            <a:ext cx="10477500" cy="1095375"/>
          </a:xfrm>
          <a:prstGeom prst="rect">
            <a:avLst/>
          </a:prstGeom>
          <a:noFill/>
          <a:ln/>
        </p:spPr>
        <p:txBody>
          <a:bodyPr wrap="square" lIns="0" tIns="7253" rIns="0" bIns="-7253" rtlCol="0" anchor="t"/>
          <a:lstStyle/>
          <a:p>
            <a:pPr algn="l" indent="0" marL="0">
              <a:lnSpc>
                <a:spcPts val="3263"/>
              </a:lnSpc>
              <a:buNone/>
            </a:pP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compliant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2250" dirty="0" spc="-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 built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 your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</a:t>
            </a:r>
            <a:r>
              <a:rPr lang="en-US" sz="22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guidance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22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group-health</a:t>
            </a:r>
            <a:r>
              <a:rPr lang="en-US" sz="2250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services.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143000" y="7810500"/>
            <a:ext cx="3143250" cy="990600"/>
          </a:xfrm>
          <a:prstGeom prst="roundRect">
            <a:avLst>
              <a:gd name="adj" fmla="val 17308"/>
            </a:avLst>
          </a:prstGeom>
          <a:solidFill>
            <a:srgbClr val="FFFFFF"/>
          </a:solidFill>
          <a:ln/>
        </p:spPr>
      </p:sp>
      <p:pic>
        <p:nvPicPr>
          <p:cNvPr id="8" name="Moda image rect-1792012011110-44043078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47800" y="800100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7900" y="8134350"/>
            <a:ext cx="1809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4667250" y="80581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·</a:t>
            </a:r>
            <a:r>
              <a:rPr lang="en-US" sz="1725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around29.com</a:t>
            </a:r>
            <a:endParaRPr lang="en-US" sz="1725" dirty="0"/>
          </a:p>
          <a:p>
            <a:pPr algn="l" indent="0" marL="0">
              <a:lnSpc>
                <a:spcPts val="2415"/>
              </a:lnSpc>
              <a:buNone/>
            </a:pPr>
            <a:r>
              <a:rPr lang="en-US" sz="1725" dirty="0" spc="4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October</a:t>
            </a:r>
            <a:r>
              <a:rPr lang="en-US" sz="1725" dirty="0" spc="-2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2026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1143000" y="9429750"/>
            <a:ext cx="1600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25" i="1" dirty="0" spc="-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Zellers</a:t>
            </a:r>
            <a:r>
              <a:rPr lang="en-US" sz="1425" i="1" dirty="0" spc="0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</a:t>
            </a:r>
            <a:r>
              <a:rPr lang="en-US" sz="1425" i="1" dirty="0" spc="-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Around29</a:t>
            </a:r>
            <a:r>
              <a:rPr lang="en-US" sz="1425" i="1" dirty="0" spc="0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1425" i="1" dirty="0" spc="-3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independent</a:t>
            </a:r>
            <a:r>
              <a:rPr lang="en-US" sz="1425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organizations, not</a:t>
            </a:r>
            <a:r>
              <a:rPr lang="en-US" sz="1425" i="1" dirty="0" spc="-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affiliated</a:t>
            </a:r>
            <a:r>
              <a:rPr lang="en-US" sz="1425" i="1" dirty="0" spc="-5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425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endorsed by Medicare or</a:t>
            </a:r>
            <a:r>
              <a:rPr lang="en-US" sz="1425" i="1" dirty="0" spc="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425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government</a:t>
            </a:r>
            <a:r>
              <a:rPr lang="en-US" sz="1425" i="1" dirty="0" spc="0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agency.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743f4cc3-4fe7-45d2-bba3-da01613d5c7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UNDERSTANDING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650" b="1" spc="373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we understand about</a:t>
            </a:r>
            <a:r>
              <a:rPr lang="en-US" sz="420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Zellers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21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offer</a:t>
            </a:r>
            <a:endParaRPr lang="en-US" sz="2100" dirty="0"/>
          </a:p>
        </p:txBody>
      </p:sp>
      <p:sp>
        <p:nvSpPr>
          <p:cNvPr id="6" name="Text richtext-1792012059560-824156406"/>
          <p:cNvSpPr/>
          <p:nvPr/>
        </p:nvSpPr>
        <p:spPr>
          <a:xfrm>
            <a:off x="1524000" y="3790950"/>
            <a:ext cx="4318000" cy="31432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Medicare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guidance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support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Covered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California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plans,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off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exchange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Small-business group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health,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00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100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Dental, life,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long-term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care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major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604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101112"/>
          </a:solidFill>
          <a:ln/>
        </p:spPr>
      </p:sp>
      <p:sp>
        <p:nvSpPr>
          <p:cNvPr id="8" name="Text 6"/>
          <p:cNvSpPr/>
          <p:nvPr/>
        </p:nvSpPr>
        <p:spPr>
          <a:xfrm>
            <a:off x="6985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4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</a:t>
            </a:r>
            <a:r>
              <a:rPr lang="en-US" sz="2100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r>
              <a:rPr lang="en-US" sz="2100" b="1" dirty="0" spc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85000" y="3790950"/>
            <a:ext cx="4318000" cy="20955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t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"Sonoma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Valley</a:t>
            </a:r>
            <a:r>
              <a:rPr lang="en-US" sz="217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is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home,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but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work</a:t>
            </a:r>
            <a:r>
              <a:rPr lang="en-US" sz="217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Marin,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Napa,</a:t>
            </a:r>
            <a:r>
              <a:rPr lang="en-US" sz="217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Sonoma</a:t>
            </a:r>
            <a:r>
              <a:rPr lang="en-US" sz="2175" dirty="0" spc="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2175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several</a:t>
            </a:r>
            <a:r>
              <a:rPr lang="en-US" sz="217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states outside</a:t>
            </a:r>
            <a:r>
              <a:rPr lang="en-US" sz="2175" dirty="0" spc="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of</a:t>
            </a:r>
            <a:r>
              <a:rPr lang="en-US" sz="217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California"</a:t>
            </a:r>
            <a:endParaRPr lang="en-US" sz="2175" dirty="0"/>
          </a:p>
        </p:txBody>
      </p:sp>
      <p:sp>
        <p:nvSpPr>
          <p:cNvPr id="10" name="Text 8"/>
          <p:cNvSpPr/>
          <p:nvPr/>
        </p:nvSpPr>
        <p:spPr>
          <a:xfrm>
            <a:off x="6985000" y="6057900"/>
            <a:ext cx="4318000" cy="104775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team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 licensed</a:t>
            </a:r>
            <a:r>
              <a:rPr lang="en-US" sz="1725" dirty="0" spc="-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agents</a:t>
            </a:r>
            <a:r>
              <a:rPr lang="en-US" sz="1725" dirty="0" spc="-3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Sonoma,</a:t>
            </a:r>
            <a:r>
              <a:rPr lang="en-US" sz="1725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led by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President</a:t>
            </a:r>
            <a:r>
              <a:rPr lang="en-US" sz="1725" dirty="0" spc="0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Dean</a:t>
            </a:r>
            <a:r>
              <a:rPr lang="en-US" sz="1725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Zellers.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12065000" y="2857500"/>
            <a:ext cx="5080000" cy="495300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/>
        </p:spPr>
      </p:sp>
      <p:sp>
        <p:nvSpPr>
          <p:cNvPr id="12" name="Text 10"/>
          <p:cNvSpPr/>
          <p:nvPr/>
        </p:nvSpPr>
        <p:spPr>
          <a:xfrm>
            <a:off x="12446000" y="3238500"/>
            <a:ext cx="431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21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clients</a:t>
            </a:r>
            <a:r>
              <a:rPr lang="en-US" sz="2100" b="1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reach</a:t>
            </a:r>
            <a:r>
              <a:rPr lang="en-US" sz="21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</a:t>
            </a:r>
            <a:endParaRPr lang="en-US" sz="2100" dirty="0"/>
          </a:p>
        </p:txBody>
      </p:sp>
      <p:sp>
        <p:nvSpPr>
          <p:cNvPr id="13" name="Text richtext-1792012059615-207170922"/>
          <p:cNvSpPr/>
          <p:nvPr/>
        </p:nvSpPr>
        <p:spPr>
          <a:xfrm>
            <a:off x="12446000" y="3790950"/>
            <a:ext cx="4318000" cy="190500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"GET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QUOTE!" button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Contact form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Phone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email,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office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Highway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144000"/>
            <a:ext cx="1333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Everything</a:t>
            </a:r>
            <a:r>
              <a:rPr lang="en-US" sz="1500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1500" dirty="0" spc="4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slide</a:t>
            </a:r>
            <a:r>
              <a:rPr lang="en-US" sz="1500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comes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</a:t>
            </a:r>
            <a:r>
              <a:rPr lang="en-US" sz="1500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own</a:t>
            </a:r>
            <a:r>
              <a:rPr lang="en-US" sz="1500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website, zellersgroup.com.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9cc50072-70f1-4ece-ae2d-1a271d91cc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 SEARCH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Enrollment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571750"/>
            <a:ext cx="14287500" cy="952500"/>
          </a:xfrm>
          <a:prstGeom prst="rect">
            <a:avLst/>
          </a:prstGeom>
          <a:noFill/>
          <a:ln/>
        </p:spPr>
        <p:txBody>
          <a:bodyPr wrap="square" lIns="0" tIns="3459" rIns="0" bIns="-3459" rtlCol="0" anchor="t"/>
          <a:lstStyle/>
          <a:p>
            <a:pPr algn="l" indent="0" marL="0">
              <a:lnSpc>
                <a:spcPts val="3142"/>
              </a:lnSpc>
              <a:buNone/>
            </a:pPr>
            <a:r>
              <a:rPr lang="en-US" sz="209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2095" dirty="0" spc="-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15</a:t>
            </a:r>
            <a:r>
              <a:rPr lang="en-US" sz="209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October</a:t>
            </a:r>
            <a:r>
              <a:rPr lang="en-US" sz="2095" dirty="0" spc="-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2095" dirty="0" spc="-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</a:t>
            </a:r>
            <a:r>
              <a:rPr lang="en-US" sz="209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December,</a:t>
            </a:r>
            <a:r>
              <a:rPr lang="en-US" sz="209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people</a:t>
            </a:r>
            <a:r>
              <a:rPr lang="en-US" sz="209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</a:t>
            </a:r>
            <a:r>
              <a:rPr lang="en-US" sz="209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three counties</a:t>
            </a:r>
            <a:r>
              <a:rPr lang="en-US" sz="209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compare</a:t>
            </a:r>
            <a:r>
              <a:rPr lang="en-US" sz="209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</a:t>
            </a:r>
            <a:r>
              <a:rPr lang="en-US" sz="209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plans,</a:t>
            </a:r>
            <a:r>
              <a:rPr lang="en-US" sz="2095" dirty="0" spc="-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209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most</a:t>
            </a:r>
            <a:r>
              <a:rPr lang="en-US" sz="209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start</a:t>
            </a:r>
            <a:r>
              <a:rPr lang="en-US" sz="209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a</a:t>
            </a:r>
            <a:r>
              <a:rPr lang="en-US" sz="209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search. These</a:t>
            </a:r>
            <a:r>
              <a:rPr lang="en-US" sz="209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2095" dirty="0" spc="-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209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kinds</a:t>
            </a:r>
            <a:r>
              <a:rPr lang="en-US" sz="209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209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searches your services answer:</a:t>
            </a:r>
            <a:endParaRPr lang="en-US" sz="2095" dirty="0"/>
          </a:p>
        </p:txBody>
      </p:sp>
      <p:sp>
        <p:nvSpPr>
          <p:cNvPr id="5" name="Text 3"/>
          <p:cNvSpPr/>
          <p:nvPr/>
        </p:nvSpPr>
        <p:spPr>
          <a:xfrm>
            <a:off x="1143000" y="4095750"/>
            <a:ext cx="3810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Medicare</a:t>
            </a:r>
            <a:r>
              <a:rPr lang="en-US" sz="1950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agent</a:t>
            </a:r>
            <a:r>
              <a:rPr lang="en-US" sz="1950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near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5181600" y="4095750"/>
            <a:ext cx="3714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Medicare</a:t>
            </a: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advisor Napa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124950" y="4095750"/>
            <a:ext cx="56197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health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insurance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broker</a:t>
            </a: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Marin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County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143000" y="5048250"/>
            <a:ext cx="495300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</a:t>
            </a: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</a:t>
            </a:r>
            <a:r>
              <a:rPr lang="en-US" sz="1950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health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insurance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6324600" y="5048250"/>
            <a:ext cx="466725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Covered</a:t>
            </a:r>
            <a:r>
              <a:rPr lang="en-US" sz="1950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California</a:t>
            </a:r>
            <a:r>
              <a:rPr lang="en-US" sz="1950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220450" y="5048250"/>
            <a:ext cx="4762500" cy="6858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Medicare</a:t>
            </a:r>
            <a:r>
              <a:rPr lang="en-US" sz="1950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open</a:t>
            </a:r>
            <a:r>
              <a:rPr lang="en-US" sz="1950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enrollment</a:t>
            </a:r>
            <a:r>
              <a:rPr lang="en-US" sz="1950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help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143000" y="6667500"/>
            <a:ext cx="16002000" cy="2190750"/>
          </a:xfrm>
          <a:prstGeom prst="roundRect">
            <a:avLst>
              <a:gd name="adj" fmla="val 8696"/>
            </a:avLst>
          </a:prstGeom>
          <a:solidFill>
            <a:srgbClr val="101112"/>
          </a:solidFill>
          <a:ln/>
        </p:spPr>
      </p:sp>
      <p:sp>
        <p:nvSpPr>
          <p:cNvPr id="12" name="Text 10"/>
          <p:cNvSpPr/>
          <p:nvPr/>
        </p:nvSpPr>
        <p:spPr>
          <a:xfrm>
            <a:off x="1524000" y="7048500"/>
            <a:ext cx="15240000" cy="331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matters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524000" y="7518942"/>
            <a:ext cx="15240000" cy="958308"/>
          </a:xfrm>
          <a:prstGeom prst="rect">
            <a:avLst/>
          </a:prstGeom>
          <a:noFill/>
          <a:ln/>
        </p:spPr>
        <p:txBody>
          <a:bodyPr wrap="square" lIns="0" tIns="3065" rIns="0" bIns="-3065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Today,</a:t>
            </a: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much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these searchers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find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national carriers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lead-generation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sites.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local, independent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agency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licensed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agents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genuinely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different answer,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advertising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how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gets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seen.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Illustrative search</a:t>
            </a:r>
            <a:r>
              <a:rPr lang="en-US" sz="1500" i="1" dirty="0" spc="-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themes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based on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services.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 keyword-volume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research.</a:t>
            </a:r>
            <a:r>
              <a:rPr lang="en-US" sz="1500" i="1" dirty="0" spc="4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advertising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follows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CMS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marketing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rules.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bc938d17-5841-4d87-bd02-7e4fa3ec453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BUSINESS-SPECIFIC</a:t>
            </a: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OPPORTUNITY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 window,</a:t>
            </a:r>
            <a:r>
              <a:rPr lang="en-US" sz="42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4200" b="1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4200" b="1" dirty="0" spc="-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real difference</a:t>
            </a:r>
            <a:r>
              <a:rPr lang="en-US" sz="42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42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advertise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5" name="Text 3"/>
          <p:cNvSpPr/>
          <p:nvPr/>
        </p:nvSpPr>
        <p:spPr>
          <a:xfrm>
            <a:off x="1524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Oct</a:t>
            </a:r>
            <a:r>
              <a:rPr lang="en-US" sz="5700" b="1" dirty="0" spc="0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15</a:t>
            </a:r>
            <a:endParaRPr lang="en-US" sz="5700" dirty="0"/>
          </a:p>
        </p:txBody>
      </p:sp>
      <p:sp>
        <p:nvSpPr>
          <p:cNvPr id="6" name="Text 4"/>
          <p:cNvSpPr/>
          <p:nvPr/>
        </p:nvSpPr>
        <p:spPr>
          <a:xfrm>
            <a:off x="1524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Annual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Enrollment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opens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4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-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CMS</a:t>
            </a: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calendar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604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9" name="Text 7"/>
          <p:cNvSpPr/>
          <p:nvPr/>
        </p:nvSpPr>
        <p:spPr>
          <a:xfrm>
            <a:off x="6985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</a:t>
            </a:r>
            <a:r>
              <a:rPr lang="en-US" sz="5700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7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6985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Annual</a:t>
            </a:r>
            <a:r>
              <a:rPr lang="en-US" sz="2100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Enrollment closes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985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-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CMS</a:t>
            </a: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calendar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065000" y="2762250"/>
            <a:ext cx="5080000" cy="3810000"/>
          </a:xfrm>
          <a:prstGeom prst="roundRect">
            <a:avLst>
              <a:gd name="adj" fmla="val 5000"/>
            </a:avLst>
          </a:prstGeom>
          <a:solidFill>
            <a:srgbClr val="1B1B1C"/>
          </a:solidFill>
          <a:ln/>
        </p:spPr>
      </p:sp>
      <p:sp>
        <p:nvSpPr>
          <p:cNvPr id="13" name="Text 11"/>
          <p:cNvSpPr/>
          <p:nvPr/>
        </p:nvSpPr>
        <p:spPr>
          <a:xfrm>
            <a:off x="12446000" y="3143250"/>
            <a:ext cx="4318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Local</a:t>
            </a:r>
            <a:endParaRPr lang="en-US" sz="5700" dirty="0"/>
          </a:p>
        </p:txBody>
      </p:sp>
      <p:sp>
        <p:nvSpPr>
          <p:cNvPr id="14" name="Text 12"/>
          <p:cNvSpPr/>
          <p:nvPr/>
        </p:nvSpPr>
        <p:spPr>
          <a:xfrm>
            <a:off x="12446000" y="42672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10118" rIns="0" bIns="-10118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Licensed</a:t>
            </a:r>
            <a:r>
              <a:rPr lang="en-US" sz="210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agents</a:t>
            </a:r>
            <a:r>
              <a:rPr lang="en-US" sz="2100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people</a:t>
            </a:r>
            <a:r>
              <a:rPr lang="en-US" sz="2100" dirty="0" spc="0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can</a:t>
            </a:r>
            <a:r>
              <a:rPr lang="en-US" sz="2100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sit across</a:t>
            </a:r>
            <a:r>
              <a:rPr lang="en-US" sz="2100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from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46000" y="5581650"/>
            <a:ext cx="4318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 spc="1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1500" dirty="0" spc="0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dirty="0" spc="3" kern="0">
                <a:solidFill>
                  <a:srgbClr val="94969B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website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43000" y="7239000"/>
            <a:ext cx="16002000" cy="1905000"/>
          </a:xfrm>
          <a:prstGeom prst="roundRect">
            <a:avLst>
              <a:gd name="adj" fmla="val 10000"/>
            </a:avLst>
          </a:prstGeom>
          <a:solidFill>
            <a:srgbClr val="FFA737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762000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7019" rIns="0" bIns="-7019" rtlCol="0" anchor="ctr"/>
          <a:lstStyle/>
          <a:p>
            <a:pPr algn="l" indent="0" marL="0">
              <a:lnSpc>
                <a:spcPts val="3154"/>
              </a:lnSpc>
              <a:buNone/>
            </a:pP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The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honest differentiation:</a:t>
            </a:r>
            <a:r>
              <a:rPr lang="en-US" sz="2175" dirty="0" spc="-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local, independent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agency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rather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than</a:t>
            </a:r>
            <a:r>
              <a:rPr lang="en-US" sz="2175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call-center lead farm.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That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is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ad,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written</a:t>
            </a:r>
            <a:r>
              <a:rPr lang="en-US" sz="2175" dirty="0" spc="-4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within</a:t>
            </a:r>
            <a:r>
              <a:rPr lang="en-US" sz="2175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CMS</a:t>
            </a:r>
            <a:r>
              <a:rPr lang="en-US" sz="2175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marketing rules</a:t>
            </a:r>
            <a:r>
              <a:rPr lang="en-US" sz="2175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 compliance-reviewed</a:t>
            </a:r>
            <a:r>
              <a:rPr lang="en-US" sz="2175" dirty="0" spc="4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before</a:t>
            </a:r>
            <a:r>
              <a:rPr lang="en-US" sz="2175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anything launches.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7f14742-bfe2-49cc-8be5-24def08bdf6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RECOMMENDED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Compliant</a:t>
            </a:r>
            <a:r>
              <a:rPr lang="en-US" sz="405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 now,</a:t>
            </a:r>
            <a:r>
              <a:rPr lang="en-US" sz="40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 health</a:t>
            </a:r>
            <a:r>
              <a:rPr lang="en-US" sz="40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</a:t>
            </a:r>
            <a:r>
              <a:rPr lang="en-US" sz="4050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year</a:t>
            </a:r>
            <a:endParaRPr lang="en-US" sz="4050" dirty="0"/>
          </a:p>
        </p:txBody>
      </p:sp>
      <p:sp>
        <p:nvSpPr>
          <p:cNvPr id="4" name="Shape 2"/>
          <p:cNvSpPr/>
          <p:nvPr/>
        </p:nvSpPr>
        <p:spPr>
          <a:xfrm>
            <a:off x="11430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859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Campaign themes</a:t>
            </a:r>
            <a:endParaRPr lang="en-US" sz="2025" dirty="0"/>
          </a:p>
        </p:txBody>
      </p:sp>
      <p:sp>
        <p:nvSpPr>
          <p:cNvPr id="6" name="Text richtext-1792012220621-324370167"/>
          <p:cNvSpPr/>
          <p:nvPr/>
        </p:nvSpPr>
        <p:spPr>
          <a:xfrm>
            <a:off x="14859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Medicare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guidance, inside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window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Small-business group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health,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year-round</a:t>
            </a:r>
            <a:endParaRPr lang="en-US" sz="1800" dirty="0"/>
          </a:p>
          <a:p>
            <a:pPr algn="l" marL="228600" indent="-163321">
              <a:lnSpc>
                <a:spcPts val="2700"/>
              </a:lnSpc>
              <a:buSzPct val="100000"/>
              <a:buFont typeface="Arial"/>
              <a:buChar char="•"/>
            </a:pP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Covered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California,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its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window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34500" y="26670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8" name="Text 6"/>
          <p:cNvSpPr/>
          <p:nvPr/>
        </p:nvSpPr>
        <p:spPr>
          <a:xfrm>
            <a:off x="9677400" y="30099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targeting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677400" y="34821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Sonoma,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Napa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Marin counties,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area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site already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names, with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Sonoma office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shown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alongside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430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1" name="Text 9"/>
          <p:cNvSpPr/>
          <p:nvPr/>
        </p:nvSpPr>
        <p:spPr>
          <a:xfrm>
            <a:off x="14859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Landing</a:t>
            </a:r>
            <a:r>
              <a:rPr lang="en-US" sz="2025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4859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consultation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short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licensed agents,</a:t>
            </a:r>
            <a:r>
              <a:rPr lang="en-US" sz="180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setup,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lands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 people rather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than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paperwork.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34500" y="5905500"/>
            <a:ext cx="7810500" cy="2952750"/>
          </a:xfrm>
          <a:prstGeom prst="roundRect">
            <a:avLst>
              <a:gd name="adj" fmla="val 6452"/>
            </a:avLst>
          </a:prstGeom>
          <a:solidFill>
            <a:srgbClr val="F3F3F5"/>
          </a:solidFill>
          <a:ln/>
        </p:spPr>
      </p:sp>
      <p:sp>
        <p:nvSpPr>
          <p:cNvPr id="14" name="Text 12"/>
          <p:cNvSpPr/>
          <p:nvPr/>
        </p:nvSpPr>
        <p:spPr>
          <a:xfrm>
            <a:off x="9677400" y="6248400"/>
            <a:ext cx="7124700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Compliance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677400" y="6720681"/>
            <a:ext cx="7124700" cy="1794669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copy is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written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CMS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marketing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rules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compliance-reviewed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launch.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plan,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coverage,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savings</a:t>
            </a:r>
            <a:r>
              <a:rPr lang="en-US" sz="1800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eligibility claims,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286875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3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approach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discussion,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refined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before anything launches.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 audit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existing account.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b6f332c8-8084-433f-9cd2-d249dd2ac4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PROPOSED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CUSTOMER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r>
              <a:rPr lang="en-US" sz="4200" b="1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consultation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4097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search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097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Comparing plans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during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window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4386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9" name="Text 7"/>
          <p:cNvSpPr/>
          <p:nvPr/>
        </p:nvSpPr>
        <p:spPr>
          <a:xfrm>
            <a:off x="47053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7053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1950" b="1" dirty="0" spc="-4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47053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6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local,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independent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agency,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compliantly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worded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7343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0010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</a:t>
            </a:r>
            <a:r>
              <a:rPr lang="en-US" sz="1950" b="1" dirty="0" spc="-6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95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0010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licensed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agents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</a:t>
            </a:r>
            <a:r>
              <a:rPr lang="en-US" sz="165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short</a:t>
            </a:r>
            <a:r>
              <a:rPr lang="en-US" sz="165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form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102995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F3F3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29665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129665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They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ask</a:t>
            </a:r>
            <a:r>
              <a:rPr lang="en-US" sz="1950" b="1" dirty="0" spc="-5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950" b="1" dirty="0" spc="-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talk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129665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6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65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consultation</a:t>
            </a:r>
            <a:r>
              <a:rPr lang="en-US" sz="165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</a:t>
            </a:r>
            <a:r>
              <a:rPr lang="en-US" sz="1650" dirty="0" spc="4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 a call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4325600" y="3143250"/>
            <a:ext cx="2819400" cy="3238500"/>
          </a:xfrm>
          <a:prstGeom prst="roundRect">
            <a:avLst>
              <a:gd name="adj" fmla="val 6757"/>
            </a:avLst>
          </a:prstGeom>
          <a:solidFill>
            <a:srgbClr val="101112"/>
          </a:solidFill>
          <a:ln/>
        </p:spPr>
      </p:sp>
      <p:sp>
        <p:nvSpPr>
          <p:cNvPr id="21" name="Text 19"/>
          <p:cNvSpPr/>
          <p:nvPr/>
        </p:nvSpPr>
        <p:spPr>
          <a:xfrm>
            <a:off x="14592300" y="3409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4592300" y="4076700"/>
            <a:ext cx="2286000" cy="666750"/>
          </a:xfrm>
          <a:prstGeom prst="rect">
            <a:avLst/>
          </a:prstGeom>
          <a:noFill/>
          <a:ln/>
        </p:spPr>
        <p:txBody>
          <a:bodyPr wrap="square" lIns="0" tIns="18667" rIns="0" bIns="-18667" rtlCol="0" anchor="t"/>
          <a:lstStyle/>
          <a:p>
            <a:pPr algn="l" indent="0" marL="0">
              <a:lnSpc>
                <a:spcPts val="2438"/>
              </a:lnSpc>
              <a:buNone/>
            </a:pPr>
            <a:r>
              <a:rPr lang="en-US" sz="1950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see</a:t>
            </a:r>
            <a:r>
              <a:rPr lang="en-US" sz="1950" b="1" dirty="0" spc="-5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950" b="1" dirty="0" spc="-3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all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4592300" y="4876800"/>
            <a:ext cx="2286000" cy="1238250"/>
          </a:xfrm>
          <a:prstGeom prst="rect">
            <a:avLst/>
          </a:prstGeom>
          <a:noFill/>
          <a:ln/>
        </p:spPr>
        <p:txBody>
          <a:bodyPr wrap="square" lIns="0" tIns="7950" rIns="0" bIns="-795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inquiry</a:t>
            </a:r>
            <a:r>
              <a:rPr lang="en-US" sz="1650" dirty="0" spc="2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tracked</a:t>
            </a:r>
            <a:r>
              <a:rPr lang="en-US" sz="1650" dirty="0" spc="1" kern="0">
                <a:solidFill>
                  <a:srgbClr val="C1C4C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refined</a:t>
            </a:r>
            <a:endParaRPr lang="en-US" sz="1650" dirty="0"/>
          </a:p>
        </p:txBody>
      </p:sp>
      <p:sp>
        <p:nvSpPr>
          <p:cNvPr id="24" name="Connector line-1792012295551-117124735"/>
          <p:cNvSpPr/>
          <p:nvPr/>
        </p:nvSpPr>
        <p:spPr>
          <a:xfrm>
            <a:off x="40195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5" name="Connector line-1792012295552-958777172"/>
          <p:cNvSpPr/>
          <p:nvPr/>
        </p:nvSpPr>
        <p:spPr>
          <a:xfrm>
            <a:off x="73152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6" name="Connector line-1792012295552-163507789"/>
          <p:cNvSpPr/>
          <p:nvPr/>
        </p:nvSpPr>
        <p:spPr>
          <a:xfrm>
            <a:off x="1061085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7" name="Connector line-1792012295552-523308080"/>
          <p:cNvSpPr/>
          <p:nvPr/>
        </p:nvSpPr>
        <p:spPr>
          <a:xfrm>
            <a:off x="13906500" y="4762500"/>
            <a:ext cx="361950" cy="0"/>
          </a:xfrm>
          <a:prstGeom prst="line">
            <a:avLst/>
          </a:prstGeom>
          <a:noFill/>
          <a:ln w="28575">
            <a:solidFill>
              <a:srgbClr val="919399"/>
            </a:solidFill>
            <a:prstDash val="solid"/>
            <a:headEnd type="none"/>
            <a:tailEnd type="triangle" w="lg" len="lg"/>
          </a:ln>
        </p:spPr>
      </p:sp>
      <p:sp>
        <p:nvSpPr>
          <p:cNvPr id="28" name="Shape 26"/>
          <p:cNvSpPr/>
          <p:nvPr/>
        </p:nvSpPr>
        <p:spPr>
          <a:xfrm>
            <a:off x="1143000" y="7239000"/>
            <a:ext cx="16002000" cy="1524000"/>
          </a:xfrm>
          <a:prstGeom prst="roundRect">
            <a:avLst>
              <a:gd name="adj" fmla="val 12500"/>
            </a:avLst>
          </a:prstGeom>
          <a:solidFill>
            <a:srgbClr val="F3F3F5"/>
          </a:solidFill>
          <a:ln/>
        </p:spPr>
      </p:sp>
      <p:sp>
        <p:nvSpPr>
          <p:cNvPr id="29" name="Text 27"/>
          <p:cNvSpPr/>
          <p:nvPr/>
        </p:nvSpPr>
        <p:spPr>
          <a:xfrm>
            <a:off x="1485900" y="7581900"/>
            <a:ext cx="15316200" cy="762000"/>
          </a:xfrm>
          <a:prstGeom prst="rect">
            <a:avLst/>
          </a:prstGeom>
          <a:noFill/>
          <a:ln/>
        </p:spPr>
        <p:txBody>
          <a:bodyPr wrap="square" lIns="0" tIns="6050" rIns="0" bIns="-6050" rtlCol="0" anchor="ctr"/>
          <a:lstStyle/>
          <a:p>
            <a:pPr algn="l" indent="0" marL="0">
              <a:lnSpc>
                <a:spcPts val="2719"/>
              </a:lnSpc>
              <a:buNone/>
            </a:pP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click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becomes a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client,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outcome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promised.</a:t>
            </a:r>
            <a:r>
              <a:rPr lang="en-US" sz="187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point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of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journey is</a:t>
            </a:r>
            <a:r>
              <a:rPr lang="en-US" sz="1875" dirty="0" spc="3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every step is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visible,</a:t>
            </a:r>
            <a:r>
              <a:rPr lang="en-US" sz="187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measured and</a:t>
            </a:r>
            <a:r>
              <a:rPr lang="en-US" sz="187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improvable.</a:t>
            </a:r>
            <a:endParaRPr lang="en-US" sz="1875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4e7a18e5-555c-47c4-b97f-06e7a827ae8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MEASUREMENT</a:t>
            </a:r>
            <a:r>
              <a:rPr lang="en-US" sz="1650" b="1" spc="377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OPTIMIZATION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You'll</a:t>
            </a: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always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see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what's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143000" y="2667000"/>
            <a:ext cx="9334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measure</a:t>
            </a:r>
            <a:r>
              <a:rPr lang="en-US" sz="1950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950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act</a:t>
            </a:r>
            <a:r>
              <a:rPr lang="en-US" sz="1950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on:</a:t>
            </a:r>
            <a:endParaRPr lang="en-US" sz="1950" dirty="0"/>
          </a:p>
        </p:txBody>
      </p:sp>
      <p:sp>
        <p:nvSpPr>
          <p:cNvPr id="5" name="Text richtext-1792012335594-640345306"/>
          <p:cNvSpPr/>
          <p:nvPr/>
        </p:nvSpPr>
        <p:spPr>
          <a:xfrm>
            <a:off x="1143000" y="3238500"/>
            <a:ext cx="9334500" cy="4191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Consultation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requests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calls, tracked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the search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produced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them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Performance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 county,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Medicare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versus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health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Search-term reviews,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budget moves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toward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what brings consultations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5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Cost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inquiry, once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enough</a:t>
            </a:r>
            <a:r>
              <a:rPr lang="en-US" sz="1875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reliable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accumulates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</a:t>
            </a:r>
            <a:r>
              <a:rPr lang="en-US" sz="1875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plain-English monthly report,</a:t>
            </a:r>
            <a:r>
              <a:rPr lang="en-US" sz="1875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not</a:t>
            </a:r>
            <a:r>
              <a:rPr lang="en-US" sz="1875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 spreadsheet</a:t>
            </a:r>
            <a:r>
              <a:rPr lang="en-US" sz="1875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dump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11049000" y="2667000"/>
            <a:ext cx="6096000" cy="4762500"/>
          </a:xfrm>
          <a:prstGeom prst="roundRect">
            <a:avLst>
              <a:gd name="adj" fmla="val 4000"/>
            </a:avLst>
          </a:prstGeom>
          <a:solidFill>
            <a:srgbClr val="101112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0" y="3048000"/>
            <a:ext cx="533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25" b="1" dirty="0" spc="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</a:t>
            </a:r>
            <a:r>
              <a:rPr lang="en-US" sz="2025" b="1" dirty="0" spc="-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2025" b="1" dirty="0" spc="2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won't</a:t>
            </a:r>
            <a:r>
              <a:rPr lang="en-US" sz="2025" b="1" dirty="0" spc="-1" kern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1430000" y="3543300"/>
            <a:ext cx="5334000" cy="3143250"/>
          </a:xfrm>
          <a:prstGeom prst="rect">
            <a:avLst/>
          </a:prstGeom>
          <a:noFill/>
          <a:ln/>
        </p:spPr>
        <p:txBody>
          <a:bodyPr wrap="square" lIns="0" tIns="100" rIns="0" bIns="-10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Promise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enrollments, savings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coverage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outcomes.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Guarantee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results.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 spending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where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says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stop.</a:t>
            </a:r>
            <a:endParaRPr lang="en-US" sz="1800" dirty="0"/>
          </a:p>
          <a:p>
            <a:pPr algn="l" indent="0" marL="0">
              <a:lnSpc>
                <a:spcPts val="2790"/>
              </a:lnSpc>
              <a:buNone/>
            </a:pP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Inquiry tracking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doesn't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exist</a:t>
            </a:r>
            <a:r>
              <a:rPr lang="en-US" sz="1800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until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someone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 it,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</a:t>
            </a:r>
            <a:r>
              <a:rPr lang="en-US" sz="1800" dirty="0" spc="5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</a:t>
            </a:r>
            <a:r>
              <a:rPr lang="en-US" sz="1800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as</a:t>
            </a:r>
            <a:r>
              <a:rPr lang="en-US" sz="1800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part of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setup,</a:t>
            </a:r>
            <a:r>
              <a:rPr lang="en-US" sz="1800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within</a:t>
            </a:r>
            <a:r>
              <a:rPr lang="en-US" sz="1800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CMS</a:t>
            </a:r>
            <a:r>
              <a:rPr lang="en-US" sz="1800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rules.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9144000"/>
            <a:ext cx="142875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 spc="0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Decisions follow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evidence from</a:t>
            </a:r>
            <a:r>
              <a:rPr lang="en-US" sz="1500" i="1" dirty="0" spc="2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campaign</a:t>
            </a:r>
            <a:r>
              <a:rPr lang="en-US" sz="1500" i="1" dirty="0" spc="-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data,</a:t>
            </a:r>
            <a:r>
              <a:rPr lang="en-US" sz="1500" i="1" dirty="0" spc="1" kern="0">
                <a:solidFill>
                  <a:srgbClr val="7274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never industry averages.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07b3d845-b7e0-4062-8b25-d61ac1f110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4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PROPOSED</a:t>
            </a:r>
            <a:r>
              <a:rPr lang="en-US" sz="1650" b="1" spc="376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IMPLEMENTATION</a:t>
            </a:r>
            <a:r>
              <a:rPr lang="en-US" sz="1650" b="1" spc="375" kern="0" dirty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143000" y="1333500"/>
            <a:ext cx="1428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we'd</a:t>
            </a:r>
            <a:r>
              <a:rPr lang="en-US" sz="4200" b="1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</a:t>
            </a:r>
            <a:r>
              <a:rPr lang="en-US" sz="4200" b="1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together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1430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4097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097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Confirm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priorities: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Medicare,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group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health,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counties, budget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65913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Agree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 priorities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any</a:t>
            </a: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carrier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considerations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2039600" y="2857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2306300" y="3124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06300" y="3649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Prepare the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consultation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page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 inquiry tracking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1430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4097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097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Build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campaigns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pass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every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Medicare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ad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through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compliance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review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65913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8580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3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Launch</a:t>
            </a:r>
            <a:r>
              <a:rPr lang="en-US" sz="1725" dirty="0" spc="0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inside</a:t>
            </a:r>
            <a:r>
              <a:rPr lang="en-US" sz="1725" dirty="0" spc="-4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enrollment window,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on</a:t>
            </a:r>
            <a:r>
              <a:rPr lang="en-US" sz="1725" dirty="0" spc="-2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your</a:t>
            </a:r>
            <a:r>
              <a:rPr lang="en-US" sz="1725" dirty="0" spc="-1" kern="0">
                <a:solidFill>
                  <a:srgbClr val="333539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approval</a:t>
            </a:r>
            <a:endParaRPr lang="en-US" sz="1725" dirty="0"/>
          </a:p>
        </p:txBody>
      </p:sp>
      <p:sp>
        <p:nvSpPr>
          <p:cNvPr id="19" name="Shape 17"/>
          <p:cNvSpPr/>
          <p:nvPr/>
        </p:nvSpPr>
        <p:spPr>
          <a:xfrm>
            <a:off x="12039600" y="5143500"/>
            <a:ext cx="5105400" cy="1905000"/>
          </a:xfrm>
          <a:prstGeom prst="roundRect">
            <a:avLst>
              <a:gd name="adj" fmla="val 9000"/>
            </a:avLst>
          </a:prstGeom>
          <a:solidFill>
            <a:srgbClr val="101112"/>
          </a:solidFill>
          <a:ln/>
        </p:spPr>
      </p:sp>
      <p:sp>
        <p:nvSpPr>
          <p:cNvPr id="20" name="Text 18"/>
          <p:cNvSpPr/>
          <p:nvPr/>
        </p:nvSpPr>
        <p:spPr>
          <a:xfrm>
            <a:off x="12306300" y="5410200"/>
            <a:ext cx="406400" cy="406400"/>
          </a:xfrm>
          <a:prstGeom prst="roundRect">
            <a:avLst>
              <a:gd name="adj" fmla="val 50000"/>
            </a:avLst>
          </a:prstGeom>
          <a:solidFill>
            <a:srgbClr val="FFA73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4" kern="0">
                <a:solidFill>
                  <a:srgbClr val="101112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6300" y="5935133"/>
            <a:ext cx="4572000" cy="846667"/>
          </a:xfrm>
          <a:prstGeom prst="rect">
            <a:avLst/>
          </a:prstGeom>
          <a:noFill/>
          <a:ln/>
        </p:spPr>
        <p:txBody>
          <a:bodyPr wrap="square" lIns="0" tIns="8312" rIns="0" bIns="-8312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172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Review results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together,</a:t>
            </a:r>
            <a:r>
              <a:rPr lang="en-US" sz="1725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then</a:t>
            </a:r>
            <a:r>
              <a:rPr lang="en-US" sz="172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pivot to group</a:t>
            </a:r>
            <a:r>
              <a:rPr lang="en-US" sz="1725" dirty="0" spc="-2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health</a:t>
            </a:r>
            <a:r>
              <a:rPr lang="en-US" sz="1725" dirty="0" spc="-3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after</a:t>
            </a:r>
            <a:r>
              <a:rPr lang="en-US" sz="1725" dirty="0" spc="-1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7</a:t>
            </a:r>
            <a:r>
              <a:rPr lang="en-US" sz="1725" dirty="0" spc="-4" kern="0">
                <a:solidFill>
                  <a:srgbClr val="FFFFFF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December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143000" y="7715250"/>
            <a:ext cx="15240000" cy="666750"/>
          </a:xfrm>
          <a:prstGeom prst="rect">
            <a:avLst/>
          </a:prstGeom>
          <a:noFill/>
          <a:ln/>
        </p:spPr>
        <p:txBody>
          <a:bodyPr wrap="square" lIns="0" tIns="2958" rIns="0" bIns="-2958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Nothing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goes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live without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 approval,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you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keep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ownership</a:t>
            </a:r>
            <a:r>
              <a:rPr lang="en-US" sz="1800" dirty="0" spc="3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access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your</a:t>
            </a:r>
            <a:r>
              <a:rPr lang="en-US" sz="1800" dirty="0" spc="0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own</a:t>
            </a:r>
            <a:r>
              <a:rPr lang="en-US" sz="1800" dirty="0" spc="-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Ads</a:t>
            </a:r>
            <a:r>
              <a:rPr lang="en-US" sz="1800" dirty="0" spc="2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account</a:t>
            </a:r>
            <a:r>
              <a:rPr lang="en-US" sz="1800" dirty="0" spc="1" kern="0">
                <a:solidFill>
                  <a:srgbClr val="57595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throughout.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b7a232f-2b03-4397-b944-5e19697ec49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192250" y="-3905250"/>
            <a:ext cx="6286500" cy="6286500"/>
          </a:xfrm>
          <a:prstGeom prst="ellipse">
            <a:avLst/>
          </a:prstGeom>
          <a:solidFill>
            <a:srgbClr val="1B1B1C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857250"/>
            <a:ext cx="1333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377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NEXT</a:t>
            </a:r>
            <a:r>
              <a:rPr lang="en-US" sz="1650" b="1" spc="376" kern="0" dirty="0">
                <a:solidFill>
                  <a:srgbClr val="FFA73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STEP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4287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</a:t>
            </a:r>
            <a:r>
              <a:rPr lang="en-US" sz="45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window is</a:t>
            </a:r>
            <a:r>
              <a:rPr lang="en-US" sz="4500" b="1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open.</a:t>
            </a:r>
            <a:r>
              <a:rPr lang="en-US" sz="4500" b="1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Worth</a:t>
            </a:r>
            <a:r>
              <a:rPr lang="en-US" sz="4500" b="1" dirty="0" spc="-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20</a:t>
            </a:r>
            <a:r>
              <a:rPr lang="en-US" sz="45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minutes</a:t>
            </a:r>
            <a:r>
              <a:rPr lang="en-US" sz="4500" b="1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4500" b="1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week?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143000" y="2762250"/>
            <a:ext cx="8953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What</a:t>
            </a:r>
            <a:r>
              <a:rPr lang="en-US" sz="1950" dirty="0" spc="-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we'd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like</a:t>
            </a:r>
            <a:r>
              <a:rPr lang="en-US" sz="1950" dirty="0" spc="-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to</a:t>
            </a:r>
            <a:r>
              <a:rPr lang="en-US" sz="1950" dirty="0" spc="2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learn</a:t>
            </a:r>
            <a:r>
              <a:rPr lang="en-US" sz="1950" dirty="0" spc="0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from</a:t>
            </a:r>
            <a:r>
              <a:rPr lang="en-US" sz="1950" dirty="0" spc="1" kern="0">
                <a:solidFill>
                  <a:srgbClr val="FFA737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you:</a:t>
            </a:r>
            <a:endParaRPr lang="en-US" sz="1950" dirty="0"/>
          </a:p>
        </p:txBody>
      </p:sp>
      <p:sp>
        <p:nvSpPr>
          <p:cNvPr id="6" name="Text richtext-1792012435969-741978413"/>
          <p:cNvSpPr/>
          <p:nvPr/>
        </p:nvSpPr>
        <p:spPr>
          <a:xfrm>
            <a:off x="1143000" y="3333750"/>
            <a:ext cx="8953500" cy="3429000"/>
          </a:xfrm>
          <a:prstGeom prst="rect">
            <a:avLst/>
          </a:prstGeom>
          <a:noFill/>
          <a:ln/>
        </p:spPr>
        <p:txBody>
          <a:bodyPr wrap="square" lIns="0" tIns="-2872" rIns="0" bIns="2872" rtlCol="0" anchor="t"/>
          <a:lstStyle/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this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season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going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 far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matters most: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Medicare, group health</a:t>
            </a:r>
            <a:r>
              <a:rPr lang="en-US" sz="1875" dirty="0" spc="3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Covered California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Any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carrier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rules</a:t>
            </a:r>
            <a:r>
              <a:rPr lang="en-US" sz="1875" dirty="0" spc="4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shape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how the agency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can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advertise</a:t>
            </a:r>
            <a:endParaRPr lang="en-US" sz="1875" dirty="0"/>
          </a:p>
          <a:p>
            <a:pPr algn="l" marL="238125" indent="-170126">
              <a:lnSpc>
                <a:spcPts val="3000"/>
              </a:lnSpc>
              <a:buSzPct val="100000"/>
              <a:buFont typeface="Arial"/>
              <a:buChar char="•"/>
            </a:pPr>
            <a:r>
              <a:rPr lang="en-US" sz="1875" dirty="0" spc="-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</a:t>
            </a:r>
            <a:r>
              <a:rPr lang="en-US" sz="1875" dirty="0" spc="0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would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follow</a:t>
            </a:r>
            <a:r>
              <a:rPr lang="en-US" sz="1875" dirty="0" spc="-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up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consultation requests</a:t>
            </a:r>
            <a:r>
              <a:rPr lang="en-US" sz="1875" dirty="0" spc="1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during</a:t>
            </a:r>
            <a:r>
              <a:rPr lang="en-US" sz="1875" dirty="0" spc="2" kern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the rush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858500" y="2762250"/>
            <a:ext cx="6286500" cy="40957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pic>
        <p:nvPicPr>
          <p:cNvPr id="8" name="Moda image rect-1792012436413-61792385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39500" y="3143250"/>
            <a:ext cx="609600" cy="609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239500" y="3943350"/>
            <a:ext cx="5524500" cy="1714500"/>
          </a:xfrm>
          <a:prstGeom prst="rect">
            <a:avLst/>
          </a:prstGeom>
          <a:noFill/>
          <a:ln/>
        </p:spPr>
        <p:txBody>
          <a:bodyPr wrap="square" lIns="0" tIns="2819" rIns="0" bIns="-2819" rtlCol="0" anchor="t"/>
          <a:lstStyle/>
          <a:p>
            <a:pPr algn="l" indent="0" marL="0">
              <a:lnSpc>
                <a:spcPts val="2588"/>
              </a:lnSpc>
              <a:buNone/>
            </a:pP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Digital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Media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Solutions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builds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manages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Google Ads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</a:t>
            </a:r>
            <a:r>
              <a:rPr lang="en-US" sz="1725" dirty="0" spc="-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local firms, with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landing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pages,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web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development,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SEO</a:t>
            </a:r>
            <a:r>
              <a:rPr lang="en-US" sz="1725" dirty="0" spc="-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content</a:t>
            </a:r>
            <a:r>
              <a:rPr lang="en-US" sz="1725" dirty="0" spc="1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under</a:t>
            </a:r>
            <a:r>
              <a:rPr lang="en-US" sz="1725" dirty="0" spc="0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one</a:t>
            </a:r>
            <a:r>
              <a:rPr lang="en-US" sz="1725" dirty="0" spc="2" kern="0">
                <a:solidFill>
                  <a:srgbClr val="333539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roof.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11239500" y="5848350"/>
            <a:ext cx="5524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D181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around29.com</a:t>
            </a:r>
            <a:endParaRPr lang="en-US" sz="1950" dirty="0"/>
          </a:p>
        </p:txBody>
      </p:sp>
      <p:sp>
        <p:nvSpPr>
          <p:cNvPr id="11" name="Shape 8"/>
          <p:cNvSpPr/>
          <p:nvPr/>
        </p:nvSpPr>
        <p:spPr>
          <a:xfrm>
            <a:off x="1143000" y="7524750"/>
            <a:ext cx="16002000" cy="1333500"/>
          </a:xfrm>
          <a:prstGeom prst="roundRect">
            <a:avLst>
              <a:gd name="adj" fmla="val 14286"/>
            </a:avLst>
          </a:prstGeom>
          <a:solidFill>
            <a:srgbClr val="FFA737"/>
          </a:solidFill>
          <a:ln/>
        </p:spPr>
      </p:sp>
      <p:sp>
        <p:nvSpPr>
          <p:cNvPr id="12" name="Text 9"/>
          <p:cNvSpPr/>
          <p:nvPr/>
        </p:nvSpPr>
        <p:spPr>
          <a:xfrm>
            <a:off x="1466850" y="7848600"/>
            <a:ext cx="15354300" cy="685800"/>
          </a:xfrm>
          <a:prstGeom prst="rect">
            <a:avLst/>
          </a:prstGeom>
          <a:noFill/>
          <a:ln/>
        </p:spPr>
        <p:txBody>
          <a:bodyPr wrap="square" lIns="0" tIns="9396" rIns="0" bIns="-9396" rtlCol="0" anchor="ctr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No</a:t>
            </a:r>
            <a:r>
              <a:rPr lang="en-US" sz="1950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pressure</a:t>
            </a:r>
            <a:r>
              <a:rPr lang="en-US" sz="1950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and</a:t>
            </a:r>
            <a:r>
              <a:rPr lang="en-US" sz="1950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no</a:t>
            </a: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obligation: if</a:t>
            </a:r>
            <a:r>
              <a:rPr lang="en-US" sz="1950" dirty="0" spc="-3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the</a:t>
            </a:r>
            <a:r>
              <a:rPr lang="en-US" sz="1950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numbers</a:t>
            </a:r>
            <a:r>
              <a:rPr lang="en-US" sz="1950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don't</a:t>
            </a:r>
            <a:r>
              <a:rPr lang="en-US" sz="1950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make</a:t>
            </a:r>
            <a:r>
              <a:rPr lang="en-US" sz="1950" dirty="0" spc="-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sense</a:t>
            </a:r>
            <a:r>
              <a:rPr lang="en-US" sz="1950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 Zellers Group, we'll</a:t>
            </a:r>
            <a:r>
              <a:rPr lang="en-US" sz="1950" dirty="0" spc="0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tell</a:t>
            </a: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you</a:t>
            </a:r>
            <a:r>
              <a:rPr lang="en-US" sz="1950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so.</a:t>
            </a:r>
            <a:r>
              <a:rPr lang="en-US" sz="1950" dirty="0" spc="1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Thank you</a:t>
            </a:r>
            <a:r>
              <a:rPr lang="en-US" sz="1950" dirty="0" spc="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for your</a:t>
            </a:r>
            <a:r>
              <a:rPr lang="en-US" sz="1950" dirty="0" spc="-2" kern="0">
                <a:solidFill>
                  <a:srgbClr val="101112"/>
                </a:solidFill>
                <a:latin typeface="Open Sans SemiBold" pitchFamily="34" charset="0"/>
                <a:ea typeface="Open Sans SemiBold" pitchFamily="34" charset="-122"/>
                <a:cs typeface="Open Sans SemiBold" pitchFamily="34" charset="-120"/>
              </a:rPr>
              <a:t> time.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143000" y="9382125"/>
            <a:ext cx="16002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62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Zellers</a:t>
            </a:r>
            <a:r>
              <a:rPr lang="en-US" sz="1362" i="1" dirty="0" spc="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Group</a:t>
            </a:r>
            <a:r>
              <a:rPr lang="en-US" sz="1362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</a:t>
            </a:r>
            <a:r>
              <a:rPr lang="en-US" sz="1362" i="1" dirty="0" spc="0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Around29</a:t>
            </a:r>
            <a:r>
              <a:rPr lang="en-US" sz="1362" i="1" dirty="0" spc="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</a:t>
            </a:r>
            <a:r>
              <a:rPr lang="en-US" sz="1362" i="1" dirty="0" spc="0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independent</a:t>
            </a:r>
            <a:r>
              <a:rPr lang="en-US" sz="1362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organizations, not</a:t>
            </a:r>
            <a:r>
              <a:rPr lang="en-US" sz="1362" i="1" dirty="0" spc="-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affiliated with</a:t>
            </a:r>
            <a:r>
              <a:rPr lang="en-US" sz="1362" i="1" dirty="0" spc="4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362" i="1" dirty="0" spc="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endorsed</a:t>
            </a:r>
            <a:r>
              <a:rPr lang="en-US" sz="1362" i="1" dirty="0" spc="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by</a:t>
            </a:r>
            <a:r>
              <a:rPr lang="en-US" sz="1362" i="1" dirty="0" spc="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Medicare</a:t>
            </a:r>
            <a:r>
              <a:rPr lang="en-US" sz="1362" i="1" dirty="0" spc="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362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any</a:t>
            </a:r>
            <a:r>
              <a:rPr lang="en-US" sz="1362" i="1" dirty="0" spc="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government</a:t>
            </a:r>
            <a:r>
              <a:rPr lang="en-US" sz="1362" i="1" dirty="0" spc="0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agency.</a:t>
            </a:r>
            <a:r>
              <a:rPr lang="en-US" sz="1362" i="1" dirty="0" spc="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No</a:t>
            </a:r>
            <a:r>
              <a:rPr lang="en-US" sz="1362" i="1" dirty="0" spc="-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plan</a:t>
            </a:r>
            <a:r>
              <a:rPr lang="en-US" sz="1362" i="1" dirty="0" spc="-3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availability,</a:t>
            </a:r>
            <a:r>
              <a:rPr lang="en-US" sz="1362" i="1" dirty="0" spc="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coverage,</a:t>
            </a:r>
            <a:r>
              <a:rPr lang="en-US" sz="1362" i="1" dirty="0" spc="-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savings</a:t>
            </a:r>
            <a:r>
              <a:rPr lang="en-US" sz="1362" i="1" dirty="0" spc="2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or</a:t>
            </a:r>
            <a:r>
              <a:rPr lang="en-US" sz="1362" i="1" dirty="0" spc="0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enrollment</a:t>
            </a:r>
            <a:r>
              <a:rPr lang="en-US" sz="1362" i="1" dirty="0" spc="1" kern="0">
                <a:solidFill>
                  <a:srgbClr val="75777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outcomes are promised.</a:t>
            </a:r>
            <a:endParaRPr lang="en-US" sz="1362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29fe8d4e-c7b5-4d1d-998b-85770b8c918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2026-10-14T21:16:27Z</dcterms:created>
  <dcterms:modified xsi:type="dcterms:W3CDTF">2026-10-14T21:16:27Z</dcterms:modified>
</cp:coreProperties>
</file>