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Open Sans"/>
      <p:regular r:id="rId17"/>
      <p:bold r:id="rId16"/>
      <p:italic r:id="rId19"/>
    </p:embeddedFont>
    <p:embeddedFont>
      <p:font typeface="Open Sans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49250" y="-2762250"/>
            <a:ext cx="8191500" cy="8191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572250"/>
            <a:ext cx="4572000" cy="4572000"/>
          </a:xfrm>
          <a:prstGeom prst="ellipse">
            <a:avLst/>
          </a:prstGeom>
          <a:solidFill>
            <a:srgbClr val="FFA73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33500"/>
            <a:ext cx="1238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VIP</a:t>
            </a:r>
            <a:r>
              <a:rPr lang="en-US" sz="1800" b="1" spc="453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381250"/>
            <a:ext cx="12192000" cy="2266950"/>
          </a:xfrm>
          <a:prstGeom prst="rect">
            <a:avLst/>
          </a:prstGeom>
          <a:noFill/>
          <a:ln/>
        </p:spPr>
        <p:txBody>
          <a:bodyPr wrap="square" lIns="0" tIns="69694" rIns="0" bIns="-69694" rtlCol="0" anchor="t"/>
          <a:lstStyle/>
          <a:p>
            <a:pPr algn="l" indent="0" marL="0">
              <a:lnSpc>
                <a:spcPts val="6277"/>
              </a:lnSpc>
              <a:buNone/>
            </a:pPr>
            <a:r>
              <a:rPr lang="en-US" sz="5707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</a:t>
            </a:r>
            <a:r>
              <a:rPr lang="en-US" sz="5707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5707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5707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5707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5707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 control</a:t>
            </a:r>
            <a:r>
              <a:rPr lang="en-US" sz="5707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5707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5707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Central</a:t>
            </a:r>
            <a:r>
              <a:rPr lang="en-US" sz="5707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Coast</a:t>
            </a:r>
            <a:endParaRPr lang="en-US" sz="5707" dirty="0"/>
          </a:p>
        </p:txBody>
      </p:sp>
      <p:sp>
        <p:nvSpPr>
          <p:cNvPr id="6" name="Text 4"/>
          <p:cNvSpPr/>
          <p:nvPr/>
        </p:nvSpPr>
        <p:spPr>
          <a:xfrm>
            <a:off x="1143000" y="5905500"/>
            <a:ext cx="10477500" cy="828675"/>
          </a:xfrm>
          <a:prstGeom prst="rect">
            <a:avLst/>
          </a:prstGeom>
          <a:noFill/>
          <a:ln/>
        </p:spPr>
        <p:txBody>
          <a:bodyPr wrap="square" lIns="0" tIns="6910" rIns="0" bIns="-6910" rtlCol="0" anchor="t"/>
          <a:lstStyle/>
          <a:p>
            <a:pPr algn="l" indent="0" marL="0">
              <a:lnSpc>
                <a:spcPts val="3114"/>
              </a:lnSpc>
              <a:buNone/>
            </a:pPr>
            <a:r>
              <a:rPr lang="en-US" sz="2147" dirty="0" spc="-5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147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2147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2147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 built</a:t>
            </a:r>
            <a:r>
              <a:rPr lang="en-US" sz="2147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</a:t>
            </a:r>
            <a:r>
              <a:rPr lang="en-US" sz="2147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147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termite and</a:t>
            </a:r>
            <a:r>
              <a:rPr lang="en-US" sz="2147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 services across</a:t>
            </a:r>
            <a:r>
              <a:rPr lang="en-US" sz="2147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</a:t>
            </a:r>
            <a:r>
              <a:rPr lang="en-US" sz="2147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Luis</a:t>
            </a:r>
            <a:r>
              <a:rPr lang="en-US" sz="2147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Obispo,</a:t>
            </a:r>
            <a:r>
              <a:rPr lang="en-US" sz="2147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Santa Barbara and</a:t>
            </a:r>
            <a:r>
              <a:rPr lang="en-US" sz="2147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Ventura Counties.</a:t>
            </a:r>
            <a:endParaRPr lang="en-US" sz="2147" dirty="0"/>
          </a:p>
        </p:txBody>
      </p:sp>
      <p:sp>
        <p:nvSpPr>
          <p:cNvPr id="7" name="Shape 5"/>
          <p:cNvSpPr/>
          <p:nvPr/>
        </p:nvSpPr>
        <p:spPr>
          <a:xfrm>
            <a:off x="1143000" y="8096250"/>
            <a:ext cx="31432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8" name="Moda image rect-1792011598485-6575125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7800" y="8474174"/>
            <a:ext cx="609600" cy="2347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7250" y="8343900"/>
            <a:ext cx="7239000" cy="638175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around29.com</a:t>
            </a:r>
            <a:endParaRPr lang="en-US" sz="1725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sz="1725" dirty="0" spc="4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October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2026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2247900" y="8420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14a204c1-d4f7-4ced-883e-c455e312db5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b="1" spc="373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understand about</a:t>
            </a:r>
            <a:r>
              <a:rPr lang="en-US" sz="4200" b="1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VIP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 Solutions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431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do</a:t>
            </a:r>
            <a:endParaRPr lang="en-US" sz="2100" dirty="0"/>
          </a:p>
        </p:txBody>
      </p:sp>
      <p:sp>
        <p:nvSpPr>
          <p:cNvPr id="6" name="Text richtext-1792011614338-572604997"/>
          <p:cNvSpPr/>
          <p:nvPr/>
        </p:nvSpPr>
        <p:spPr>
          <a:xfrm>
            <a:off x="1524000" y="3733800"/>
            <a:ext cx="4318000" cy="2085975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Recurring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plans: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monthly, bimonthly,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quarterly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Rodent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exclusion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Termite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inspections, treatments, repairs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fumigation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Residential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4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101112"/>
          </a:solidFill>
          <a:ln/>
        </p:spPr>
      </p:sp>
      <p:sp>
        <p:nvSpPr>
          <p:cNvPr id="8" name="Text 6"/>
          <p:cNvSpPr/>
          <p:nvPr/>
        </p:nvSpPr>
        <p:spPr>
          <a:xfrm>
            <a:off x="6985000" y="3238500"/>
            <a:ext cx="431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</a:t>
            </a:r>
            <a:r>
              <a:rPr lang="en-US" sz="210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21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85000" y="3762375"/>
            <a:ext cx="4318000" cy="1276350"/>
          </a:xfrm>
          <a:prstGeom prst="rect">
            <a:avLst/>
          </a:prstGeom>
          <a:noFill/>
          <a:ln/>
        </p:spPr>
        <p:txBody>
          <a:bodyPr wrap="square" lIns="0" tIns="7253" rIns="0" bIns="-725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"Serving</a:t>
            </a:r>
            <a:r>
              <a:rPr lang="en-US" sz="2250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San</a:t>
            </a:r>
            <a:r>
              <a:rPr lang="en-US" sz="225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Luis Obispo,</a:t>
            </a:r>
            <a:r>
              <a:rPr lang="en-US" sz="2250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Santa</a:t>
            </a:r>
            <a:r>
              <a:rPr lang="en-US" sz="225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Barbara</a:t>
            </a:r>
            <a:r>
              <a:rPr lang="en-US" sz="2250" dirty="0" spc="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225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Ventura</a:t>
            </a:r>
            <a:r>
              <a:rPr lang="en-US" sz="225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Counties"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85000" y="5286375"/>
            <a:ext cx="4318000" cy="6858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family-run, local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Central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Coast company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</a:t>
            </a:r>
            <a:r>
              <a:rPr lang="en-US" sz="1725" dirty="0" spc="-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Santa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Maria.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2065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0" y="3238500"/>
            <a:ext cx="431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21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r>
              <a:rPr lang="en-US" sz="2100" b="1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2100" dirty="0"/>
          </a:p>
        </p:txBody>
      </p:sp>
      <p:sp>
        <p:nvSpPr>
          <p:cNvPr id="13" name="Text richtext-1792011614415-244427491"/>
          <p:cNvSpPr/>
          <p:nvPr/>
        </p:nvSpPr>
        <p:spPr>
          <a:xfrm>
            <a:off x="12446000" y="3733800"/>
            <a:ext cx="4318000" cy="1057275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attention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24/7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"Schedule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Now"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online form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1440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500" dirty="0" spc="4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slide</a:t>
            </a:r>
            <a:r>
              <a:rPr lang="en-US" sz="1500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own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website,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vippestsolutions.com.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1088665-b25b-41f0-9fab-055cbd0fe1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SEARCH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searching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right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3451" rIns="0" bIns="-345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homeowner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finds a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trail</a:t>
            </a:r>
            <a:r>
              <a:rPr lang="en-US" sz="2100" dirty="0" spc="-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ants,</a:t>
            </a:r>
            <a:r>
              <a:rPr lang="en-US" sz="2100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escrow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needs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termite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report,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21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stop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usually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search.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are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kinds</a:t>
            </a:r>
            <a:r>
              <a:rPr lang="en-US" sz="2100" dirty="0" spc="-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 answer: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095750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termite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inspection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372100" y="4095750"/>
            <a:ext cx="3762375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pest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Santa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34475" y="4095750"/>
            <a:ext cx="4048125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exterminator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Santa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Barbara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411200" y="409575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rodent removal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5048250"/>
            <a:ext cx="3857625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escrow termite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inspection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29225" y="5048250"/>
            <a:ext cx="36195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termite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fumigation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077325" y="5048250"/>
            <a:ext cx="3190875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pest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96800" y="504825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gopher service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6667500"/>
            <a:ext cx="16002000" cy="2095500"/>
          </a:xfrm>
          <a:prstGeom prst="roundRect">
            <a:avLst>
              <a:gd name="adj" fmla="val 9091"/>
            </a:avLst>
          </a:prstGeom>
          <a:solidFill>
            <a:srgbClr val="101112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7048500"/>
            <a:ext cx="15240000" cy="3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10" b="1" dirty="0" spc="3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</a:t>
            </a:r>
            <a:r>
              <a:rPr lang="en-US" sz="201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201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matters</a:t>
            </a:r>
            <a:endParaRPr lang="en-US" sz="2010" dirty="0"/>
          </a:p>
        </p:txBody>
      </p:sp>
      <p:sp>
        <p:nvSpPr>
          <p:cNvPr id="15" name="Text 13"/>
          <p:cNvSpPr/>
          <p:nvPr/>
        </p:nvSpPr>
        <p:spPr>
          <a:xfrm>
            <a:off x="1524000" y="7462345"/>
            <a:ext cx="15240000" cy="919655"/>
          </a:xfrm>
          <a:prstGeom prst="rect">
            <a:avLst/>
          </a:prstGeom>
          <a:noFill/>
          <a:ln/>
        </p:spPr>
        <p:txBody>
          <a:bodyPr wrap="square" lIns="0" tIns="3065" rIns="0" bIns="-3065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Search advertising lets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appear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moment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searches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happen</a:t>
            </a: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counties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serve.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companies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advertising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searches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the ones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being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seen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called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search</a:t>
            </a:r>
            <a:r>
              <a:rPr lang="en-US" sz="1500" i="1" dirty="0" spc="-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themes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services and service area.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keyword-volume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research.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17655c5-2f83-461f-b10d-f39f8a4243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BUSINESS-SPECIFIC</a:t>
            </a: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offers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already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</a:t>
            </a:r>
            <a:r>
              <a:rPr lang="en-US" sz="42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6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$95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24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Real-estate</a:t>
            </a:r>
            <a:r>
              <a:rPr lang="en-US" sz="210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termite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inspections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04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985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Inspections</a:t>
            </a:r>
            <a:r>
              <a:rPr lang="en-US" sz="2100" dirty="0" spc="-5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owners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who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are not selling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65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446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Fumigation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pest-control</a:t>
            </a: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estimates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46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72390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FFA73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62000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ctr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ad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that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carries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these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offers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answers the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searcher's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question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directly. And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every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recurring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plan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175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win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compounds: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one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acquisition,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years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ae22037-4df9-42ce-85d1-15b01fdb00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13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3913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three-county</a:t>
            </a:r>
            <a:r>
              <a:rPr lang="en-US" sz="3913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r>
              <a:rPr lang="en-US" sz="3913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campaign,</a:t>
            </a:r>
            <a:r>
              <a:rPr lang="en-US" sz="3913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</a:t>
            </a:r>
            <a:r>
              <a:rPr lang="en-US" sz="3913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 your offers</a:t>
            </a:r>
            <a:endParaRPr lang="en-US" sz="3913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themes</a:t>
            </a:r>
            <a:endParaRPr lang="en-US" sz="2025" dirty="0"/>
          </a:p>
        </p:txBody>
      </p:sp>
      <p:sp>
        <p:nvSpPr>
          <p:cNvPr id="6" name="Text richtext-1792011728696-368415584"/>
          <p:cNvSpPr/>
          <p:nvPr/>
        </p:nvSpPr>
        <p:spPr>
          <a:xfrm>
            <a:off x="14859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Termite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recurring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Rodent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exclusion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names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targeting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6774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Santa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Maria,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 Luis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Obispo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Santa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Barbara,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then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extend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Ventura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County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 results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in.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only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inside the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counties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already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</a:t>
            </a:r>
            <a:r>
              <a:rPr lang="en-US" sz="2025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859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termite page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carrying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$95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Schedule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Now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form,</a:t>
            </a: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arrives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booking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happens.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</a:t>
            </a:r>
            <a:r>
              <a:rPr lang="en-US" sz="2025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quality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774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keywords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filter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do-it-yourself,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job-seeker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out-of-area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people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looking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hire 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pest company.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discussion,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refined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anything launches.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audit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 account.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6cd5984-9eeb-4485-b064-f3638514c6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reaches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097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97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"termite inspection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me"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your county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386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9" name="Text 7"/>
          <p:cNvSpPr/>
          <p:nvPr/>
        </p:nvSpPr>
        <p:spPr>
          <a:xfrm>
            <a:off x="47053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53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7053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Carrying the</a:t>
            </a:r>
            <a:r>
              <a:rPr lang="en-US" sz="1650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$95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inspection offer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343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010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</a:t>
            </a:r>
            <a:r>
              <a:rPr lang="en-US" sz="1950" b="1" dirty="0" spc="-6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</a:t>
            </a:r>
            <a:r>
              <a:rPr lang="en-US" sz="1650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Now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front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center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0299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66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2966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book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966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1650" dirty="0" spc="6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24/7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line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online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3256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101112"/>
          </a:solidFill>
          <a:ln/>
        </p:spPr>
      </p:sp>
      <p:sp>
        <p:nvSpPr>
          <p:cNvPr id="21" name="Text 19"/>
          <p:cNvSpPr/>
          <p:nvPr/>
        </p:nvSpPr>
        <p:spPr>
          <a:xfrm>
            <a:off x="145923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5923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see</a:t>
            </a:r>
            <a:r>
              <a:rPr lang="en-US" sz="1950" b="1" dirty="0" spc="-5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950" b="1" dirty="0" spc="-3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5923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</a:t>
            </a:r>
            <a:r>
              <a:rPr lang="en-US" sz="1650" dirty="0" spc="4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r>
              <a:rPr lang="en-US" sz="16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refined</a:t>
            </a:r>
            <a:endParaRPr lang="en-US" sz="1650" dirty="0"/>
          </a:p>
        </p:txBody>
      </p:sp>
      <p:sp>
        <p:nvSpPr>
          <p:cNvPr id="24" name="Connector line-1792011747685-218775803"/>
          <p:cNvSpPr/>
          <p:nvPr/>
        </p:nvSpPr>
        <p:spPr>
          <a:xfrm>
            <a:off x="40195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5" name="Connector line-1792011747685-567319310"/>
          <p:cNvSpPr/>
          <p:nvPr/>
        </p:nvSpPr>
        <p:spPr>
          <a:xfrm>
            <a:off x="73152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011747686-848251394"/>
          <p:cNvSpPr/>
          <p:nvPr/>
        </p:nvSpPr>
        <p:spPr>
          <a:xfrm>
            <a:off x="106108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7" name="Connector line-1792011747686-638361802"/>
          <p:cNvSpPr/>
          <p:nvPr/>
        </p:nvSpPr>
        <p:spPr>
          <a:xfrm>
            <a:off x="139065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8" name="Shape 26"/>
          <p:cNvSpPr/>
          <p:nvPr/>
        </p:nvSpPr>
        <p:spPr>
          <a:xfrm>
            <a:off x="1143000" y="7239000"/>
            <a:ext cx="16002000" cy="1524000"/>
          </a:xfrm>
          <a:prstGeom prst="roundRect">
            <a:avLst>
              <a:gd name="adj" fmla="val 12500"/>
            </a:avLst>
          </a:prstGeom>
          <a:solidFill>
            <a:srgbClr val="F3F3F5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7581900"/>
            <a:ext cx="15316200" cy="762000"/>
          </a:xfrm>
          <a:prstGeom prst="rect">
            <a:avLst/>
          </a:prstGeom>
          <a:noFill/>
          <a:ln/>
        </p:spPr>
        <p:txBody>
          <a:bodyPr wrap="square" lIns="0" tIns="6050" rIns="0" bIns="-6050" rtlCol="0" anchor="ctr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becomes a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customer,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will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pretend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otherwise.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point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this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 is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 step is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visible,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measured and improvable.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4ff85e6-5091-4fff-a20a-16a34deed6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MEASUREMENT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You'll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what's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6670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measure</a:t>
            </a:r>
            <a:r>
              <a:rPr lang="en-US" sz="1950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act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on:</a:t>
            </a:r>
            <a:endParaRPr lang="en-US" sz="1950" dirty="0"/>
          </a:p>
        </p:txBody>
      </p:sp>
      <p:sp>
        <p:nvSpPr>
          <p:cNvPr id="5" name="Text richtext-1792011759316-140814484"/>
          <p:cNvSpPr/>
          <p:nvPr/>
        </p:nvSpPr>
        <p:spPr>
          <a:xfrm>
            <a:off x="1143000" y="3238500"/>
            <a:ext cx="9334500" cy="4191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Calls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inquiries,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</a:t>
            </a:r>
            <a:r>
              <a:rPr lang="en-US" sz="1875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search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produced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Search-term reviews,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 moves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toward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 brings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inquiries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county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by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inquiry, once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enough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reliable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accumulates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plain-English monthly report,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spreadsheet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dump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049000" y="2667000"/>
            <a:ext cx="6096000" cy="4762500"/>
          </a:xfrm>
          <a:prstGeom prst="roundRect">
            <a:avLst>
              <a:gd name="adj" fmla="val 4000"/>
            </a:avLst>
          </a:prstGeom>
          <a:solidFill>
            <a:srgbClr val="1011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30480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025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won't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0" y="3543300"/>
            <a:ext cx="5334000" cy="3143250"/>
          </a:xfrm>
          <a:prstGeom prst="rect">
            <a:avLst/>
          </a:prstGeom>
          <a:noFill/>
          <a:ln/>
        </p:spPr>
        <p:txBody>
          <a:bodyPr wrap="square" lIns="0" tIns="100" rIns="0" bIns="-10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Promise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 of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leads.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Guarantee outcomes.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 spending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says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stop.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tracking and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conversion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measurement don't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until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someone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 them,</a:t>
            </a:r>
            <a:r>
              <a:rPr lang="en-US" sz="18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0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follow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 from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data,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industry averages.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f5db53dd-5e13-4015-9912-1253519988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IMPLEMENTATION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we'd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10540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143250"/>
            <a:ext cx="371475" cy="371475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607594"/>
            <a:ext cx="4533900" cy="773906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Confirm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goals,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services, counties and budget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91300" y="2857500"/>
            <a:ext cx="510540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77050" y="3143250"/>
            <a:ext cx="371475" cy="371475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77050" y="3607594"/>
            <a:ext cx="4533900" cy="773906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Agree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 priorities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10540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25350" y="3143250"/>
            <a:ext cx="371475" cy="371475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25350" y="3607594"/>
            <a:ext cx="4533900" cy="773906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Prepare the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page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tracking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143000" y="5048250"/>
            <a:ext cx="510540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5334000"/>
            <a:ext cx="371475" cy="371475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28750" y="5798344"/>
            <a:ext cx="4533900" cy="773906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Build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campaigns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your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approval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591300" y="5048250"/>
            <a:ext cx="510540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77050" y="5334000"/>
            <a:ext cx="371475" cy="371475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77050" y="5798344"/>
            <a:ext cx="4533900" cy="773906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Launch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when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say</a:t>
            </a:r>
            <a:r>
              <a:rPr lang="en-US" sz="1725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go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39600" y="5048250"/>
            <a:ext cx="5105400" cy="1809750"/>
          </a:xfrm>
          <a:prstGeom prst="roundRect">
            <a:avLst>
              <a:gd name="adj" fmla="val 9474"/>
            </a:avLst>
          </a:prstGeom>
          <a:solidFill>
            <a:srgbClr val="10111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25350" y="5334000"/>
            <a:ext cx="371475" cy="371475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25350" y="5798344"/>
            <a:ext cx="4533900" cy="773906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Review results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</a:t>
            </a:r>
            <a:r>
              <a:rPr lang="en-US" sz="172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refine, month after month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143000" y="762000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Nothing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live without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approval,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you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ownership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access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throughout.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e26a990-6d5f-4ce2-aa31-e3f6c825f2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92250" y="-3905250"/>
            <a:ext cx="6286500" cy="6286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NEXT</a:t>
            </a:r>
            <a:r>
              <a:rPr lang="en-US" sz="1650" b="1" spc="376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Worth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20-minute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7622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we'd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like</a:t>
            </a:r>
            <a:r>
              <a:rPr lang="en-US" sz="1950" dirty="0" spc="-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learn</a:t>
            </a:r>
            <a:r>
              <a:rPr lang="en-US" sz="1950" dirty="0" spc="0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from</a:t>
            </a:r>
            <a:r>
              <a:rPr lang="en-US" sz="1950" dirty="0" spc="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you:</a:t>
            </a:r>
            <a:endParaRPr lang="en-US" sz="1950" dirty="0"/>
          </a:p>
        </p:txBody>
      </p:sp>
      <p:sp>
        <p:nvSpPr>
          <p:cNvPr id="6" name="Text richtext-1792011791000-964632759"/>
          <p:cNvSpPr/>
          <p:nvPr/>
        </p:nvSpPr>
        <p:spPr>
          <a:xfrm>
            <a:off x="1143000" y="3333750"/>
            <a:ext cx="8953500" cy="3429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counties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most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want to grow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your inquiries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today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an inspection,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fumigation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recurring plan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worth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Whether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focused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pilot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makes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sense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858500" y="2762250"/>
            <a:ext cx="6286500" cy="40957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pic>
        <p:nvPicPr>
          <p:cNvPr id="8" name="Moda image rect-1792011791433-7619290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39409" y="3143250"/>
            <a:ext cx="1286182" cy="495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39500" y="3829050"/>
            <a:ext cx="5524500" cy="17145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manages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businesses, with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pages,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development,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SEO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content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roof.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1239500" y="57340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around29.com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43000" y="762000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FFA737"/>
          </a:solidFill>
          <a:ln/>
        </p:spPr>
      </p:sp>
      <p:sp>
        <p:nvSpPr>
          <p:cNvPr id="12" name="Text 9"/>
          <p:cNvSpPr/>
          <p:nvPr/>
        </p:nvSpPr>
        <p:spPr>
          <a:xfrm>
            <a:off x="1485900" y="7962900"/>
            <a:ext cx="15316200" cy="742950"/>
          </a:xfrm>
          <a:prstGeom prst="rect">
            <a:avLst/>
          </a:prstGeom>
          <a:noFill/>
          <a:ln/>
        </p:spPr>
        <p:txBody>
          <a:bodyPr wrap="square" lIns="0" tIns="9757" rIns="0" bIns="-9757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pressure and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obligation: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if the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numbers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don't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make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sense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VIP Pest Solutions,</a:t>
            </a:r>
            <a:r>
              <a:rPr lang="en-US" sz="2025" dirty="0" spc="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we'll</a:t>
            </a:r>
            <a:r>
              <a:rPr lang="en-US" sz="202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tell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so.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Thank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time.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390e1c8-d58f-49d9-9f83-7ed45c93251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2026-10-14T21:05:20Z</dcterms:created>
  <dcterms:modified xsi:type="dcterms:W3CDTF">2026-10-14T21:05:20Z</dcterms:modified>
</cp:coreProperties>
</file>