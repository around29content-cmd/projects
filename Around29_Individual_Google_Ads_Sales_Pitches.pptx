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approve the five pitch packages for outreach. Full copy lives in the Word and Markdown documents; this deck summarises the strategy, evidence and readiness.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five are Segment A prospects: HIGH opportunity, no Google Ads evidence found. Every claim in the deck matches the Word and Markdown documents.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Angle, evidence and next step for VIP Pest Solutions. Readiness: Ready for outreach. Identity, channel and every claim used in the copy verified on the live site 15 Oct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Angle, evidence and next step for AA Roofing and Decking. Readiness: Ready for outreach. Outreach claims verified. Geo-targeting must wait for the service-area answer, which is the call's first agenda item, not an outreach blocker.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Angle, evidence and next step for American Tree and Excavation. Readiness: Ready for outreach by phone. Phone channel and all claims used in the copy verified. Email outreach is not ready until an address is confirmed; service area must be confirmed before any geo-targeting.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Angle, evidence and next step for Superior Coatings NW. Readiness: Ready for outreach. Identity, channels and every claim in the copy verified on the live site 15 Oct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Angle, evidence and next step for Zellers Group. Readiness: Ready for outreach. Identity, channels, Medicare services and the window all verified. Campaign launch, not outreach, requires the CMS-compliance copy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one-line view for management. Full table with contact methods is in the documents.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checks gate specific actions, not the outreach itself, except the American Tree email channel.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slide: the week's sequence.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NT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"/>
          <p:cNvSpPr/>
          <p:nvPr/>
        </p:nvSpPr>
        <p:spPr>
          <a:xfrm>
            <a:off x="8229600" y="-1463040"/>
            <a:ext cx="5669280" cy="56692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eyebrow"/>
          <p:cNvSpPr txBox="1"/>
          <p:nvPr/>
        </p:nvSpPr>
        <p:spPr>
          <a:xfrm>
            <a:off x="54864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chemeClr val="accent1"/>
                </a:solidFill>
              </a:rPr>
              <a:t>AROUND29 DIGITAL MEDIA SOLUTIONS</a:t>
            </a:r>
            <a:endParaRPr lang="en-US" sz="1300" dirty="0"/>
          </a:p>
        </p:txBody>
      </p:sp>
      <p:sp>
        <p:nvSpPr>
          <p:cNvPr id="4" name="title"/>
          <p:cNvSpPr txBox="1"/>
          <p:nvPr/>
        </p:nvSpPr>
        <p:spPr>
          <a:xfrm>
            <a:off x="548640" y="146304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Individual Google Ads Sales Pitches</a:t>
            </a:r>
            <a:endParaRPr lang="en-US" sz="52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2004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Final pre-outreach review of five approved prospects, for internal sales and management use.</a:t>
            </a:r>
            <a:endParaRPr lang="en-US" sz="2000" dirty="0"/>
          </a:p>
        </p:txBody>
      </p:sp>
      <p:sp>
        <p:nvSpPr>
          <p:cNvPr id="6" name="names"/>
          <p:cNvSpPr txBox="1"/>
          <p:nvPr/>
        </p:nvSpPr>
        <p:spPr>
          <a:xfrm>
            <a:off x="548640" y="411480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VIP Pest Solutions  |  AA Roofing and Decking  |  American Tree and Excavation  |  Superior Coatings NW  |  Zellers Group</a:t>
            </a:r>
            <a:endParaRPr lang="en-US" sz="1500" dirty="0"/>
          </a:p>
        </p:txBody>
      </p:sp>
      <p:sp>
        <p:nvSpPr>
          <p:cNvPr id="7" name="date"/>
          <p:cNvSpPr txBox="1"/>
          <p:nvPr/>
        </p:nvSpPr>
        <p:spPr>
          <a:xfrm>
            <a:off x="548640" y="4937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15 October 2026   |   Websites re-verified 15 Oct 2026   |   Advertising evidence dated 8 Oct 2026   |   No outreach sent</a:t>
            </a:r>
            <a:endParaRPr lang="en-US" sz="1300" dirty="0"/>
          </a:p>
        </p:txBody>
      </p:sp>
      <p:sp>
        <p:nvSpPr>
          <p:cNvPr id="9" name="Text 0"/>
          <p:cNvSpPr/>
          <p:nvPr>
            <p:ph idx="100" type="title" hasCustomPrompt="1"/>
          </p:nvPr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10" name="Text 0"/>
          <p:cNvSpPr/>
          <p:nvPr>
            <p:ph idx="101" type="body" hasCustomPrompt="1"/>
          </p:nvPr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25603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EXECUTIVE SUMMARY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Five prospects, five distinct angles</a:t>
            </a: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Full outreach copy, briefings and sources: Around29_Individual_Google_Ads_Sales_Pitches.docx and .md</a:t>
            </a:r>
            <a:endParaRPr lang="en-US" sz="1100" dirty="0"/>
          </a:p>
        </p:txBody>
      </p:sp>
      <p:graphicFrame>
        <p:nvGraphicFramePr>
          <p:cNvPr id="3" name="exec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949440"/>
                <a:gridCol w="1764792"/>
              </a:tblGrid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Prospect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Angle in one line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Readiness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</a:rPr>
                        <a:t>VIP Pest Solutions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County-wide Search on the offers already on the site: the $95 real-estate termite inspection and conditional free inspections, feeding the Schedule Now form and 24/7 line.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Ready for outreach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</a:rPr>
                        <a:t>AA Roofing and Decking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City-targeted roof-replacement Search in the cities Ahmed chooses, landing the verified free-estimate offer, licence and financing on a dedicated page.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Ready for outreach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</a:rPr>
                        <a:t>American Tree and Excavation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A 24/7 call-only emergency ad group timed to storm season, plus a daytime group for planned removals and stump grinding carrying the site's own coupons.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Ready for outreach by phone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</a:rPr>
                        <a:t>Superior Coatings NW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A commercial ad group where the site's named retail-store proof does the convincing, plus a residential exterior group planned now for the spring season.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Ready for outreach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</a:rPr>
                        <a:t>Zellers Group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A CMS-compliant Medicare Search campaign for Sonoma, Napa and Marin during the 15 Oct to 7 Dec enrollment window; group health as the year-round follow-on.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Ready for outreach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all order"/>
          <p:cNvSpPr txBox="1"/>
          <p:nvPr/>
        </p:nvSpPr>
        <p:spPr>
          <a:xfrm>
            <a:off x="548640" y="566928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Call order: Zellers Group first (the enrollment window is live), American Tree second (storm season), then VIP Pest, AA Roofing and Superior Coatings in any order.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25603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PROSPECT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Evidence and claims-to-avoid detail: internal sales briefing for VIP Pest Solutions in the Word document</a:t>
            </a:r>
            <a:endParaRPr lang="en-US" sz="1100" dirty="0"/>
          </a:p>
        </p:txBody>
      </p:sp>
      <p:sp>
        <p:nvSpPr>
          <p:cNvPr id="6" name="badge"/>
          <p:cNvSpPr/>
          <p:nvPr/>
        </p:nvSpPr>
        <p:spPr>
          <a:xfrm>
            <a:off x="548640" y="61264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 FiShield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733349"/>
            <a:ext cx="261518" cy="261518"/>
          </a:xfrm>
          <a:prstGeom prst="rect">
            <a:avLst/>
          </a:prstGeom>
        </p:spPr>
      </p:pic>
      <p:sp>
        <p:nvSpPr>
          <p:cNvPr id="8" name="prospect title"/>
          <p:cNvSpPr txBox="1"/>
          <p:nvPr/>
        </p:nvSpPr>
        <p:spPr>
          <a:xfrm>
            <a:off x="1280160" y="50292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VIP Pest Solutions</a:t>
            </a:r>
            <a:endParaRPr lang="en-US" sz="3200" dirty="0"/>
          </a:p>
        </p:txBody>
      </p:sp>
      <p:sp>
        <p:nvSpPr>
          <p:cNvPr id="9" name="angle card"/>
          <p:cNvSpPr/>
          <p:nvPr/>
        </p:nvSpPr>
        <p:spPr>
          <a:xfrm>
            <a:off x="548640" y="1463040"/>
            <a:ext cx="5410048" cy="2103120"/>
          </a:xfrm>
          <a:prstGeom prst="roundRect">
            <a:avLst>
              <a:gd name="adj" fmla="val 608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angle head"/>
          <p:cNvSpPr txBox="1"/>
          <p:nvPr/>
        </p:nvSpPr>
        <p:spPr>
          <a:xfrm>
            <a:off x="822960" y="16459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THE ANGLE</a:t>
            </a:r>
            <a:endParaRPr lang="en-US" sz="1200" dirty="0"/>
          </a:p>
        </p:txBody>
      </p:sp>
      <p:sp>
        <p:nvSpPr>
          <p:cNvPr id="11" name="angle body"/>
          <p:cNvSpPr txBox="1"/>
          <p:nvPr/>
        </p:nvSpPr>
        <p:spPr>
          <a:xfrm>
            <a:off x="822960" y="1965960"/>
            <a:ext cx="48614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County-wide Search on the offers already on the site: the $95 real-estate termite inspection and conditional free inspections, feeding the Schedule Now form and 24/7 line.</a:t>
            </a:r>
            <a:endParaRPr lang="en-US" sz="1500" dirty="0"/>
          </a:p>
        </p:txBody>
      </p:sp>
      <p:sp>
        <p:nvSpPr>
          <p:cNvPr id="12" name="why card"/>
          <p:cNvSpPr/>
          <p:nvPr/>
        </p:nvSpPr>
        <p:spPr>
          <a:xfrm>
            <a:off x="548640" y="3749040"/>
            <a:ext cx="5410048" cy="2103120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7000"/>
              </a:srgbClr>
            </a:outerShdw>
          </a:effectLst>
        </p:spPr>
      </p:sp>
      <p:sp>
        <p:nvSpPr>
          <p:cNvPr id="13" name="why head"/>
          <p:cNvSpPr txBox="1"/>
          <p:nvPr/>
        </p:nvSpPr>
        <p:spPr>
          <a:xfrm>
            <a:off x="822960" y="39319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WHY IT MAY MATTER</a:t>
            </a:r>
            <a:endParaRPr lang="en-US" sz="1200" dirty="0"/>
          </a:p>
        </p:txBody>
      </p:sp>
      <p:sp>
        <p:nvSpPr>
          <p:cNvPr id="14" name="why body"/>
          <p:cNvSpPr txBox="1"/>
          <p:nvPr/>
        </p:nvSpPr>
        <p:spPr>
          <a:xfrm>
            <a:off x="822960" y="4251960"/>
            <a:ext cx="48614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Termite and pest searches carry high intent, the offers answer exactly what a searcher wants, and recurring plans mean each acquired customer compounds. The conversion path already exists: two forms on the home page and a Schedule Now form with a service-type dropdown.</a:t>
            </a:r>
            <a:endParaRPr lang="en-US" sz="1400" dirty="0"/>
          </a:p>
        </p:txBody>
      </p:sp>
      <p:sp>
        <p:nvSpPr>
          <p:cNvPr id="15" name="ev head"/>
          <p:cNvSpPr txBox="1"/>
          <p:nvPr/>
        </p:nvSpPr>
        <p:spPr>
          <a:xfrm>
            <a:off x="6233008" y="1463040"/>
            <a:ext cx="541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VERIFIED EVIDENCE</a:t>
            </a:r>
            <a:endParaRPr lang="en-US" sz="1200" dirty="0"/>
          </a:p>
        </p:txBody>
      </p:sp>
      <p:sp>
        <p:nvSpPr>
          <p:cNvPr id="16" name="ev list"/>
          <p:cNvSpPr txBox="1"/>
          <p:nvPr/>
        </p:nvSpPr>
        <p:spPr>
          <a:xfrm>
            <a:off x="6233008" y="1783080"/>
            <a:ext cx="54100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$95 real-estate inspections and conditional free inspections verified on the live home page, 15 Oct 2026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Three-county service area quoted from the live contact page, 15 Oct 2026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 Google Ads found (Transparency Center, US, Any time), 8 Oct 2026; not proof it never advertised</a:t>
            </a:r>
            <a:endParaRPr lang="en-US" sz="1300" dirty="0"/>
          </a:p>
        </p:txBody>
      </p:sp>
      <p:sp>
        <p:nvSpPr>
          <p:cNvPr id="17" name="ns head"/>
          <p:cNvSpPr txBox="1"/>
          <p:nvPr/>
        </p:nvSpPr>
        <p:spPr>
          <a:xfrm>
            <a:off x="6233008" y="4297680"/>
            <a:ext cx="541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NEXT STEP</a:t>
            </a:r>
            <a:endParaRPr lang="en-US" sz="1200" dirty="0"/>
          </a:p>
        </p:txBody>
      </p:sp>
      <p:sp>
        <p:nvSpPr>
          <p:cNvPr id="18" name="ns body"/>
          <p:cNvSpPr txBox="1"/>
          <p:nvPr/>
        </p:nvSpPr>
        <p:spPr>
          <a:xfrm>
            <a:off x="6233008" y="4617720"/>
            <a:ext cx="5410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20-minute discovery call, then a written three-county Google Ads opportunity review (no audit claim).</a:t>
            </a:r>
            <a:endParaRPr lang="en-US" sz="1400" dirty="0"/>
          </a:p>
        </p:txBody>
      </p:sp>
      <p:sp>
        <p:nvSpPr>
          <p:cNvPr id="19" name="chip"/>
          <p:cNvSpPr/>
          <p:nvPr/>
        </p:nvSpPr>
        <p:spPr>
          <a:xfrm>
            <a:off x="6233008" y="5440680"/>
            <a:ext cx="2258568" cy="38404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chip text"/>
          <p:cNvSpPr txBox="1"/>
          <p:nvPr/>
        </p:nvSpPr>
        <p:spPr>
          <a:xfrm>
            <a:off x="6233008" y="5440680"/>
            <a:ext cx="2258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Ready for outreach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25603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PROSPECT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Evidence and claims-to-avoid detail: internal sales briefing for AA Roofing and Decking in the Word document</a:t>
            </a:r>
            <a:endParaRPr lang="en-US" sz="1100" dirty="0"/>
          </a:p>
        </p:txBody>
      </p:sp>
      <p:sp>
        <p:nvSpPr>
          <p:cNvPr id="6" name="badge"/>
          <p:cNvSpPr/>
          <p:nvPr/>
        </p:nvSpPr>
        <p:spPr>
          <a:xfrm>
            <a:off x="548640" y="61264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 FiHom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733349"/>
            <a:ext cx="261518" cy="261518"/>
          </a:xfrm>
          <a:prstGeom prst="rect">
            <a:avLst/>
          </a:prstGeom>
        </p:spPr>
      </p:pic>
      <p:sp>
        <p:nvSpPr>
          <p:cNvPr id="8" name="prospect title"/>
          <p:cNvSpPr txBox="1"/>
          <p:nvPr/>
        </p:nvSpPr>
        <p:spPr>
          <a:xfrm>
            <a:off x="1280160" y="50292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AA Roofing and Decking</a:t>
            </a:r>
            <a:endParaRPr lang="en-US" sz="3200" dirty="0"/>
          </a:p>
        </p:txBody>
      </p:sp>
      <p:sp>
        <p:nvSpPr>
          <p:cNvPr id="9" name="angle card"/>
          <p:cNvSpPr/>
          <p:nvPr/>
        </p:nvSpPr>
        <p:spPr>
          <a:xfrm>
            <a:off x="548640" y="1463040"/>
            <a:ext cx="5410048" cy="2103120"/>
          </a:xfrm>
          <a:prstGeom prst="roundRect">
            <a:avLst>
              <a:gd name="adj" fmla="val 608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angle head"/>
          <p:cNvSpPr txBox="1"/>
          <p:nvPr/>
        </p:nvSpPr>
        <p:spPr>
          <a:xfrm>
            <a:off x="822960" y="16459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THE ANGLE</a:t>
            </a:r>
            <a:endParaRPr lang="en-US" sz="1200" dirty="0"/>
          </a:p>
        </p:txBody>
      </p:sp>
      <p:sp>
        <p:nvSpPr>
          <p:cNvPr id="11" name="angle body"/>
          <p:cNvSpPr txBox="1"/>
          <p:nvPr/>
        </p:nvSpPr>
        <p:spPr>
          <a:xfrm>
            <a:off x="822960" y="1965960"/>
            <a:ext cx="48614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City-targeted roof-replacement Search in the cities Ahmed chooses, landing the verified free-estimate offer, licence and financing on a dedicated page.</a:t>
            </a:r>
            <a:endParaRPr lang="en-US" sz="1500" dirty="0"/>
          </a:p>
        </p:txBody>
      </p:sp>
      <p:sp>
        <p:nvSpPr>
          <p:cNvPr id="12" name="why card"/>
          <p:cNvSpPr/>
          <p:nvPr/>
        </p:nvSpPr>
        <p:spPr>
          <a:xfrm>
            <a:off x="548640" y="3749040"/>
            <a:ext cx="5410048" cy="2103120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7000"/>
              </a:srgbClr>
            </a:outerShdw>
          </a:effectLst>
        </p:spPr>
      </p:sp>
      <p:sp>
        <p:nvSpPr>
          <p:cNvPr id="13" name="why head"/>
          <p:cNvSpPr txBox="1"/>
          <p:nvPr/>
        </p:nvSpPr>
        <p:spPr>
          <a:xfrm>
            <a:off x="822960" y="39319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WHY IT MAY MATTER</a:t>
            </a:r>
            <a:endParaRPr lang="en-US" sz="1200" dirty="0"/>
          </a:p>
        </p:txBody>
      </p:sp>
      <p:sp>
        <p:nvSpPr>
          <p:cNvPr id="14" name="why body"/>
          <p:cNvSpPr txBox="1"/>
          <p:nvPr/>
        </p:nvSpPr>
        <p:spPr>
          <a:xfrm>
            <a:off x="822960" y="4251960"/>
            <a:ext cx="48614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Re-roofs are high-ticket, urgent and quote-driven; financing widens who can proceed. Because the site states no cities, campaign geo-targeting is the quickest way to choose and own the service area in search, and the pitch opens with a question Ahmed alone can answer.</a:t>
            </a:r>
            <a:endParaRPr lang="en-US" sz="1400" dirty="0"/>
          </a:p>
        </p:txBody>
      </p:sp>
      <p:sp>
        <p:nvSpPr>
          <p:cNvPr id="15" name="ev head"/>
          <p:cNvSpPr txBox="1"/>
          <p:nvPr/>
        </p:nvSpPr>
        <p:spPr>
          <a:xfrm>
            <a:off x="6233008" y="1463040"/>
            <a:ext cx="541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VERIFIED EVIDENCE</a:t>
            </a:r>
            <a:endParaRPr lang="en-US" sz="1200" dirty="0"/>
          </a:p>
        </p:txBody>
      </p:sp>
      <p:sp>
        <p:nvSpPr>
          <p:cNvPr id="16" name="ev list"/>
          <p:cNvSpPr txBox="1"/>
          <p:nvPr/>
        </p:nvSpPr>
        <p:spPr>
          <a:xfrm>
            <a:off x="6233008" y="1783080"/>
            <a:ext cx="54100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'FREE ESTIMATE for your re-roof or roof repair' verified word-for-word on the live roofing page, 15 Oct 2026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Licence, financing and the absence of any city or service area verified on the live site, 15 Oct 2026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 Google Ads found (Transparency Center, US, Any time), 8 Oct 2026; not proof it never advertised</a:t>
            </a:r>
            <a:endParaRPr lang="en-US" sz="1300" dirty="0"/>
          </a:p>
        </p:txBody>
      </p:sp>
      <p:sp>
        <p:nvSpPr>
          <p:cNvPr id="17" name="ns head"/>
          <p:cNvSpPr txBox="1"/>
          <p:nvPr/>
        </p:nvSpPr>
        <p:spPr>
          <a:xfrm>
            <a:off x="6233008" y="4297680"/>
            <a:ext cx="541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NEXT STEP</a:t>
            </a:r>
            <a:endParaRPr lang="en-US" sz="1200" dirty="0"/>
          </a:p>
        </p:txBody>
      </p:sp>
      <p:sp>
        <p:nvSpPr>
          <p:cNvPr id="18" name="ns body"/>
          <p:cNvSpPr txBox="1"/>
          <p:nvPr/>
        </p:nvSpPr>
        <p:spPr>
          <a:xfrm>
            <a:off x="6233008" y="4617720"/>
            <a:ext cx="5410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20-minute discovery call opening with the service-area question, then a written opportunity review including a landing-page outline.</a:t>
            </a:r>
            <a:endParaRPr lang="en-US" sz="1400" dirty="0"/>
          </a:p>
        </p:txBody>
      </p:sp>
      <p:sp>
        <p:nvSpPr>
          <p:cNvPr id="19" name="chip"/>
          <p:cNvSpPr/>
          <p:nvPr/>
        </p:nvSpPr>
        <p:spPr>
          <a:xfrm>
            <a:off x="6233008" y="5440680"/>
            <a:ext cx="2258568" cy="38404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chip text"/>
          <p:cNvSpPr txBox="1"/>
          <p:nvPr/>
        </p:nvSpPr>
        <p:spPr>
          <a:xfrm>
            <a:off x="6233008" y="5440680"/>
            <a:ext cx="2258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Ready for outreach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25603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PROSPECT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Evidence and claims-to-avoid detail: internal sales briefing for American Tree and Excavation in the Word document</a:t>
            </a:r>
            <a:endParaRPr lang="en-US" sz="1100" dirty="0"/>
          </a:p>
        </p:txBody>
      </p:sp>
      <p:sp>
        <p:nvSpPr>
          <p:cNvPr id="6" name="badge"/>
          <p:cNvSpPr/>
          <p:nvPr/>
        </p:nvSpPr>
        <p:spPr>
          <a:xfrm>
            <a:off x="548640" y="61264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 FiAlertTriangl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733349"/>
            <a:ext cx="261518" cy="261518"/>
          </a:xfrm>
          <a:prstGeom prst="rect">
            <a:avLst/>
          </a:prstGeom>
        </p:spPr>
      </p:pic>
      <p:sp>
        <p:nvSpPr>
          <p:cNvPr id="8" name="prospect title"/>
          <p:cNvSpPr txBox="1"/>
          <p:nvPr/>
        </p:nvSpPr>
        <p:spPr>
          <a:xfrm>
            <a:off x="1280160" y="50292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American Tree and Excavation</a:t>
            </a:r>
            <a:endParaRPr lang="en-US" sz="3200" dirty="0"/>
          </a:p>
        </p:txBody>
      </p:sp>
      <p:sp>
        <p:nvSpPr>
          <p:cNvPr id="9" name="angle card"/>
          <p:cNvSpPr/>
          <p:nvPr/>
        </p:nvSpPr>
        <p:spPr>
          <a:xfrm>
            <a:off x="548640" y="1463040"/>
            <a:ext cx="5410048" cy="2103120"/>
          </a:xfrm>
          <a:prstGeom prst="roundRect">
            <a:avLst>
              <a:gd name="adj" fmla="val 608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angle head"/>
          <p:cNvSpPr txBox="1"/>
          <p:nvPr/>
        </p:nvSpPr>
        <p:spPr>
          <a:xfrm>
            <a:off x="822960" y="16459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THE ANGLE</a:t>
            </a:r>
            <a:endParaRPr lang="en-US" sz="1200" dirty="0"/>
          </a:p>
        </p:txBody>
      </p:sp>
      <p:sp>
        <p:nvSpPr>
          <p:cNvPr id="11" name="angle body"/>
          <p:cNvSpPr txBox="1"/>
          <p:nvPr/>
        </p:nvSpPr>
        <p:spPr>
          <a:xfrm>
            <a:off x="822960" y="1965960"/>
            <a:ext cx="48614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 24/7 call-only emergency ad group timed to storm season, plus a daytime group for planned removals and stump grinding carrying the site's own coupons.</a:t>
            </a:r>
            <a:endParaRPr lang="en-US" sz="1500" dirty="0"/>
          </a:p>
        </p:txBody>
      </p:sp>
      <p:sp>
        <p:nvSpPr>
          <p:cNvPr id="12" name="why card"/>
          <p:cNvSpPr/>
          <p:nvPr/>
        </p:nvSpPr>
        <p:spPr>
          <a:xfrm>
            <a:off x="548640" y="3749040"/>
            <a:ext cx="5410048" cy="2103120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7000"/>
              </a:srgbClr>
            </a:outerShdw>
          </a:effectLst>
        </p:spPr>
      </p:sp>
      <p:sp>
        <p:nvSpPr>
          <p:cNvPr id="13" name="why head"/>
          <p:cNvSpPr txBox="1"/>
          <p:nvPr/>
        </p:nvSpPr>
        <p:spPr>
          <a:xfrm>
            <a:off x="822960" y="39319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WHY IT MAY MATTER</a:t>
            </a:r>
            <a:endParaRPr lang="en-US" sz="1200" dirty="0"/>
          </a:p>
        </p:txBody>
      </p:sp>
      <p:sp>
        <p:nvSpPr>
          <p:cNvPr id="14" name="why body"/>
          <p:cNvSpPr txBox="1"/>
          <p:nvPr/>
        </p:nvSpPr>
        <p:spPr>
          <a:xfrm>
            <a:off x="822960" y="4251960"/>
            <a:ext cx="48614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Emergency tree work is the clearest urgent-search category on the prospect list: the search happens at the moment of need and converts as a phone call. The site's own 24-hour promise and coupons ($150 off $1,000+ projects; 50% off a second stump grinding, both marked limited-time) are ready-made ad copy, once their currency is reconfirmed at launch.</a:t>
            </a:r>
            <a:endParaRPr lang="en-US" sz="1400" dirty="0"/>
          </a:p>
        </p:txBody>
      </p:sp>
      <p:sp>
        <p:nvSpPr>
          <p:cNvPr id="15" name="ev head"/>
          <p:cNvSpPr txBox="1"/>
          <p:nvPr/>
        </p:nvSpPr>
        <p:spPr>
          <a:xfrm>
            <a:off x="6233008" y="1463040"/>
            <a:ext cx="541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VERIFIED EVIDENCE</a:t>
            </a:r>
            <a:endParaRPr lang="en-US" sz="1200" dirty="0"/>
          </a:p>
        </p:txBody>
      </p:sp>
      <p:sp>
        <p:nvSpPr>
          <p:cNvPr id="16" name="ev list"/>
          <p:cNvSpPr txBox="1"/>
          <p:nvPr/>
        </p:nvSpPr>
        <p:spPr>
          <a:xfrm>
            <a:off x="6233008" y="1783080"/>
            <a:ext cx="54100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'24 Hour Emergency Service!', free estimates and both coupons verified on the live site, 15 Oct 2026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 address, city, service area or email anywhere on the site, verified 15 Oct 2026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 Google Ads found, 8 Oct 2026; phone verified on the site; owner name from BBB</a:t>
            </a:r>
            <a:endParaRPr lang="en-US" sz="1300" dirty="0"/>
          </a:p>
        </p:txBody>
      </p:sp>
      <p:sp>
        <p:nvSpPr>
          <p:cNvPr id="17" name="ns head"/>
          <p:cNvSpPr txBox="1"/>
          <p:nvPr/>
        </p:nvSpPr>
        <p:spPr>
          <a:xfrm>
            <a:off x="6233008" y="4297680"/>
            <a:ext cx="541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NEXT STEP</a:t>
            </a:r>
            <a:endParaRPr lang="en-US" sz="1200" dirty="0"/>
          </a:p>
        </p:txBody>
      </p:sp>
      <p:sp>
        <p:nvSpPr>
          <p:cNvPr id="18" name="ns body"/>
          <p:cNvSpPr txBox="1"/>
          <p:nvPr/>
        </p:nvSpPr>
        <p:spPr>
          <a:xfrm>
            <a:off x="6233008" y="4617720"/>
            <a:ext cx="5410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Discovery call now, during storm season; then a written opportunity review with the emergency landing-page outline.</a:t>
            </a:r>
            <a:endParaRPr lang="en-US" sz="1400" dirty="0"/>
          </a:p>
        </p:txBody>
      </p:sp>
      <p:sp>
        <p:nvSpPr>
          <p:cNvPr id="19" name="chip"/>
          <p:cNvSpPr/>
          <p:nvPr/>
        </p:nvSpPr>
        <p:spPr>
          <a:xfrm>
            <a:off x="6233008" y="5440680"/>
            <a:ext cx="3204972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chip text"/>
          <p:cNvSpPr txBox="1"/>
          <p:nvPr/>
        </p:nvSpPr>
        <p:spPr>
          <a:xfrm>
            <a:off x="6233008" y="5440680"/>
            <a:ext cx="32049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Ready for outreach by phone</a:t>
            </a:r>
            <a:endParaRPr lang="en-US" sz="1300" dirty="0"/>
          </a:p>
        </p:txBody>
      </p:sp>
      <p:sp>
        <p:nvSpPr>
          <p:cNvPr id="21" name="chip note"/>
          <p:cNvSpPr txBox="1"/>
          <p:nvPr/>
        </p:nvSpPr>
        <p:spPr>
          <a:xfrm>
            <a:off x="9250528" y="5440680"/>
            <a:ext cx="2392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Email channel unverified: phone or site form only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25603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PROSPECT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Evidence and claims-to-avoid detail: internal sales briefing for Superior Coatings NW in the Word document</a:t>
            </a:r>
            <a:endParaRPr lang="en-US" sz="1100" dirty="0"/>
          </a:p>
        </p:txBody>
      </p:sp>
      <p:sp>
        <p:nvSpPr>
          <p:cNvPr id="6" name="badge"/>
          <p:cNvSpPr/>
          <p:nvPr/>
        </p:nvSpPr>
        <p:spPr>
          <a:xfrm>
            <a:off x="548640" y="61264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 FiDrople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733349"/>
            <a:ext cx="261518" cy="261518"/>
          </a:xfrm>
          <a:prstGeom prst="rect">
            <a:avLst/>
          </a:prstGeom>
        </p:spPr>
      </p:pic>
      <p:sp>
        <p:nvSpPr>
          <p:cNvPr id="8" name="prospect title"/>
          <p:cNvSpPr txBox="1"/>
          <p:nvPr/>
        </p:nvSpPr>
        <p:spPr>
          <a:xfrm>
            <a:off x="1280160" y="50292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Superior Coatings NW</a:t>
            </a:r>
            <a:endParaRPr lang="en-US" sz="3200" dirty="0"/>
          </a:p>
        </p:txBody>
      </p:sp>
      <p:sp>
        <p:nvSpPr>
          <p:cNvPr id="9" name="angle card"/>
          <p:cNvSpPr/>
          <p:nvPr/>
        </p:nvSpPr>
        <p:spPr>
          <a:xfrm>
            <a:off x="548640" y="1463040"/>
            <a:ext cx="5410048" cy="2103120"/>
          </a:xfrm>
          <a:prstGeom prst="roundRect">
            <a:avLst>
              <a:gd name="adj" fmla="val 608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angle head"/>
          <p:cNvSpPr txBox="1"/>
          <p:nvPr/>
        </p:nvSpPr>
        <p:spPr>
          <a:xfrm>
            <a:off x="822960" y="16459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THE ANGLE</a:t>
            </a:r>
            <a:endParaRPr lang="en-US" sz="1200" dirty="0"/>
          </a:p>
        </p:txBody>
      </p:sp>
      <p:sp>
        <p:nvSpPr>
          <p:cNvPr id="11" name="angle body"/>
          <p:cNvSpPr txBox="1"/>
          <p:nvPr/>
        </p:nvSpPr>
        <p:spPr>
          <a:xfrm>
            <a:off x="822960" y="1965960"/>
            <a:ext cx="48614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 commercial ad group where the site's named retail-store proof does the convincing, plus a residential exterior group planned now for the spring season.</a:t>
            </a:r>
            <a:endParaRPr lang="en-US" sz="1500" dirty="0"/>
          </a:p>
        </p:txBody>
      </p:sp>
      <p:sp>
        <p:nvSpPr>
          <p:cNvPr id="12" name="why card"/>
          <p:cNvSpPr/>
          <p:nvPr/>
        </p:nvSpPr>
        <p:spPr>
          <a:xfrm>
            <a:off x="548640" y="3749040"/>
            <a:ext cx="5410048" cy="2103120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7000"/>
              </a:srgbClr>
            </a:outerShdw>
          </a:effectLst>
        </p:spPr>
      </p:sp>
      <p:sp>
        <p:nvSpPr>
          <p:cNvPr id="13" name="why head"/>
          <p:cNvSpPr txBox="1"/>
          <p:nvPr/>
        </p:nvSpPr>
        <p:spPr>
          <a:xfrm>
            <a:off x="822960" y="39319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WHY IT MAY MATTER</a:t>
            </a:r>
            <a:endParaRPr lang="en-US" sz="1200" dirty="0"/>
          </a:p>
        </p:txBody>
      </p:sp>
      <p:sp>
        <p:nvSpPr>
          <p:cNvPr id="14" name="why body"/>
          <p:cNvSpPr txBox="1"/>
          <p:nvPr/>
        </p:nvSpPr>
        <p:spPr>
          <a:xfrm>
            <a:off x="822960" y="4251960"/>
            <a:ext cx="48614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commercial reference is proof most local painters cannot show, and it currently reaches only people who already found the site. Exterior repaints are seasonal and high-ticket; planning in winter positions the campaign for the season instead of chasing it.</a:t>
            </a:r>
            <a:endParaRPr lang="en-US" sz="1400" dirty="0"/>
          </a:p>
        </p:txBody>
      </p:sp>
      <p:sp>
        <p:nvSpPr>
          <p:cNvPr id="15" name="ev head"/>
          <p:cNvSpPr txBox="1"/>
          <p:nvPr/>
        </p:nvSpPr>
        <p:spPr>
          <a:xfrm>
            <a:off x="6233008" y="1463040"/>
            <a:ext cx="541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VERIFIED EVIDENCE</a:t>
            </a:r>
            <a:endParaRPr lang="en-US" sz="1200" dirty="0"/>
          </a:p>
        </p:txBody>
      </p:sp>
      <p:sp>
        <p:nvSpPr>
          <p:cNvPr id="16" name="ev list"/>
          <p:cNvSpPr txBox="1"/>
          <p:nvPr/>
        </p:nvSpPr>
        <p:spPr>
          <a:xfrm>
            <a:off x="6233008" y="1783080"/>
            <a:ext cx="54100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'The preferred commercial painting company for the South Sound Verizon stores', quoted from the live site, 15 Oct 2026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Quote form, free-estimates CTA, licence and South Puget Sound area verified on the live site, 15 Oct 2026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 Google Ads found, 8 Oct 2026; the look-alike Meta advertiser is a different Salt Lake City company</a:t>
            </a:r>
            <a:endParaRPr lang="en-US" sz="1300" dirty="0"/>
          </a:p>
        </p:txBody>
      </p:sp>
      <p:sp>
        <p:nvSpPr>
          <p:cNvPr id="17" name="ns head"/>
          <p:cNvSpPr txBox="1"/>
          <p:nvPr/>
        </p:nvSpPr>
        <p:spPr>
          <a:xfrm>
            <a:off x="6233008" y="4297680"/>
            <a:ext cx="541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NEXT STEP</a:t>
            </a:r>
            <a:endParaRPr lang="en-US" sz="1200" dirty="0"/>
          </a:p>
        </p:txBody>
      </p:sp>
      <p:sp>
        <p:nvSpPr>
          <p:cNvPr id="18" name="ns body"/>
          <p:cNvSpPr txBox="1"/>
          <p:nvPr/>
        </p:nvSpPr>
        <p:spPr>
          <a:xfrm>
            <a:off x="6233008" y="4617720"/>
            <a:ext cx="5410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20-minute discovery call, then a written opportunity review split into commercial and residential-exterior outlines with a season calendar.</a:t>
            </a:r>
            <a:endParaRPr lang="en-US" sz="1400" dirty="0"/>
          </a:p>
        </p:txBody>
      </p:sp>
      <p:sp>
        <p:nvSpPr>
          <p:cNvPr id="19" name="chip"/>
          <p:cNvSpPr/>
          <p:nvPr/>
        </p:nvSpPr>
        <p:spPr>
          <a:xfrm>
            <a:off x="6233008" y="5440680"/>
            <a:ext cx="2258568" cy="38404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chip text"/>
          <p:cNvSpPr txBox="1"/>
          <p:nvPr/>
        </p:nvSpPr>
        <p:spPr>
          <a:xfrm>
            <a:off x="6233008" y="5440680"/>
            <a:ext cx="2258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Ready for outreach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25603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PROSPECT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Evidence and claims-to-avoid detail: internal sales briefing for Zellers Group in the Word document</a:t>
            </a:r>
            <a:endParaRPr lang="en-US" sz="1100" dirty="0"/>
          </a:p>
        </p:txBody>
      </p:sp>
      <p:sp>
        <p:nvSpPr>
          <p:cNvPr id="6" name="badge"/>
          <p:cNvSpPr/>
          <p:nvPr/>
        </p:nvSpPr>
        <p:spPr>
          <a:xfrm>
            <a:off x="548640" y="61264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 FiHear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733349"/>
            <a:ext cx="261518" cy="261518"/>
          </a:xfrm>
          <a:prstGeom prst="rect">
            <a:avLst/>
          </a:prstGeom>
        </p:spPr>
      </p:pic>
      <p:sp>
        <p:nvSpPr>
          <p:cNvPr id="8" name="prospect title"/>
          <p:cNvSpPr txBox="1"/>
          <p:nvPr/>
        </p:nvSpPr>
        <p:spPr>
          <a:xfrm>
            <a:off x="1280160" y="50292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Zellers Group</a:t>
            </a:r>
            <a:endParaRPr lang="en-US" sz="3200" dirty="0"/>
          </a:p>
        </p:txBody>
      </p:sp>
      <p:sp>
        <p:nvSpPr>
          <p:cNvPr id="9" name="angle card"/>
          <p:cNvSpPr/>
          <p:nvPr/>
        </p:nvSpPr>
        <p:spPr>
          <a:xfrm>
            <a:off x="548640" y="1463040"/>
            <a:ext cx="5410048" cy="2103120"/>
          </a:xfrm>
          <a:prstGeom prst="roundRect">
            <a:avLst>
              <a:gd name="adj" fmla="val 608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angle head"/>
          <p:cNvSpPr txBox="1"/>
          <p:nvPr/>
        </p:nvSpPr>
        <p:spPr>
          <a:xfrm>
            <a:off x="822960" y="16459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THE ANGLE</a:t>
            </a:r>
            <a:endParaRPr lang="en-US" sz="1200" dirty="0"/>
          </a:p>
        </p:txBody>
      </p:sp>
      <p:sp>
        <p:nvSpPr>
          <p:cNvPr id="11" name="angle body"/>
          <p:cNvSpPr txBox="1"/>
          <p:nvPr/>
        </p:nvSpPr>
        <p:spPr>
          <a:xfrm>
            <a:off x="822960" y="1965960"/>
            <a:ext cx="48614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 CMS-compliant Medicare Search campaign for Sonoma, Napa and Marin during the 15 Oct to 7 Dec enrollment window; group health as the year-round follow-on.</a:t>
            </a:r>
            <a:endParaRPr lang="en-US" sz="1500" dirty="0"/>
          </a:p>
        </p:txBody>
      </p:sp>
      <p:sp>
        <p:nvSpPr>
          <p:cNvPr id="12" name="why card"/>
          <p:cNvSpPr/>
          <p:nvPr/>
        </p:nvSpPr>
        <p:spPr>
          <a:xfrm>
            <a:off x="548640" y="3749040"/>
            <a:ext cx="5410048" cy="2103120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7000"/>
              </a:srgbClr>
            </a:outerShdw>
          </a:effectLst>
        </p:spPr>
      </p:sp>
      <p:sp>
        <p:nvSpPr>
          <p:cNvPr id="13" name="why head"/>
          <p:cNvSpPr txBox="1"/>
          <p:nvPr/>
        </p:nvSpPr>
        <p:spPr>
          <a:xfrm>
            <a:off x="822960" y="39319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WHY IT MAY MATTER</a:t>
            </a:r>
            <a:endParaRPr lang="en-US" sz="1200" dirty="0"/>
          </a:p>
        </p:txBody>
      </p:sp>
      <p:sp>
        <p:nvSpPr>
          <p:cNvPr id="14" name="why body"/>
          <p:cNvSpPr txBox="1"/>
          <p:nvPr/>
        </p:nvSpPr>
        <p:spPr>
          <a:xfrm>
            <a:off x="822960" y="4251960"/>
            <a:ext cx="48614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Medicare services are verified on the agency's own site, the enrollment window is open now, and policies carry multi-year value. The differentiation is real and honest: a local agency people can sit across from, not a call-center lead farm.</a:t>
            </a:r>
            <a:endParaRPr lang="en-US" sz="1400" dirty="0"/>
          </a:p>
        </p:txBody>
      </p:sp>
      <p:sp>
        <p:nvSpPr>
          <p:cNvPr id="15" name="ev head"/>
          <p:cNvSpPr txBox="1"/>
          <p:nvPr/>
        </p:nvSpPr>
        <p:spPr>
          <a:xfrm>
            <a:off x="6233008" y="1463040"/>
            <a:ext cx="541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VERIFIED EVIDENCE</a:t>
            </a:r>
            <a:endParaRPr lang="en-US" sz="1200" dirty="0"/>
          </a:p>
        </p:txBody>
      </p:sp>
      <p:sp>
        <p:nvSpPr>
          <p:cNvPr id="16" name="ev list"/>
          <p:cNvSpPr txBox="1"/>
          <p:nvPr/>
        </p:nvSpPr>
        <p:spPr>
          <a:xfrm>
            <a:off x="6233008" y="1783080"/>
            <a:ext cx="54100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Medicare, Covered California and group-health services verified on the live site, 15 Oct 2026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Three-county service area quoted from the live site; Annual Enrollment 15 Oct to 7 Dec is the standard CMS calendar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 Google Ads found (Transparency Center, US, Any time), 8 Oct 2026; President and contacts verified</a:t>
            </a:r>
            <a:endParaRPr lang="en-US" sz="1300" dirty="0"/>
          </a:p>
        </p:txBody>
      </p:sp>
      <p:sp>
        <p:nvSpPr>
          <p:cNvPr id="17" name="ns head"/>
          <p:cNvSpPr txBox="1"/>
          <p:nvPr/>
        </p:nvSpPr>
        <p:spPr>
          <a:xfrm>
            <a:off x="6233008" y="4297680"/>
            <a:ext cx="541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NEXT STEP</a:t>
            </a:r>
            <a:endParaRPr lang="en-US" sz="1200" dirty="0"/>
          </a:p>
        </p:txBody>
      </p:sp>
      <p:sp>
        <p:nvSpPr>
          <p:cNvPr id="18" name="ns body"/>
          <p:cNvSpPr txBox="1"/>
          <p:nvPr/>
        </p:nvSpPr>
        <p:spPr>
          <a:xfrm>
            <a:off x="6233008" y="4617720"/>
            <a:ext cx="5410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Discovery call within days; then a written review of a CMS-compliant enrollment campaign plus the year-round group-health outline.</a:t>
            </a:r>
            <a:endParaRPr lang="en-US" sz="1400" dirty="0"/>
          </a:p>
        </p:txBody>
      </p:sp>
      <p:sp>
        <p:nvSpPr>
          <p:cNvPr id="19" name="chip"/>
          <p:cNvSpPr/>
          <p:nvPr/>
        </p:nvSpPr>
        <p:spPr>
          <a:xfrm>
            <a:off x="6233008" y="5440680"/>
            <a:ext cx="2258568" cy="38404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chip text"/>
          <p:cNvSpPr txBox="1"/>
          <p:nvPr/>
        </p:nvSpPr>
        <p:spPr>
          <a:xfrm>
            <a:off x="6233008" y="5440680"/>
            <a:ext cx="2258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Ready for outreach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25603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COMPARISON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Cross-prospect comparison</a:t>
            </a: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Readiness statuses and unresolved issues match the readiness review in the Word document</a:t>
            </a:r>
            <a:endParaRPr lang="en-US" sz="1100" dirty="0"/>
          </a:p>
        </p:txBody>
      </p:sp>
      <p:graphicFrame>
        <p:nvGraphicFramePr>
          <p:cNvPr id="9" name="cmp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480560"/>
                <a:gridCol w="2743200"/>
                <a:gridCol w="1673352"/>
              </a:tblGrid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Prospect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Strongest evidence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Key unresolved issue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Readiness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</a:rPr>
                        <a:t>VIP Pest Solutions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Offers and three-county area verified on the live site 15 Oct 2026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CEO/owner status to confirm on call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Ready for outreach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</a:rPr>
                        <a:t>AA Roofing and Decking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Free-estimate wording verified word-for-word on the roofing page 15 Oct 2026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Service area unconfirmed (blocks geo-targeting only)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Ready for outreach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</a:rPr>
                        <a:t>American Tree and Excavation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24-hour wording and coupons verified on the live site 15 Oct 2026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Email unverified; service area not on site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Ready for outreach by phone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</a:rPr>
                        <a:t>Superior Coatings NW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Named commercial reference quoted from the live site 15 Oct 2026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Owner name directory-sourced; confirm on call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Ready for outreach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</a:rPr>
                        <a:t>Zellers Group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Medicare services and the enrollment window verified 15 Oct 2026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CMS compliance review before campaign launch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Ready for outreach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25603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READINESS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Outstanding checks before and during outreach</a:t>
            </a: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No outreach has been sent. Advertising evidence is a point-in-time check dated 8 October 2026.</a:t>
            </a:r>
            <a:endParaRPr lang="en-US" sz="1100" dirty="0"/>
          </a:p>
        </p:txBody>
      </p:sp>
      <p:sp>
        <p:nvSpPr>
          <p:cNvPr id="6" name="badge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 FiPhoneCall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572768"/>
            <a:ext cx="237744" cy="237744"/>
          </a:xfrm>
          <a:prstGeom prst="rect">
            <a:avLst/>
          </a:prstGeom>
        </p:spPr>
      </p:pic>
      <p:sp>
        <p:nvSpPr>
          <p:cNvPr id="8" name="chk head 0"/>
          <p:cNvSpPr txBox="1"/>
          <p:nvPr/>
        </p:nvSpPr>
        <p:spPr>
          <a:xfrm>
            <a:off x="1234440" y="146304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American Tree and Excavation</a:t>
            </a:r>
            <a:endParaRPr lang="en-US" sz="1500" dirty="0"/>
          </a:p>
        </p:txBody>
      </p:sp>
      <p:sp>
        <p:nvSpPr>
          <p:cNvPr id="9" name="chk body 0"/>
          <p:cNvSpPr txBox="1"/>
          <p:nvPr/>
        </p:nvSpPr>
        <p:spPr>
          <a:xfrm>
            <a:off x="5120640" y="1463040"/>
            <a:ext cx="6522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Phone-first: the on-file email is an unverified Facebook snippet. Confirm a real address on the call before any email outreach.</a:t>
            </a:r>
            <a:endParaRPr lang="en-US" sz="1400" dirty="0"/>
          </a:p>
        </p:txBody>
      </p:sp>
      <p:sp>
        <p:nvSpPr>
          <p:cNvPr id="10" name="badge"/>
          <p:cNvSpPr/>
          <p:nvPr/>
        </p:nvSpPr>
        <p:spPr>
          <a:xfrm>
            <a:off x="548640" y="2651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 FiTarge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761488"/>
            <a:ext cx="237744" cy="237744"/>
          </a:xfrm>
          <a:prstGeom prst="rect">
            <a:avLst/>
          </a:prstGeom>
        </p:spPr>
      </p:pic>
      <p:sp>
        <p:nvSpPr>
          <p:cNvPr id="12" name="chk head 1"/>
          <p:cNvSpPr txBox="1"/>
          <p:nvPr/>
        </p:nvSpPr>
        <p:spPr>
          <a:xfrm>
            <a:off x="1234440" y="265176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AA Roofing and American Tree</a:t>
            </a:r>
            <a:endParaRPr lang="en-US" sz="1500" dirty="0"/>
          </a:p>
        </p:txBody>
      </p:sp>
      <p:sp>
        <p:nvSpPr>
          <p:cNvPr id="13" name="chk body 1"/>
          <p:cNvSpPr txBox="1"/>
          <p:nvPr/>
        </p:nvSpPr>
        <p:spPr>
          <a:xfrm>
            <a:off x="5120640" y="2651760"/>
            <a:ext cx="6522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Service areas are not stated on their sites. Confirm cities on the first call; geo-targeting waits for the answer.</a:t>
            </a:r>
            <a:endParaRPr lang="en-US" sz="1400" dirty="0"/>
          </a:p>
        </p:txBody>
      </p:sp>
      <p:sp>
        <p:nvSpPr>
          <p:cNvPr id="14" name="badge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on FiCheckCircl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950208"/>
            <a:ext cx="237744" cy="237744"/>
          </a:xfrm>
          <a:prstGeom prst="rect">
            <a:avLst/>
          </a:prstGeom>
        </p:spPr>
      </p:pic>
      <p:sp>
        <p:nvSpPr>
          <p:cNvPr id="16" name="chk head 2"/>
          <p:cNvSpPr txBox="1"/>
          <p:nvPr/>
        </p:nvSpPr>
        <p:spPr>
          <a:xfrm>
            <a:off x="1234440" y="384048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Zellers Group</a:t>
            </a:r>
            <a:endParaRPr lang="en-US" sz="1500" dirty="0"/>
          </a:p>
        </p:txBody>
      </p:sp>
      <p:sp>
        <p:nvSpPr>
          <p:cNvPr id="17" name="chk body 2"/>
          <p:cNvSpPr txBox="1"/>
          <p:nvPr/>
        </p:nvSpPr>
        <p:spPr>
          <a:xfrm>
            <a:off x="5120640" y="3840480"/>
            <a:ext cx="6522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All Medicare ad copy goes through a CMS-compliance review before launch. Outreach itself is unaffected.</a:t>
            </a:r>
            <a:endParaRPr lang="en-US" sz="1400" dirty="0"/>
          </a:p>
        </p:txBody>
      </p:sp>
      <p:sp>
        <p:nvSpPr>
          <p:cNvPr id="18" name="badge"/>
          <p:cNvSpPr/>
          <p:nvPr/>
        </p:nvSpPr>
        <p:spPr>
          <a:xfrm>
            <a:off x="548640" y="5029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con FiCalendar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5138928"/>
            <a:ext cx="237744" cy="237744"/>
          </a:xfrm>
          <a:prstGeom prst="rect">
            <a:avLst/>
          </a:prstGeom>
        </p:spPr>
      </p:pic>
      <p:sp>
        <p:nvSpPr>
          <p:cNvPr id="20" name="chk head 3"/>
          <p:cNvSpPr txBox="1"/>
          <p:nvPr/>
        </p:nvSpPr>
        <p:spPr>
          <a:xfrm>
            <a:off x="1234440" y="502920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All five</a:t>
            </a:r>
            <a:endParaRPr lang="en-US" sz="1500" dirty="0"/>
          </a:p>
        </p:txBody>
      </p:sp>
      <p:sp>
        <p:nvSpPr>
          <p:cNvPr id="21" name="chk body 3"/>
          <p:cNvSpPr txBox="1"/>
          <p:nvPr/>
        </p:nvSpPr>
        <p:spPr>
          <a:xfrm>
            <a:off x="5120640" y="5029200"/>
            <a:ext cx="6522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Re-run the Transparency Center and Meta Ad Library checks before the outreach wave, and reconfirm limited-time offers (VIP's $95 inspection, American Tree's coupons) before they enter ad copy.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25603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NEXT ACTIONS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Recommended next actions</a:t>
            </a: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6355080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Source: cross-prospect recommendations in the pitch document. No outreach has been sent.</a:t>
            </a:r>
            <a:endParaRPr lang="en-US" sz="1100" dirty="0"/>
          </a:p>
        </p:txBody>
      </p:sp>
      <p:sp>
        <p:nvSpPr>
          <p:cNvPr id="6" name="num 1"/>
          <p:cNvSpPr/>
          <p:nvPr/>
        </p:nvSpPr>
        <p:spPr>
          <a:xfrm>
            <a:off x="548640" y="146304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num text 1"/>
          <p:cNvSpPr txBox="1"/>
          <p:nvPr/>
        </p:nvSpPr>
        <p:spPr>
          <a:xfrm>
            <a:off x="5486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action 1"/>
          <p:cNvSpPr txBox="1"/>
          <p:nvPr/>
        </p:nvSpPr>
        <p:spPr>
          <a:xfrm>
            <a:off x="1325880" y="1463040"/>
            <a:ext cx="103171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Call Dean Zellers this week: the enrollment window runs to 7 December and shortens daily.</a:t>
            </a:r>
            <a:endParaRPr lang="en-US" sz="1600" dirty="0"/>
          </a:p>
        </p:txBody>
      </p:sp>
      <p:sp>
        <p:nvSpPr>
          <p:cNvPr id="9" name="num 2"/>
          <p:cNvSpPr/>
          <p:nvPr/>
        </p:nvSpPr>
        <p:spPr>
          <a:xfrm>
            <a:off x="548640" y="237744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num text 2"/>
          <p:cNvSpPr txBox="1"/>
          <p:nvPr/>
        </p:nvSpPr>
        <p:spPr>
          <a:xfrm>
            <a:off x="54864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action 2"/>
          <p:cNvSpPr txBox="1"/>
          <p:nvPr/>
        </p:nvSpPr>
        <p:spPr>
          <a:xfrm>
            <a:off x="1325880" y="2377440"/>
            <a:ext cx="103171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Call Kristian Guttu (American Tree) by phone during storm season; confirm cities and a usable email.</a:t>
            </a:r>
            <a:endParaRPr lang="en-US" sz="1600" dirty="0"/>
          </a:p>
        </p:txBody>
      </p:sp>
      <p:sp>
        <p:nvSpPr>
          <p:cNvPr id="12" name="num 3"/>
          <p:cNvSpPr/>
          <p:nvPr/>
        </p:nvSpPr>
        <p:spPr>
          <a:xfrm>
            <a:off x="548640" y="329184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3" name="num text 3"/>
          <p:cNvSpPr txBox="1"/>
          <p:nvPr/>
        </p:nvSpPr>
        <p:spPr>
          <a:xfrm>
            <a:off x="548640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4" name="action 3"/>
          <p:cNvSpPr txBox="1"/>
          <p:nvPr/>
        </p:nvSpPr>
        <p:spPr>
          <a:xfrm>
            <a:off x="1325880" y="3291840"/>
            <a:ext cx="103171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Send the VIP Pest, AA Roofing and Superior Coatings emails, with phone follow-ups after two to three business days.</a:t>
            </a:r>
            <a:endParaRPr lang="en-US" sz="1600" dirty="0"/>
          </a:p>
        </p:txBody>
      </p:sp>
      <p:sp>
        <p:nvSpPr>
          <p:cNvPr id="15" name="num 4"/>
          <p:cNvSpPr/>
          <p:nvPr/>
        </p:nvSpPr>
        <p:spPr>
          <a:xfrm>
            <a:off x="548640" y="420624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num text 4"/>
          <p:cNvSpPr txBox="1"/>
          <p:nvPr/>
        </p:nvSpPr>
        <p:spPr>
          <a:xfrm>
            <a:off x="54864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7" name="action 4"/>
          <p:cNvSpPr txBox="1"/>
          <p:nvPr/>
        </p:nvSpPr>
        <p:spPr>
          <a:xfrm>
            <a:off x="1325880" y="4206240"/>
            <a:ext cx="103171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Send the prepared follow-up emails roughly a week after any unanswered first email.</a:t>
            </a:r>
            <a:endParaRPr lang="en-US" sz="1600" dirty="0"/>
          </a:p>
        </p:txBody>
      </p:sp>
      <p:sp>
        <p:nvSpPr>
          <p:cNvPr id="18" name="num 5"/>
          <p:cNvSpPr/>
          <p:nvPr/>
        </p:nvSpPr>
        <p:spPr>
          <a:xfrm>
            <a:off x="548640" y="512064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num text 5"/>
          <p:cNvSpPr txBox="1"/>
          <p:nvPr/>
        </p:nvSpPr>
        <p:spPr>
          <a:xfrm>
            <a:off x="548640" y="5120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0" name="action 5"/>
          <p:cNvSpPr txBox="1"/>
          <p:nvPr/>
        </p:nvSpPr>
        <p:spPr>
          <a:xfrm>
            <a:off x="1325880" y="5120640"/>
            <a:ext cx="103171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Before the wave: re-run the advertising checks and reconfirm the limited-time offers used in any copy.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ound29 BD">
  <a:themeElements>
    <a:clrScheme name="Around29 BD">
      <a:dk1>
        <a:srgbClr val="14213D"/>
      </a:dk1>
      <a:lt1>
        <a:srgbClr val="FFFFFF"/>
      </a:lt1>
      <a:dk2>
        <a:srgbClr val="4A5568"/>
      </a:dk2>
      <a:lt2>
        <a:srgbClr val="F3F5F8"/>
      </a:lt2>
      <a:accent1>
        <a:srgbClr val="E8A33D"/>
      </a:accent1>
      <a:accent2>
        <a:srgbClr val="1E2D4F"/>
      </a:accent2>
      <a:accent3>
        <a:srgbClr val="BFD8D5"/>
      </a:accent3>
      <a:accent4>
        <a:srgbClr val="8A9BB0"/>
      </a:accent4>
      <a:accent5>
        <a:srgbClr val="D9DEE6"/>
      </a:accent5>
      <a:accent6>
        <a:srgbClr val="2A9D8F"/>
      </a:accent6>
      <a:hlink>
        <a:srgbClr val="E8A33D"/>
      </a:hlink>
      <a:folHlink>
        <a:srgbClr val="E8A33D"/>
      </a:folHlink>
    </a:clrScheme>
    <a:fontScheme name="Around29 B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Individual Google Ads Sales Pitches</dc:title>
  <dc:subject>PptxGenJS Presentation</dc:subject>
  <dc:creator>Around29 Digital Media Solutions</dc:creator>
  <cp:lastModifiedBy>Around29 Digital Media Solutions</cp:lastModifiedBy>
  <cp:revision>1</cp:revision>
  <dcterms:created xsi:type="dcterms:W3CDTF">2026-10-14T20:43:39Z</dcterms:created>
  <dcterms:modified xsi:type="dcterms:W3CDTF">2026-10-14T20:43:39Z</dcterms:modified>
</cp:coreProperties>
</file>