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Open Sans"/>
      <p:regular r:id="rId17"/>
      <p:bold r:id="rId16"/>
      <p:italic r:id="rId19"/>
    </p:embeddedFont>
    <p:embeddedFont>
      <p:font typeface="Open Sans Semi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1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049250" y="-2762250"/>
            <a:ext cx="8191500" cy="8191500"/>
          </a:xfrm>
          <a:prstGeom prst="ellipse">
            <a:avLst/>
          </a:prstGeom>
          <a:solidFill>
            <a:srgbClr val="1B1B1C"/>
          </a:solidFill>
          <a:ln/>
        </p:spPr>
      </p:sp>
      <p:sp>
        <p:nvSpPr>
          <p:cNvPr id="3" name="Shape 1"/>
          <p:cNvSpPr/>
          <p:nvPr/>
        </p:nvSpPr>
        <p:spPr>
          <a:xfrm>
            <a:off x="13335000" y="6572250"/>
            <a:ext cx="4572000" cy="4572000"/>
          </a:xfrm>
          <a:prstGeom prst="ellipse">
            <a:avLst/>
          </a:prstGeom>
          <a:solidFill>
            <a:srgbClr val="FFA737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1333500"/>
            <a:ext cx="1238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450" kern="0" dirty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PREPARED</a:t>
            </a:r>
            <a:r>
              <a:rPr lang="en-US" sz="1800" b="1" spc="451" kern="0" dirty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</a:t>
            </a:r>
            <a:r>
              <a:rPr lang="en-US" sz="1800" b="1" spc="450" kern="0" dirty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SUPERIOR</a:t>
            </a:r>
            <a:r>
              <a:rPr lang="en-US" sz="1800" b="1" spc="451" kern="0" dirty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COATINGS</a:t>
            </a:r>
            <a:r>
              <a:rPr lang="en-US" sz="1800" b="1" spc="454" kern="0" dirty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2381250"/>
            <a:ext cx="12192000" cy="2857500"/>
          </a:xfrm>
          <a:prstGeom prst="rect">
            <a:avLst/>
          </a:prstGeom>
          <a:noFill/>
          <a:ln/>
        </p:spPr>
        <p:txBody>
          <a:bodyPr wrap="square" lIns="0" tIns="75056" rIns="0" bIns="-75056" rtlCol="0" anchor="t"/>
          <a:lstStyle/>
          <a:p>
            <a:pPr algn="l" indent="0" marL="0">
              <a:lnSpc>
                <a:spcPts val="6765"/>
              </a:lnSpc>
              <a:buNone/>
            </a:pPr>
            <a:r>
              <a:rPr lang="en-US" sz="6150" b="1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Commercial</a:t>
            </a:r>
            <a:r>
              <a:rPr lang="en-US" sz="6150" b="1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proof</a:t>
            </a:r>
            <a:r>
              <a:rPr lang="en-US" sz="6150" b="1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that</a:t>
            </a:r>
            <a:r>
              <a:rPr lang="en-US" sz="6150" b="1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should</a:t>
            </a:r>
            <a:r>
              <a:rPr lang="en-US" sz="6150" b="1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win</a:t>
            </a:r>
            <a:r>
              <a:rPr lang="en-US" sz="6150" b="1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commercial</a:t>
            </a:r>
            <a:r>
              <a:rPr lang="en-US" sz="6150" b="1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searches</a:t>
            </a:r>
            <a:endParaRPr lang="en-US" sz="6150" dirty="0"/>
          </a:p>
        </p:txBody>
      </p:sp>
      <p:sp>
        <p:nvSpPr>
          <p:cNvPr id="6" name="Text 4"/>
          <p:cNvSpPr/>
          <p:nvPr/>
        </p:nvSpPr>
        <p:spPr>
          <a:xfrm>
            <a:off x="1143000" y="5905500"/>
            <a:ext cx="10477500" cy="1095375"/>
          </a:xfrm>
          <a:prstGeom prst="rect">
            <a:avLst/>
          </a:prstGeom>
          <a:noFill/>
          <a:ln/>
        </p:spPr>
        <p:txBody>
          <a:bodyPr wrap="square" lIns="0" tIns="7253" rIns="0" bIns="-7253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 spc="-2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</a:t>
            </a:r>
            <a:r>
              <a:rPr lang="en-US" sz="2250" dirty="0" spc="1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Google</a:t>
            </a:r>
            <a:r>
              <a:rPr lang="en-US" sz="2250" dirty="0" spc="-2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Ads</a:t>
            </a:r>
            <a:r>
              <a:rPr lang="en-US" sz="2250" dirty="0" spc="2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opportunity</a:t>
            </a:r>
            <a:r>
              <a:rPr lang="en-US" sz="2250" dirty="0" spc="3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built</a:t>
            </a:r>
            <a:r>
              <a:rPr lang="en-US" sz="2250" dirty="0" spc="1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around</a:t>
            </a:r>
            <a:r>
              <a:rPr lang="en-US" sz="2250" dirty="0" spc="0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your</a:t>
            </a:r>
            <a:r>
              <a:rPr lang="en-US" sz="2250" dirty="0" spc="2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painting</a:t>
            </a:r>
            <a:r>
              <a:rPr lang="en-US" sz="2250" dirty="0" spc="1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coating</a:t>
            </a:r>
            <a:r>
              <a:rPr lang="en-US" sz="2250" dirty="0" spc="0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work</a:t>
            </a:r>
            <a:r>
              <a:rPr lang="en-US" sz="2250" dirty="0" spc="-1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across</a:t>
            </a:r>
            <a:r>
              <a:rPr lang="en-US" sz="2250" dirty="0" spc="1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 South Puget</a:t>
            </a:r>
            <a:r>
              <a:rPr lang="en-US" sz="2250" dirty="0" spc="2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Sound.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143000" y="8096250"/>
            <a:ext cx="3143250" cy="990600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/>
        </p:spPr>
      </p:sp>
      <p:pic>
        <p:nvPicPr>
          <p:cNvPr id="8" name="Moda image rect-1792012006999-66078419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447800" y="8286750"/>
            <a:ext cx="609600" cy="609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247900" y="8420100"/>
            <a:ext cx="1809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Around29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4667250" y="8343900"/>
            <a:ext cx="7239000" cy="666750"/>
          </a:xfrm>
          <a:prstGeom prst="rect">
            <a:avLst/>
          </a:prstGeom>
          <a:noFill/>
          <a:ln/>
        </p:spPr>
        <p:txBody>
          <a:bodyPr wrap="square" lIns="0" tIns="8312" rIns="0" bIns="-8312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sz="1725" dirty="0" spc="0" kern="0">
                <a:solidFill>
                  <a:srgbClr val="9496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Around29</a:t>
            </a:r>
            <a:r>
              <a:rPr lang="en-US" sz="1725" dirty="0" spc="-1" kern="0">
                <a:solidFill>
                  <a:srgbClr val="9496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Digital</a:t>
            </a:r>
            <a:r>
              <a:rPr lang="en-US" sz="1725" dirty="0" spc="1" kern="0">
                <a:solidFill>
                  <a:srgbClr val="9496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Media</a:t>
            </a:r>
            <a:r>
              <a:rPr lang="en-US" sz="1725" dirty="0" spc="-2" kern="0">
                <a:solidFill>
                  <a:srgbClr val="9496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Solutions</a:t>
            </a:r>
            <a:r>
              <a:rPr lang="en-US" sz="1725" dirty="0" spc="1" kern="0">
                <a:solidFill>
                  <a:srgbClr val="9496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·</a:t>
            </a:r>
            <a:r>
              <a:rPr lang="en-US" sz="1725" dirty="0" spc="0" kern="0">
                <a:solidFill>
                  <a:srgbClr val="9496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around29.com</a:t>
            </a:r>
            <a:endParaRPr lang="en-US" sz="1725" dirty="0"/>
          </a:p>
          <a:p>
            <a:pPr algn="l" indent="0" marL="0">
              <a:lnSpc>
                <a:spcPts val="2415"/>
              </a:lnSpc>
              <a:buNone/>
            </a:pPr>
            <a:r>
              <a:rPr lang="en-US" sz="1725" dirty="0" spc="4" kern="0">
                <a:solidFill>
                  <a:srgbClr val="9496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October</a:t>
            </a:r>
            <a:r>
              <a:rPr lang="en-US" sz="1725" dirty="0" spc="-2" kern="0">
                <a:solidFill>
                  <a:srgbClr val="9496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2026</a:t>
            </a:r>
            <a:endParaRPr lang="en-US" sz="1725" dirty="0"/>
          </a:p>
        </p:txBody>
      </p:sp>
      <p:sp>
        <p:nvSpPr>
          <p:cNvPr id="11" name="Shape 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2" name="Moda image moda-export-watermark-d0ec137c-7691-4941-bbb2-336da3513c5a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3335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375" kern="0" dirty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UNDERSTANDING</a:t>
            </a:r>
            <a:r>
              <a:rPr lang="en-US" sz="1650" b="1" spc="376" kern="0" dirty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YOUR</a:t>
            </a:r>
            <a:r>
              <a:rPr lang="en-US" sz="1650" b="1" spc="373" kern="0" dirty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BUSINESS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4287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we understand about Superior</a:t>
            </a:r>
            <a:r>
              <a:rPr lang="en-US" sz="4200" b="1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Coatings</a:t>
            </a:r>
            <a:r>
              <a:rPr lang="en-US" sz="4200" b="1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NW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143000" y="2857500"/>
            <a:ext cx="5080000" cy="4953000"/>
          </a:xfrm>
          <a:prstGeom prst="roundRect">
            <a:avLst>
              <a:gd name="adj" fmla="val 3846"/>
            </a:avLst>
          </a:prstGeom>
          <a:solidFill>
            <a:srgbClr val="F3F3F5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3238500"/>
            <a:ext cx="431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4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</a:t>
            </a:r>
            <a:r>
              <a:rPr lang="en-US" sz="2100" b="1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 do</a:t>
            </a:r>
            <a:endParaRPr lang="en-US" sz="2100" dirty="0"/>
          </a:p>
        </p:txBody>
      </p:sp>
      <p:sp>
        <p:nvSpPr>
          <p:cNvPr id="6" name="Text richtext-1792012057043-7304625"/>
          <p:cNvSpPr/>
          <p:nvPr/>
        </p:nvSpPr>
        <p:spPr>
          <a:xfrm>
            <a:off x="1524000" y="3790950"/>
            <a:ext cx="4318000" cy="3143250"/>
          </a:xfrm>
          <a:prstGeom prst="rect">
            <a:avLst/>
          </a:prstGeom>
          <a:noFill/>
          <a:ln/>
        </p:spPr>
        <p:txBody>
          <a:bodyPr wrap="square" lIns="0" tIns="2958" rIns="0" bIns="-2958" rtlCol="0" anchor="t"/>
          <a:lstStyle/>
          <a:p>
            <a:pPr algn="l" marL="228600" indent="-163321">
              <a:lnSpc>
                <a:spcPts val="2700"/>
              </a:lnSpc>
              <a:buSzPct val="100000"/>
              <a:buFont typeface="Arial"/>
              <a:buChar char="•"/>
            </a:pP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Interior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exterior residential</a:t>
            </a:r>
            <a:r>
              <a:rPr lang="en-US" sz="1800" dirty="0" spc="4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painting</a:t>
            </a:r>
            <a:endParaRPr lang="en-US" sz="1800" dirty="0"/>
          </a:p>
          <a:p>
            <a:pPr algn="l" marL="228600" indent="-163321">
              <a:lnSpc>
                <a:spcPts val="2700"/>
              </a:lnSpc>
              <a:buSzPct val="100000"/>
              <a:buFont typeface="Arial"/>
              <a:buChar char="•"/>
            </a:pP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Commercial</a:t>
            </a:r>
            <a:r>
              <a:rPr lang="en-US" sz="1800" dirty="0" spc="4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painting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industrial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coatings: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metal,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brick,</a:t>
            </a:r>
            <a:r>
              <a:rPr lang="en-US" sz="1800" dirty="0" spc="-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wood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siding</a:t>
            </a:r>
            <a:endParaRPr lang="en-US" sz="1800" dirty="0"/>
          </a:p>
          <a:p>
            <a:pPr algn="l" marL="228600" indent="-163321">
              <a:lnSpc>
                <a:spcPts val="2700"/>
              </a:lnSpc>
              <a:buSzPct val="100000"/>
              <a:buFont typeface="Arial"/>
              <a:buChar char="•"/>
            </a:pP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Cabinet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trim refinishing,</a:t>
            </a: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custom</a:t>
            </a:r>
            <a:r>
              <a:rPr lang="en-US" sz="1800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doors</a:t>
            </a:r>
            <a:endParaRPr lang="en-US" sz="1800" dirty="0"/>
          </a:p>
          <a:p>
            <a:pPr algn="l" marL="228600" indent="-163321">
              <a:lnSpc>
                <a:spcPts val="2700"/>
              </a:lnSpc>
              <a:buSzPct val="100000"/>
              <a:buFont typeface="Arial"/>
              <a:buChar char="•"/>
            </a:pP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Deck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fence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staining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04000" y="2857500"/>
            <a:ext cx="5080000" cy="4953000"/>
          </a:xfrm>
          <a:prstGeom prst="roundRect">
            <a:avLst>
              <a:gd name="adj" fmla="val 3846"/>
            </a:avLst>
          </a:prstGeom>
          <a:solidFill>
            <a:srgbClr val="101112"/>
          </a:solidFill>
          <a:ln/>
        </p:spPr>
      </p:sp>
      <p:sp>
        <p:nvSpPr>
          <p:cNvPr id="8" name="Text 6"/>
          <p:cNvSpPr/>
          <p:nvPr/>
        </p:nvSpPr>
        <p:spPr>
          <a:xfrm>
            <a:off x="6985000" y="3238500"/>
            <a:ext cx="431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2" kern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</a:t>
            </a:r>
            <a:r>
              <a:rPr lang="en-US" sz="2100" b="1" dirty="0" spc="0" kern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proof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985000" y="3790950"/>
            <a:ext cx="4318000" cy="2095500"/>
          </a:xfrm>
          <a:prstGeom prst="rect">
            <a:avLst/>
          </a:prstGeom>
          <a:noFill/>
          <a:ln/>
        </p:spPr>
        <p:txBody>
          <a:bodyPr wrap="square" lIns="0" tIns="7019" rIns="0" bIns="-7019" rtlCol="0" anchor="t"/>
          <a:lstStyle/>
          <a:p>
            <a:pPr algn="l" indent="0" marL="0">
              <a:lnSpc>
                <a:spcPts val="3154"/>
              </a:lnSpc>
              <a:buNone/>
            </a:pPr>
            <a:r>
              <a:rPr lang="en-US" sz="2175" dirty="0" spc="0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"The</a:t>
            </a:r>
            <a:r>
              <a:rPr lang="en-US" sz="2175" dirty="0" spc="2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preferred</a:t>
            </a:r>
            <a:r>
              <a:rPr lang="en-US" sz="2175" dirty="0" spc="1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commercial</a:t>
            </a:r>
            <a:r>
              <a:rPr lang="en-US" sz="2175" dirty="0" spc="-2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painting</a:t>
            </a:r>
            <a:r>
              <a:rPr lang="en-US" sz="2175" dirty="0" spc="1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company</a:t>
            </a:r>
            <a:r>
              <a:rPr lang="en-US" sz="2175" dirty="0" spc="2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for</a:t>
            </a:r>
            <a:r>
              <a:rPr lang="en-US" sz="2175" dirty="0" spc="-1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the</a:t>
            </a:r>
            <a:r>
              <a:rPr lang="en-US" sz="2175" dirty="0" spc="-2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South</a:t>
            </a:r>
            <a:r>
              <a:rPr lang="en-US" sz="2175" dirty="0" spc="-1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Sound</a:t>
            </a:r>
            <a:r>
              <a:rPr lang="en-US" sz="2175" dirty="0" spc="1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Verizon</a:t>
            </a:r>
            <a:r>
              <a:rPr lang="en-US" sz="2175" dirty="0" spc="-1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stores"</a:t>
            </a:r>
            <a:endParaRPr lang="en-US" sz="2175" dirty="0"/>
          </a:p>
        </p:txBody>
      </p:sp>
      <p:sp>
        <p:nvSpPr>
          <p:cNvPr id="10" name="Text 8"/>
          <p:cNvSpPr/>
          <p:nvPr/>
        </p:nvSpPr>
        <p:spPr>
          <a:xfrm>
            <a:off x="6985000" y="6057900"/>
            <a:ext cx="4318000" cy="1047750"/>
          </a:xfrm>
          <a:prstGeom prst="rect">
            <a:avLst/>
          </a:prstGeom>
          <a:noFill/>
          <a:ln/>
        </p:spPr>
        <p:txBody>
          <a:bodyPr wrap="square" lIns="0" tIns="2819" rIns="0" bIns="-2819" rtlCol="0" anchor="t"/>
          <a:lstStyle/>
          <a:p>
            <a:pPr algn="l" indent="0" marL="0">
              <a:lnSpc>
                <a:spcPts val="2588"/>
              </a:lnSpc>
              <a:buNone/>
            </a:pPr>
            <a:r>
              <a:rPr lang="en-US" sz="1725" dirty="0" spc="0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Serving the</a:t>
            </a:r>
            <a:r>
              <a:rPr lang="en-US" sz="1725" dirty="0" spc="-2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South</a:t>
            </a:r>
            <a:r>
              <a:rPr lang="en-US" sz="1725" dirty="0" spc="0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Puget</a:t>
            </a:r>
            <a:r>
              <a:rPr lang="en-US" sz="1725" dirty="0" spc="-1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Sound.</a:t>
            </a:r>
            <a:r>
              <a:rPr lang="en-US" sz="1725" dirty="0" spc="1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Licensed,</a:t>
            </a:r>
            <a:r>
              <a:rPr lang="en-US" sz="1725" dirty="0" spc="2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bonded</a:t>
            </a:r>
            <a:r>
              <a:rPr lang="en-US" sz="1725" dirty="0" spc="-2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</a:t>
            </a:r>
            <a:r>
              <a:rPr lang="en-US" sz="1725" dirty="0" spc="0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insured,</a:t>
            </a:r>
            <a:r>
              <a:rPr lang="en-US" sz="1725" dirty="0" spc="-1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SUPERNL814D8.</a:t>
            </a:r>
            <a:endParaRPr lang="en-US" sz="1725" dirty="0"/>
          </a:p>
        </p:txBody>
      </p:sp>
      <p:sp>
        <p:nvSpPr>
          <p:cNvPr id="11" name="Shape 9"/>
          <p:cNvSpPr/>
          <p:nvPr/>
        </p:nvSpPr>
        <p:spPr>
          <a:xfrm>
            <a:off x="12065000" y="2857500"/>
            <a:ext cx="5080000" cy="4953000"/>
          </a:xfrm>
          <a:prstGeom prst="roundRect">
            <a:avLst>
              <a:gd name="adj" fmla="val 3846"/>
            </a:avLst>
          </a:prstGeom>
          <a:solidFill>
            <a:srgbClr val="F3F3F5"/>
          </a:solidFill>
          <a:ln/>
        </p:spPr>
      </p:sp>
      <p:sp>
        <p:nvSpPr>
          <p:cNvPr id="12" name="Text 10"/>
          <p:cNvSpPr/>
          <p:nvPr/>
        </p:nvSpPr>
        <p:spPr>
          <a:xfrm>
            <a:off x="12446000" y="3238500"/>
            <a:ext cx="431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3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How</a:t>
            </a:r>
            <a:r>
              <a:rPr lang="en-US" sz="2100" b="1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customers</a:t>
            </a:r>
            <a:r>
              <a:rPr lang="en-US" sz="2100" b="1" dirty="0" spc="3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reach</a:t>
            </a:r>
            <a:r>
              <a:rPr lang="en-US" sz="2100" b="1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</a:t>
            </a:r>
            <a:endParaRPr lang="en-US" sz="2100" dirty="0"/>
          </a:p>
        </p:txBody>
      </p:sp>
      <p:sp>
        <p:nvSpPr>
          <p:cNvPr id="13" name="Text richtext-1792012057087-629469958"/>
          <p:cNvSpPr/>
          <p:nvPr/>
        </p:nvSpPr>
        <p:spPr>
          <a:xfrm>
            <a:off x="12446000" y="3790950"/>
            <a:ext cx="4318000" cy="1905000"/>
          </a:xfrm>
          <a:prstGeom prst="rect">
            <a:avLst/>
          </a:prstGeom>
          <a:noFill/>
          <a:ln/>
        </p:spPr>
        <p:txBody>
          <a:bodyPr wrap="square" lIns="0" tIns="2958" rIns="0" bIns="-2958" rtlCol="0" anchor="t"/>
          <a:lstStyle/>
          <a:p>
            <a:pPr algn="l" marL="228600" indent="-163321">
              <a:lnSpc>
                <a:spcPts val="2700"/>
              </a:lnSpc>
              <a:buSzPct val="100000"/>
              <a:buFont typeface="Arial"/>
              <a:buChar char="•"/>
            </a:pP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"Request a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Quote"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form</a:t>
            </a:r>
            <a:endParaRPr lang="en-US" sz="1800" dirty="0"/>
          </a:p>
          <a:p>
            <a:pPr algn="l" marL="228600" indent="-163321">
              <a:lnSpc>
                <a:spcPts val="2700"/>
              </a:lnSpc>
              <a:buSzPct val="100000"/>
              <a:buFont typeface="Arial"/>
              <a:buChar char="•"/>
            </a:pP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Free-estimates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button</a:t>
            </a:r>
            <a:endParaRPr lang="en-US" sz="1800" dirty="0"/>
          </a:p>
          <a:p>
            <a:pPr algn="l" marL="228600" indent="-163321">
              <a:lnSpc>
                <a:spcPts val="2700"/>
              </a:lnSpc>
              <a:buSzPct val="100000"/>
              <a:buFont typeface="Arial"/>
              <a:buChar char="•"/>
            </a:pPr>
            <a:r>
              <a:rPr lang="en-US" sz="1800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Phone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email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43000" y="9144000"/>
            <a:ext cx="1333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 spc="-1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Everything</a:t>
            </a:r>
            <a:r>
              <a:rPr lang="en-US" sz="1500" dirty="0" spc="1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on</a:t>
            </a:r>
            <a:r>
              <a:rPr lang="en-US" sz="1500" dirty="0" spc="0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this</a:t>
            </a:r>
            <a:r>
              <a:rPr lang="en-US" sz="1500" dirty="0" spc="4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slide</a:t>
            </a:r>
            <a:r>
              <a:rPr lang="en-US" sz="1500" dirty="0" spc="3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comes</a:t>
            </a:r>
            <a:r>
              <a:rPr lang="en-US" sz="1500" dirty="0" spc="2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from</a:t>
            </a:r>
            <a:r>
              <a:rPr lang="en-US" sz="1500" dirty="0" spc="0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your own</a:t>
            </a:r>
            <a:r>
              <a:rPr lang="en-US" sz="1500" dirty="0" spc="2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website,</a:t>
            </a:r>
            <a:r>
              <a:rPr lang="en-US" sz="1500" dirty="0" spc="1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superiorcoatingsnw.com.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22e93316-508c-41c4-9ceb-4faa72baff3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3335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377" kern="0" dirty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</a:t>
            </a:r>
            <a:r>
              <a:rPr lang="en-US" sz="1650" b="1" spc="376" kern="0" dirty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CUSTOMER SEARCH OPPORTUNITY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428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 spc="-3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Two audiences</a:t>
            </a:r>
            <a:r>
              <a:rPr lang="en-US" sz="4200" b="1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are searching</a:t>
            </a:r>
            <a:r>
              <a:rPr lang="en-US" sz="4200" b="1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 you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143000" y="2571750"/>
            <a:ext cx="14287500" cy="952500"/>
          </a:xfrm>
          <a:prstGeom prst="rect">
            <a:avLst/>
          </a:prstGeom>
          <a:noFill/>
          <a:ln/>
        </p:spPr>
        <p:txBody>
          <a:bodyPr wrap="square" lIns="0" tIns="3451" rIns="0" bIns="-345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Facility</a:t>
            </a:r>
            <a:r>
              <a:rPr lang="en-US" sz="21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managers</a:t>
            </a:r>
            <a:r>
              <a:rPr lang="en-US" sz="21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choosing</a:t>
            </a:r>
            <a:r>
              <a:rPr lang="en-US" sz="21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</a:t>
            </a:r>
            <a:r>
              <a:rPr lang="en-US" sz="21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commercial painter,</a:t>
            </a:r>
            <a:r>
              <a:rPr lang="en-US" sz="2100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</a:t>
            </a:r>
            <a:r>
              <a:rPr lang="en-US" sz="21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homeowners</a:t>
            </a:r>
            <a:r>
              <a:rPr lang="en-US" sz="21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pricing</a:t>
            </a:r>
            <a:r>
              <a:rPr lang="en-US" sz="21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 exterior repaint</a:t>
            </a:r>
            <a:r>
              <a:rPr lang="en-US" sz="2100" dirty="0" spc="-4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</a:t>
            </a:r>
            <a:r>
              <a:rPr lang="en-US" sz="21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</a:t>
            </a:r>
            <a:r>
              <a:rPr lang="en-US" sz="21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season.</a:t>
            </a:r>
            <a:r>
              <a:rPr lang="en-US" sz="21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These are the kinds</a:t>
            </a:r>
            <a:r>
              <a:rPr lang="en-US" sz="2100" dirty="0" spc="-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of</a:t>
            </a:r>
            <a:r>
              <a:rPr lang="en-US" sz="21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searches</a:t>
            </a:r>
            <a:r>
              <a:rPr lang="en-US" sz="21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your</a:t>
            </a:r>
            <a:r>
              <a:rPr lang="en-US" sz="21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services answer: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143000" y="4095750"/>
            <a:ext cx="485775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commercial</a:t>
            </a:r>
            <a:r>
              <a:rPr lang="en-US" sz="1950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painting</a:t>
            </a:r>
            <a:r>
              <a:rPr lang="en-US" sz="1950" dirty="0" spc="-4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contractor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6229350" y="4095750"/>
            <a:ext cx="390525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house</a:t>
            </a:r>
            <a:r>
              <a:rPr lang="en-US" sz="1950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painters Puyallup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0363200" y="4095750"/>
            <a:ext cx="381000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3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exterior house</a:t>
            </a:r>
            <a:r>
              <a:rPr lang="en-US" sz="1950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painting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143000" y="5048250"/>
            <a:ext cx="390525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cabinet</a:t>
            </a:r>
            <a:r>
              <a:rPr lang="en-US" sz="1950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painting</a:t>
            </a:r>
            <a:r>
              <a:rPr lang="en-US" sz="1950" dirty="0" spc="-4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near</a:t>
            </a:r>
            <a:r>
              <a:rPr lang="en-US" sz="1950" dirty="0" spc="-3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me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5276850" y="5048250"/>
            <a:ext cx="266700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painting</a:t>
            </a:r>
            <a:r>
              <a:rPr lang="en-US" sz="1950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quote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8172450" y="5048250"/>
            <a:ext cx="381000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deck</a:t>
            </a:r>
            <a:r>
              <a:rPr lang="en-US" sz="1950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</a:t>
            </a:r>
            <a:r>
              <a:rPr lang="en-US" sz="1950" dirty="0" spc="-3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fence</a:t>
            </a:r>
            <a:r>
              <a:rPr lang="en-US" sz="1950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staining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2211050" y="5048250"/>
            <a:ext cx="3714750" cy="685800"/>
          </a:xfrm>
          <a:prstGeom prst="roundRect">
            <a:avLst>
              <a:gd name="adj" fmla="val 50000"/>
            </a:avLst>
          </a:prstGeom>
          <a:solidFill>
            <a:srgbClr val="FFA73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2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free painting</a:t>
            </a:r>
            <a:r>
              <a:rPr lang="en-US" sz="1950" dirty="0" spc="-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estimate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143000" y="6667500"/>
            <a:ext cx="16002000" cy="2190750"/>
          </a:xfrm>
          <a:prstGeom prst="roundRect">
            <a:avLst>
              <a:gd name="adj" fmla="val 8696"/>
            </a:avLst>
          </a:prstGeom>
          <a:solidFill>
            <a:srgbClr val="101112"/>
          </a:solidFill>
          <a:ln/>
        </p:spPr>
      </p:sp>
      <p:sp>
        <p:nvSpPr>
          <p:cNvPr id="13" name="Text 11"/>
          <p:cNvSpPr/>
          <p:nvPr/>
        </p:nvSpPr>
        <p:spPr>
          <a:xfrm>
            <a:off x="1524000" y="7048500"/>
            <a:ext cx="15240000" cy="331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25" b="1" dirty="0" spc="1" kern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Why</a:t>
            </a:r>
            <a:r>
              <a:rPr lang="en-US" sz="2025" b="1" dirty="0" spc="2" kern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this</a:t>
            </a:r>
            <a:r>
              <a:rPr lang="en-US" sz="2025" b="1" dirty="0" spc="-1" kern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matters</a:t>
            </a:r>
            <a:endParaRPr lang="en-US" sz="2025" dirty="0"/>
          </a:p>
        </p:txBody>
      </p:sp>
      <p:sp>
        <p:nvSpPr>
          <p:cNvPr id="14" name="Text 12"/>
          <p:cNvSpPr/>
          <p:nvPr/>
        </p:nvSpPr>
        <p:spPr>
          <a:xfrm>
            <a:off x="1524000" y="7518942"/>
            <a:ext cx="15240000" cy="958308"/>
          </a:xfrm>
          <a:prstGeom prst="rect">
            <a:avLst/>
          </a:prstGeom>
          <a:noFill/>
          <a:ln/>
        </p:spPr>
        <p:txBody>
          <a:bodyPr wrap="square" lIns="0" tIns="3065" rIns="0" bIns="-3065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1875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Google Search advertising</a:t>
            </a:r>
            <a:r>
              <a:rPr lang="en-US" sz="1875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puts your</a:t>
            </a:r>
            <a:r>
              <a:rPr lang="en-US" sz="1875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business</a:t>
            </a:r>
            <a:r>
              <a:rPr lang="en-US" sz="1875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</a:t>
            </a:r>
            <a:r>
              <a:rPr lang="en-US" sz="1875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front of these searches</a:t>
            </a:r>
            <a:r>
              <a:rPr lang="en-US" sz="1875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across</a:t>
            </a:r>
            <a:r>
              <a:rPr lang="en-US" sz="1875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</a:t>
            </a:r>
            <a:r>
              <a:rPr lang="en-US" sz="1875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South Puget</a:t>
            </a:r>
            <a:r>
              <a:rPr lang="en-US" sz="1875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Sound</a:t>
            </a:r>
            <a:r>
              <a:rPr lang="en-US" sz="1875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at</a:t>
            </a:r>
            <a:r>
              <a:rPr lang="en-US" sz="1875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</a:t>
            </a:r>
            <a:r>
              <a:rPr lang="en-US" sz="1875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moment</a:t>
            </a:r>
            <a:r>
              <a:rPr lang="en-US" sz="1875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they</a:t>
            </a:r>
            <a:r>
              <a:rPr lang="en-US" sz="1875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happen.</a:t>
            </a:r>
            <a:r>
              <a:rPr lang="en-US" sz="1875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</a:t>
            </a:r>
            <a:r>
              <a:rPr lang="en-US" sz="1875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painters advertising are the ones</a:t>
            </a:r>
            <a:r>
              <a:rPr lang="en-US" sz="1875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collecting</a:t>
            </a:r>
            <a:r>
              <a:rPr lang="en-US" sz="1875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</a:t>
            </a:r>
            <a:r>
              <a:rPr lang="en-US" sz="1875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quote</a:t>
            </a:r>
            <a:r>
              <a:rPr lang="en-US" sz="1875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requests.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1143000" y="9286875"/>
            <a:ext cx="142875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 spc="0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Illustrative search</a:t>
            </a:r>
            <a:r>
              <a:rPr lang="en-US" sz="1500" i="1" dirty="0" spc="-2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themes</a:t>
            </a:r>
            <a:r>
              <a:rPr lang="en-US" sz="1500" i="1" dirty="0" spc="0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based on</a:t>
            </a:r>
            <a:r>
              <a:rPr lang="en-US" sz="1500" i="1" dirty="0" spc="1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your services and</a:t>
            </a:r>
            <a:r>
              <a:rPr lang="en-US" sz="1500" i="1" dirty="0" spc="-2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stated</a:t>
            </a:r>
            <a:r>
              <a:rPr lang="en-US" sz="1500" i="1" dirty="0" spc="1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service area.</a:t>
            </a:r>
            <a:r>
              <a:rPr lang="en-US" sz="1500" i="1" dirty="0" spc="-1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Not keyword-volume</a:t>
            </a:r>
            <a:r>
              <a:rPr lang="en-US" sz="1500" i="1" dirty="0" spc="1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research.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25797c7a-1e9b-481d-abd6-51db6878bc5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1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3335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377" kern="0" dirty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</a:t>
            </a:r>
            <a:r>
              <a:rPr lang="en-US" sz="1650" b="1" spc="374" kern="0" dirty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BUSINESS-SPECIFIC</a:t>
            </a:r>
            <a:r>
              <a:rPr lang="en-US" sz="1650" b="1" spc="377" kern="0" dirty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OPPORTUNITY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428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Proof</a:t>
            </a:r>
            <a:r>
              <a:rPr lang="en-US" sz="4200" b="1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most</a:t>
            </a:r>
            <a:r>
              <a:rPr lang="en-US" sz="4200" b="1" dirty="0" spc="-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painters</a:t>
            </a:r>
            <a:r>
              <a:rPr lang="en-US" sz="4200" b="1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can't</a:t>
            </a:r>
            <a:r>
              <a:rPr lang="en-US" sz="4200" b="1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show,</a:t>
            </a:r>
            <a:r>
              <a:rPr lang="en-US" sz="4200" b="1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working</a:t>
            </a:r>
            <a:r>
              <a:rPr lang="en-US" sz="4200" b="1" dirty="0" spc="-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harder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143000" y="2762250"/>
            <a:ext cx="5080000" cy="3810000"/>
          </a:xfrm>
          <a:prstGeom prst="roundRect">
            <a:avLst>
              <a:gd name="adj" fmla="val 5000"/>
            </a:avLst>
          </a:prstGeom>
          <a:solidFill>
            <a:srgbClr val="1B1B1C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3143250"/>
            <a:ext cx="431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 spc="-1" kern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Proof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524000" y="4267200"/>
            <a:ext cx="4318000" cy="1143000"/>
          </a:xfrm>
          <a:prstGeom prst="rect">
            <a:avLst/>
          </a:prstGeom>
          <a:noFill/>
          <a:ln/>
        </p:spPr>
        <p:txBody>
          <a:bodyPr wrap="square" lIns="0" tIns="10118" rIns="0" bIns="-10118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 spc="-1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Named</a:t>
            </a:r>
            <a:r>
              <a:rPr lang="en-US" sz="2100" dirty="0" spc="0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commercial</a:t>
            </a:r>
            <a:r>
              <a:rPr lang="en-US" sz="2100" dirty="0" spc="-3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work,</a:t>
            </a:r>
            <a:r>
              <a:rPr lang="en-US" sz="2100" dirty="0" spc="-4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on your</a:t>
            </a:r>
            <a:r>
              <a:rPr lang="en-US" sz="2100" dirty="0" spc="-3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own</a:t>
            </a:r>
            <a:r>
              <a:rPr lang="en-US" sz="2100" dirty="0" spc="-2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site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524000" y="5581650"/>
            <a:ext cx="4318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 spc="1" kern="0">
                <a:solidFill>
                  <a:srgbClr val="9496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From</a:t>
            </a:r>
            <a:r>
              <a:rPr lang="en-US" sz="1500" dirty="0" spc="0" kern="0">
                <a:solidFill>
                  <a:srgbClr val="9496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your</a:t>
            </a:r>
            <a:r>
              <a:rPr lang="en-US" sz="1500" dirty="0" spc="3" kern="0">
                <a:solidFill>
                  <a:srgbClr val="9496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website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604000" y="2762250"/>
            <a:ext cx="5080000" cy="3810000"/>
          </a:xfrm>
          <a:prstGeom prst="roundRect">
            <a:avLst>
              <a:gd name="adj" fmla="val 5000"/>
            </a:avLst>
          </a:prstGeom>
          <a:solidFill>
            <a:srgbClr val="1B1B1C"/>
          </a:solidFill>
          <a:ln/>
        </p:spPr>
      </p:sp>
      <p:sp>
        <p:nvSpPr>
          <p:cNvPr id="9" name="Text 7"/>
          <p:cNvSpPr/>
          <p:nvPr/>
        </p:nvSpPr>
        <p:spPr>
          <a:xfrm>
            <a:off x="6985000" y="3143250"/>
            <a:ext cx="431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 spc="1" kern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Live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6985000" y="4267200"/>
            <a:ext cx="4318000" cy="1143000"/>
          </a:xfrm>
          <a:prstGeom prst="rect">
            <a:avLst/>
          </a:prstGeom>
          <a:noFill/>
          <a:ln/>
        </p:spPr>
        <p:txBody>
          <a:bodyPr wrap="square" lIns="0" tIns="10118" rIns="0" bIns="-10118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 spc="1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A</a:t>
            </a:r>
            <a:r>
              <a:rPr lang="en-US" sz="2100" dirty="0" spc="-1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Request a Quote</a:t>
            </a:r>
            <a:r>
              <a:rPr lang="en-US" sz="2100" dirty="0" spc="-4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form,</a:t>
            </a:r>
            <a:r>
              <a:rPr lang="en-US" sz="2100" dirty="0" spc="-1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already</a:t>
            </a:r>
            <a:r>
              <a:rPr lang="en-US" sz="2100" dirty="0" spc="-2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working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985000" y="5581650"/>
            <a:ext cx="4318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 spc="1" kern="0">
                <a:solidFill>
                  <a:srgbClr val="9496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From</a:t>
            </a:r>
            <a:r>
              <a:rPr lang="en-US" sz="1500" dirty="0" spc="0" kern="0">
                <a:solidFill>
                  <a:srgbClr val="9496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your</a:t>
            </a:r>
            <a:r>
              <a:rPr lang="en-US" sz="1500" dirty="0" spc="3" kern="0">
                <a:solidFill>
                  <a:srgbClr val="9496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website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2065000" y="2762250"/>
            <a:ext cx="5080000" cy="3810000"/>
          </a:xfrm>
          <a:prstGeom prst="roundRect">
            <a:avLst>
              <a:gd name="adj" fmla="val 5000"/>
            </a:avLst>
          </a:prstGeom>
          <a:solidFill>
            <a:srgbClr val="1B1B1C"/>
          </a:solidFill>
          <a:ln/>
        </p:spPr>
      </p:sp>
      <p:sp>
        <p:nvSpPr>
          <p:cNvPr id="13" name="Text 11"/>
          <p:cNvSpPr/>
          <p:nvPr/>
        </p:nvSpPr>
        <p:spPr>
          <a:xfrm>
            <a:off x="12446000" y="3143250"/>
            <a:ext cx="431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 spc="-2" kern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FREE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12446000" y="4267200"/>
            <a:ext cx="4318000" cy="1143000"/>
          </a:xfrm>
          <a:prstGeom prst="rect">
            <a:avLst/>
          </a:prstGeom>
          <a:noFill/>
          <a:ln/>
        </p:spPr>
        <p:txBody>
          <a:bodyPr wrap="square" lIns="0" tIns="10118" rIns="0" bIns="-10118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 spc="0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Estimates,</a:t>
            </a:r>
            <a:r>
              <a:rPr lang="en-US" sz="2100" dirty="0" spc="-2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promoted across</a:t>
            </a:r>
            <a:r>
              <a:rPr lang="en-US" sz="2100" dirty="0" spc="-4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your</a:t>
            </a:r>
            <a:r>
              <a:rPr lang="en-US" sz="2100" dirty="0" spc="-2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site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2446000" y="5581650"/>
            <a:ext cx="4318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 spc="1" kern="0">
                <a:solidFill>
                  <a:srgbClr val="9496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From</a:t>
            </a:r>
            <a:r>
              <a:rPr lang="en-US" sz="1500" dirty="0" spc="0" kern="0">
                <a:solidFill>
                  <a:srgbClr val="9496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your</a:t>
            </a:r>
            <a:r>
              <a:rPr lang="en-US" sz="1500" dirty="0" spc="3" kern="0">
                <a:solidFill>
                  <a:srgbClr val="9496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website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43000" y="7239000"/>
            <a:ext cx="16002000" cy="1905000"/>
          </a:xfrm>
          <a:prstGeom prst="roundRect">
            <a:avLst>
              <a:gd name="adj" fmla="val 10000"/>
            </a:avLst>
          </a:prstGeom>
          <a:solidFill>
            <a:srgbClr val="FFA737"/>
          </a:solidFill>
          <a:ln/>
        </p:spPr>
      </p:sp>
      <p:sp>
        <p:nvSpPr>
          <p:cNvPr id="17" name="Text 15"/>
          <p:cNvSpPr/>
          <p:nvPr/>
        </p:nvSpPr>
        <p:spPr>
          <a:xfrm>
            <a:off x="1524000" y="7620000"/>
            <a:ext cx="15240000" cy="1143000"/>
          </a:xfrm>
          <a:prstGeom prst="rect">
            <a:avLst/>
          </a:prstGeom>
          <a:noFill/>
          <a:ln/>
        </p:spPr>
        <p:txBody>
          <a:bodyPr wrap="square" lIns="0" tIns="7019" rIns="0" bIns="-7019" rtlCol="0" anchor="ctr"/>
          <a:lstStyle/>
          <a:p>
            <a:pPr algn="l" indent="0" marL="0">
              <a:lnSpc>
                <a:spcPts val="3154"/>
              </a:lnSpc>
              <a:buNone/>
            </a:pPr>
            <a:r>
              <a:rPr lang="en-US" sz="2175" dirty="0" spc="0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A</a:t>
            </a:r>
            <a:r>
              <a:rPr lang="en-US" sz="2175" dirty="0" spc="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commercial ad</a:t>
            </a:r>
            <a:r>
              <a:rPr lang="en-US" sz="2175" dirty="0" spc="2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group</a:t>
            </a:r>
            <a:r>
              <a:rPr lang="en-US" sz="2175" dirty="0" spc="-2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lets</a:t>
            </a:r>
            <a:r>
              <a:rPr lang="en-US" sz="2175" dirty="0" spc="-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facility</a:t>
            </a:r>
            <a:r>
              <a:rPr lang="en-US" sz="2175" dirty="0" spc="0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managers</a:t>
            </a:r>
            <a:r>
              <a:rPr lang="en-US" sz="2175" dirty="0" spc="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meet</a:t>
            </a:r>
            <a:r>
              <a:rPr lang="en-US" sz="2175" dirty="0" spc="0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your</a:t>
            </a:r>
            <a:r>
              <a:rPr lang="en-US" sz="2175" dirty="0" spc="2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proof</a:t>
            </a:r>
            <a:r>
              <a:rPr lang="en-US" sz="2175" dirty="0" spc="-2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while</a:t>
            </a:r>
            <a:r>
              <a:rPr lang="en-US" sz="2175" dirty="0" spc="0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they</a:t>
            </a:r>
            <a:r>
              <a:rPr lang="en-US" sz="2175" dirty="0" spc="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are</a:t>
            </a:r>
            <a:r>
              <a:rPr lang="en-US" sz="2175" dirty="0" spc="-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choosing.</a:t>
            </a:r>
            <a:r>
              <a:rPr lang="en-US" sz="2175" dirty="0" spc="3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A</a:t>
            </a:r>
            <a:r>
              <a:rPr lang="en-US" sz="2175" dirty="0" spc="-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residential</a:t>
            </a:r>
            <a:r>
              <a:rPr lang="en-US" sz="2175" dirty="0" spc="0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exterior</a:t>
            </a:r>
            <a:r>
              <a:rPr lang="en-US" sz="2175" dirty="0" spc="2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group,</a:t>
            </a:r>
            <a:r>
              <a:rPr lang="en-US" sz="2175" dirty="0" spc="-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planned</a:t>
            </a:r>
            <a:r>
              <a:rPr lang="en-US" sz="2175" dirty="0" spc="-2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this</a:t>
            </a:r>
            <a:r>
              <a:rPr lang="en-US" sz="2175" dirty="0" spc="-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winter,</a:t>
            </a:r>
            <a:r>
              <a:rPr lang="en-US" sz="2175" dirty="0" spc="-2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is</a:t>
            </a:r>
            <a:r>
              <a:rPr lang="en-US" sz="2175" dirty="0" spc="-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live</a:t>
            </a:r>
            <a:r>
              <a:rPr lang="en-US" sz="2175" dirty="0" spc="-2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when</a:t>
            </a:r>
            <a:r>
              <a:rPr lang="en-US" sz="2175" dirty="0" spc="0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spring pricing searches begin.</a:t>
            </a:r>
            <a:endParaRPr lang="en-US" sz="2175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bc9f9dec-c991-4a89-ae15-871fcd74635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3335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376" kern="0" dirty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RECOMMENDED</a:t>
            </a:r>
            <a:r>
              <a:rPr lang="en-US" sz="1650" b="1" spc="375" kern="0" dirty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CAMPAIGN</a:t>
            </a:r>
            <a:r>
              <a:rPr lang="en-US" sz="1650" b="1" spc="376" kern="0" dirty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APPROACH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428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50" b="1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Commercial</a:t>
            </a:r>
            <a:r>
              <a:rPr lang="en-US" sz="4050" b="1" dirty="0" spc="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year-round, exterior timed</a:t>
            </a:r>
            <a:r>
              <a:rPr lang="en-US" sz="4050" b="1" dirty="0" spc="-3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</a:t>
            </a:r>
            <a:r>
              <a:rPr lang="en-US" sz="4050" b="1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 season</a:t>
            </a:r>
            <a:endParaRPr lang="en-US" sz="4050" dirty="0"/>
          </a:p>
        </p:txBody>
      </p:sp>
      <p:sp>
        <p:nvSpPr>
          <p:cNvPr id="4" name="Shape 2"/>
          <p:cNvSpPr/>
          <p:nvPr/>
        </p:nvSpPr>
        <p:spPr>
          <a:xfrm>
            <a:off x="1143000" y="2667000"/>
            <a:ext cx="7810500" cy="2952750"/>
          </a:xfrm>
          <a:prstGeom prst="roundRect">
            <a:avLst>
              <a:gd name="adj" fmla="val 6452"/>
            </a:avLst>
          </a:prstGeom>
          <a:solidFill>
            <a:srgbClr val="F3F3F5"/>
          </a:solidFill>
          <a:ln/>
        </p:spPr>
      </p:sp>
      <p:sp>
        <p:nvSpPr>
          <p:cNvPr id="5" name="Text 3"/>
          <p:cNvSpPr/>
          <p:nvPr/>
        </p:nvSpPr>
        <p:spPr>
          <a:xfrm>
            <a:off x="1485900" y="3009900"/>
            <a:ext cx="7124700" cy="340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25" b="1" dirty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Campaign themes</a:t>
            </a:r>
            <a:endParaRPr lang="en-US" sz="2025" dirty="0"/>
          </a:p>
        </p:txBody>
      </p:sp>
      <p:sp>
        <p:nvSpPr>
          <p:cNvPr id="6" name="Text richtext-1792012218474-812725255"/>
          <p:cNvSpPr/>
          <p:nvPr/>
        </p:nvSpPr>
        <p:spPr>
          <a:xfrm>
            <a:off x="1485900" y="3482181"/>
            <a:ext cx="7124700" cy="1794669"/>
          </a:xfrm>
          <a:prstGeom prst="rect">
            <a:avLst/>
          </a:prstGeom>
          <a:noFill/>
          <a:ln/>
        </p:spPr>
        <p:txBody>
          <a:bodyPr wrap="square" lIns="0" tIns="2958" rIns="0" bIns="-2958" rtlCol="0" anchor="t"/>
          <a:lstStyle/>
          <a:p>
            <a:pPr algn="l" marL="228600" indent="-163321">
              <a:lnSpc>
                <a:spcPts val="2700"/>
              </a:lnSpc>
              <a:buSzPct val="100000"/>
              <a:buFont typeface="Arial"/>
              <a:buChar char="•"/>
            </a:pP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Commercial</a:t>
            </a:r>
            <a:r>
              <a:rPr lang="en-US" sz="1800" dirty="0" spc="4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painting,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led by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your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named</a:t>
            </a: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proof</a:t>
            </a:r>
            <a:endParaRPr lang="en-US" sz="1800" dirty="0"/>
          </a:p>
          <a:p>
            <a:pPr algn="l" marL="228600" indent="-163321">
              <a:lnSpc>
                <a:spcPts val="2700"/>
              </a:lnSpc>
              <a:buSzPct val="100000"/>
              <a:buFont typeface="Arial"/>
              <a:buChar char="•"/>
            </a:pP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Exterior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residential,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on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</a:t>
            </a: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seasonal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calendar</a:t>
            </a:r>
            <a:endParaRPr lang="en-US" sz="1800" dirty="0"/>
          </a:p>
          <a:p>
            <a:pPr algn="l" marL="228600" indent="-163321">
              <a:lnSpc>
                <a:spcPts val="2700"/>
              </a:lnSpc>
              <a:buSzPct val="100000"/>
              <a:buFont typeface="Arial"/>
              <a:buChar char="•"/>
            </a:pP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Interior, cabinets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staining,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year-round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334500" y="2667000"/>
            <a:ext cx="7810500" cy="2952750"/>
          </a:xfrm>
          <a:prstGeom prst="roundRect">
            <a:avLst>
              <a:gd name="adj" fmla="val 6452"/>
            </a:avLst>
          </a:prstGeom>
          <a:solidFill>
            <a:srgbClr val="F3F3F5"/>
          </a:solidFill>
          <a:ln/>
        </p:spPr>
      </p:sp>
      <p:sp>
        <p:nvSpPr>
          <p:cNvPr id="8" name="Text 6"/>
          <p:cNvSpPr/>
          <p:nvPr/>
        </p:nvSpPr>
        <p:spPr>
          <a:xfrm>
            <a:off x="9677400" y="3009900"/>
            <a:ext cx="7124700" cy="340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25" b="1" dirty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Geographic targeting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9677400" y="3482181"/>
            <a:ext cx="7124700" cy="1794669"/>
          </a:xfrm>
          <a:prstGeom prst="rect">
            <a:avLst/>
          </a:prstGeom>
          <a:noFill/>
          <a:ln/>
        </p:spPr>
        <p:txBody>
          <a:bodyPr wrap="square" lIns="0" tIns="2958" rIns="0" bIns="-2958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South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Puget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Sound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 already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state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on your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site,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refined together: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Puyallup, Tacoma and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cities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 most want</a:t>
            </a:r>
            <a:r>
              <a:rPr lang="en-US" sz="1800" dirty="0" spc="-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work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from.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43000" y="5905500"/>
            <a:ext cx="7810500" cy="2952750"/>
          </a:xfrm>
          <a:prstGeom prst="roundRect">
            <a:avLst>
              <a:gd name="adj" fmla="val 6452"/>
            </a:avLst>
          </a:prstGeom>
          <a:solidFill>
            <a:srgbClr val="F3F3F5"/>
          </a:solidFill>
          <a:ln/>
        </p:spPr>
      </p:sp>
      <p:sp>
        <p:nvSpPr>
          <p:cNvPr id="11" name="Text 9"/>
          <p:cNvSpPr/>
          <p:nvPr/>
        </p:nvSpPr>
        <p:spPr>
          <a:xfrm>
            <a:off x="1485900" y="6248400"/>
            <a:ext cx="7124700" cy="340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25" b="1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Landing</a:t>
            </a:r>
            <a:r>
              <a:rPr lang="en-US" sz="2025" b="1" dirty="0" spc="-4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pages</a:t>
            </a:r>
            <a:endParaRPr lang="en-US" sz="2025" dirty="0"/>
          </a:p>
        </p:txBody>
      </p:sp>
      <p:sp>
        <p:nvSpPr>
          <p:cNvPr id="12" name="Text 10"/>
          <p:cNvSpPr/>
          <p:nvPr/>
        </p:nvSpPr>
        <p:spPr>
          <a:xfrm>
            <a:off x="1485900" y="6720681"/>
            <a:ext cx="7124700" cy="1794669"/>
          </a:xfrm>
          <a:prstGeom prst="rect">
            <a:avLst/>
          </a:prstGeom>
          <a:noFill/>
          <a:ln/>
        </p:spPr>
        <p:txBody>
          <a:bodyPr wrap="square" lIns="0" tIns="2958" rIns="0" bIns="-2958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 spc="-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</a:t>
            </a: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Request</a:t>
            </a:r>
            <a:r>
              <a:rPr lang="en-US" sz="1800" dirty="0" spc="5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Quote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form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already</a:t>
            </a:r>
            <a:r>
              <a:rPr lang="en-US" sz="1800" dirty="0" spc="-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works;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ads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point there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from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day</a:t>
            </a: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one.</a:t>
            </a:r>
            <a:r>
              <a:rPr lang="en-US" sz="1800" dirty="0" spc="4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dedicated exterior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page with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your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gallery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is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first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build</a:t>
            </a:r>
            <a:r>
              <a:rPr lang="en-US" sz="1800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we'd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add.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334500" y="5905500"/>
            <a:ext cx="7810500" cy="2952750"/>
          </a:xfrm>
          <a:prstGeom prst="roundRect">
            <a:avLst>
              <a:gd name="adj" fmla="val 6452"/>
            </a:avLst>
          </a:prstGeom>
          <a:solidFill>
            <a:srgbClr val="F3F3F5"/>
          </a:solidFill>
          <a:ln/>
        </p:spPr>
      </p:sp>
      <p:sp>
        <p:nvSpPr>
          <p:cNvPr id="14" name="Text 12"/>
          <p:cNvSpPr/>
          <p:nvPr/>
        </p:nvSpPr>
        <p:spPr>
          <a:xfrm>
            <a:off x="9677400" y="6248400"/>
            <a:ext cx="7124700" cy="340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25" b="1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Traffic</a:t>
            </a:r>
            <a:r>
              <a:rPr lang="en-US" sz="2025" b="1" dirty="0" spc="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quality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9677400" y="6720681"/>
            <a:ext cx="7124700" cy="1794669"/>
          </a:xfrm>
          <a:prstGeom prst="rect">
            <a:avLst/>
          </a:prstGeom>
          <a:noFill/>
          <a:ln/>
        </p:spPr>
        <p:txBody>
          <a:bodyPr wrap="square" lIns="0" tIns="2958" rIns="0" bIns="-2958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Negative</a:t>
            </a:r>
            <a:r>
              <a:rPr lang="en-US" sz="1800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keywords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filter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out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do-it-yourself,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art-supply,</a:t>
            </a: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job-seeker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out-of-area</a:t>
            </a: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searches,</a:t>
            </a:r>
            <a:r>
              <a:rPr lang="en-US" sz="1800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so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budget</a:t>
            </a: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goes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 people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hiring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painting</a:t>
            </a: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contractor.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9286875"/>
            <a:ext cx="142875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 spc="3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</a:t>
            </a:r>
            <a:r>
              <a:rPr lang="en-US" sz="1500" i="1" dirty="0" spc="0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proposed</a:t>
            </a:r>
            <a:r>
              <a:rPr lang="en-US" sz="1500" i="1" dirty="0" spc="2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approach</a:t>
            </a:r>
            <a:r>
              <a:rPr lang="en-US" sz="1500" i="1" dirty="0" spc="1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</a:t>
            </a:r>
            <a:r>
              <a:rPr lang="en-US" sz="1500" i="1" dirty="0" spc="0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discussion,</a:t>
            </a:r>
            <a:r>
              <a:rPr lang="en-US" sz="1500" i="1" dirty="0" spc="2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refined</a:t>
            </a:r>
            <a:r>
              <a:rPr lang="en-US" sz="1500" i="1" dirty="0" spc="-1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together</a:t>
            </a:r>
            <a:r>
              <a:rPr lang="en-US" sz="1500" i="1" dirty="0" spc="1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before anything launches.</a:t>
            </a:r>
            <a:r>
              <a:rPr lang="en-US" sz="1500" i="1" dirty="0" spc="-1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Not</a:t>
            </a:r>
            <a:r>
              <a:rPr lang="en-US" sz="1500" i="1" dirty="0" spc="1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 audit</a:t>
            </a:r>
            <a:r>
              <a:rPr lang="en-US" sz="1500" i="1" dirty="0" spc="0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of</a:t>
            </a:r>
            <a:r>
              <a:rPr lang="en-US" sz="1500" i="1" dirty="0" spc="1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any</a:t>
            </a:r>
            <a:r>
              <a:rPr lang="en-US" sz="1500" i="1" dirty="0" spc="0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existing account.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4a34aebf-bb75-46d1-bb7d-2518b893661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3335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377" kern="0" dirty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</a:t>
            </a:r>
            <a:r>
              <a:rPr lang="en-US" sz="1650" b="1" spc="374" kern="0" dirty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PROPOSED</a:t>
            </a:r>
            <a:r>
              <a:rPr lang="en-US" sz="1650" b="1" spc="377" kern="0" dirty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CUSTOMER</a:t>
            </a:r>
            <a:r>
              <a:rPr lang="en-US" sz="1650" b="1" spc="375" kern="0" dirty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JOURNEY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428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How</a:t>
            </a:r>
            <a:r>
              <a:rPr lang="en-US" sz="4200" b="1" dirty="0" spc="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</a:t>
            </a:r>
            <a:r>
              <a:rPr lang="en-US" sz="4200" b="1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quote</a:t>
            </a:r>
            <a:r>
              <a:rPr lang="en-US" sz="4200" b="1" dirty="0" spc="-3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request</a:t>
            </a:r>
            <a:r>
              <a:rPr lang="en-US" sz="4200" b="1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reaches</a:t>
            </a:r>
            <a:r>
              <a:rPr lang="en-US" sz="4200" b="1" dirty="0" spc="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143000" y="3143250"/>
            <a:ext cx="2819400" cy="3238500"/>
          </a:xfrm>
          <a:prstGeom prst="roundRect">
            <a:avLst>
              <a:gd name="adj" fmla="val 6757"/>
            </a:avLst>
          </a:prstGeom>
          <a:solidFill>
            <a:srgbClr val="F3F3F5"/>
          </a:solidFill>
          <a:ln/>
        </p:spPr>
      </p:sp>
      <p:sp>
        <p:nvSpPr>
          <p:cNvPr id="5" name="Text 3"/>
          <p:cNvSpPr/>
          <p:nvPr/>
        </p:nvSpPr>
        <p:spPr>
          <a:xfrm>
            <a:off x="1409700" y="340995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FFA73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" kern="0">
                <a:solidFill>
                  <a:srgbClr val="10111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409700" y="4076700"/>
            <a:ext cx="2286000" cy="666750"/>
          </a:xfrm>
          <a:prstGeom prst="rect">
            <a:avLst/>
          </a:prstGeom>
          <a:noFill/>
          <a:ln/>
        </p:spPr>
        <p:txBody>
          <a:bodyPr wrap="square" lIns="0" tIns="18667" rIns="0" bIns="-18667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b="1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They</a:t>
            </a:r>
            <a:r>
              <a:rPr lang="en-US" sz="1950" b="1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search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409700" y="4876800"/>
            <a:ext cx="2286000" cy="1238250"/>
          </a:xfrm>
          <a:prstGeom prst="rect">
            <a:avLst/>
          </a:prstGeom>
          <a:noFill/>
          <a:ln/>
        </p:spPr>
        <p:txBody>
          <a:bodyPr wrap="square" lIns="0" tIns="7950" rIns="0" bIns="-795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 spc="6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</a:t>
            </a:r>
            <a:r>
              <a:rPr lang="en-US" sz="165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facility</a:t>
            </a:r>
            <a:r>
              <a:rPr lang="en-US" sz="165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manager, or</a:t>
            </a:r>
            <a:r>
              <a:rPr lang="en-US" sz="1650" dirty="0" spc="4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</a:t>
            </a:r>
            <a:r>
              <a:rPr lang="en-US" sz="165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homeowner</a:t>
            </a:r>
            <a:r>
              <a:rPr lang="en-US" sz="165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pricing</a:t>
            </a:r>
            <a:r>
              <a:rPr lang="en-US" sz="1650" dirty="0" spc="4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</a:t>
            </a:r>
            <a:r>
              <a:rPr lang="en-US" sz="165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repaint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4438650" y="3143250"/>
            <a:ext cx="2819400" cy="3238500"/>
          </a:xfrm>
          <a:prstGeom prst="roundRect">
            <a:avLst>
              <a:gd name="adj" fmla="val 6757"/>
            </a:avLst>
          </a:prstGeom>
          <a:solidFill>
            <a:srgbClr val="F3F3F5"/>
          </a:solidFill>
          <a:ln/>
        </p:spPr>
      </p:sp>
      <p:sp>
        <p:nvSpPr>
          <p:cNvPr id="9" name="Text 7"/>
          <p:cNvSpPr/>
          <p:nvPr/>
        </p:nvSpPr>
        <p:spPr>
          <a:xfrm>
            <a:off x="4705350" y="340995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FFA73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" kern="0">
                <a:solidFill>
                  <a:srgbClr val="10111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705350" y="4076700"/>
            <a:ext cx="2286000" cy="666750"/>
          </a:xfrm>
          <a:prstGeom prst="rect">
            <a:avLst/>
          </a:prstGeom>
          <a:noFill/>
          <a:ln/>
        </p:spPr>
        <p:txBody>
          <a:bodyPr wrap="square" lIns="0" tIns="18667" rIns="0" bIns="-18667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b="1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They</a:t>
            </a:r>
            <a:r>
              <a:rPr lang="en-US" sz="1950" b="1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see</a:t>
            </a:r>
            <a:r>
              <a:rPr lang="en-US" sz="1950" b="1" dirty="0" spc="-4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your</a:t>
            </a:r>
            <a:r>
              <a:rPr lang="en-US" sz="1950" b="1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ad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4705350" y="4876800"/>
            <a:ext cx="2286000" cy="1238250"/>
          </a:xfrm>
          <a:prstGeom prst="rect">
            <a:avLst/>
          </a:prstGeom>
          <a:noFill/>
          <a:ln/>
        </p:spPr>
        <p:txBody>
          <a:bodyPr wrap="square" lIns="0" tIns="7950" rIns="0" bIns="-795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Leading</a:t>
            </a:r>
            <a:r>
              <a:rPr lang="en-US" sz="165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with your</a:t>
            </a:r>
            <a:r>
              <a:rPr lang="en-US" sz="165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commercial proof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7734300" y="3143250"/>
            <a:ext cx="2819400" cy="3238500"/>
          </a:xfrm>
          <a:prstGeom prst="roundRect">
            <a:avLst>
              <a:gd name="adj" fmla="val 6757"/>
            </a:avLst>
          </a:prstGeom>
          <a:solidFill>
            <a:srgbClr val="F3F3F5"/>
          </a:solidFill>
          <a:ln/>
        </p:spPr>
      </p:sp>
      <p:sp>
        <p:nvSpPr>
          <p:cNvPr id="13" name="Text 11"/>
          <p:cNvSpPr/>
          <p:nvPr/>
        </p:nvSpPr>
        <p:spPr>
          <a:xfrm>
            <a:off x="8001000" y="340995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FFA73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" kern="0">
                <a:solidFill>
                  <a:srgbClr val="10111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8001000" y="4076700"/>
            <a:ext cx="2286000" cy="666750"/>
          </a:xfrm>
          <a:prstGeom prst="rect">
            <a:avLst/>
          </a:prstGeom>
          <a:noFill/>
          <a:ln/>
        </p:spPr>
        <p:txBody>
          <a:bodyPr wrap="square" lIns="0" tIns="18667" rIns="0" bIns="-18667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b="1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They</a:t>
            </a:r>
            <a:r>
              <a:rPr lang="en-US" sz="1950" b="1" dirty="0" spc="-3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land</a:t>
            </a:r>
            <a:r>
              <a:rPr lang="en-US" sz="1950" b="1" dirty="0" spc="-6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on</a:t>
            </a:r>
            <a:r>
              <a:rPr lang="en-US" sz="1950" b="1" dirty="0" spc="-5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your</a:t>
            </a:r>
            <a:r>
              <a:rPr lang="en-US" sz="1950" b="1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page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8001000" y="4876800"/>
            <a:ext cx="2286000" cy="1238250"/>
          </a:xfrm>
          <a:prstGeom prst="rect">
            <a:avLst/>
          </a:prstGeom>
          <a:noFill/>
          <a:ln/>
        </p:spPr>
        <p:txBody>
          <a:bodyPr wrap="square" lIns="0" tIns="7950" rIns="0" bIns="-795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Gallery,</a:t>
            </a:r>
            <a:r>
              <a:rPr lang="en-US" sz="165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licence</a:t>
            </a:r>
            <a:r>
              <a:rPr lang="en-US" sz="165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</a:t>
            </a:r>
            <a:r>
              <a:rPr lang="en-US" sz="165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</a:t>
            </a:r>
            <a:r>
              <a:rPr lang="en-US" sz="165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quote</a:t>
            </a:r>
            <a:r>
              <a:rPr lang="en-US" sz="165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form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1029950" y="3143250"/>
            <a:ext cx="2819400" cy="3238500"/>
          </a:xfrm>
          <a:prstGeom prst="roundRect">
            <a:avLst>
              <a:gd name="adj" fmla="val 6757"/>
            </a:avLst>
          </a:prstGeom>
          <a:solidFill>
            <a:srgbClr val="F3F3F5"/>
          </a:solidFill>
          <a:ln/>
        </p:spPr>
      </p:sp>
      <p:sp>
        <p:nvSpPr>
          <p:cNvPr id="17" name="Text 15"/>
          <p:cNvSpPr/>
          <p:nvPr/>
        </p:nvSpPr>
        <p:spPr>
          <a:xfrm>
            <a:off x="11296650" y="340995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FFA73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" kern="0">
                <a:solidFill>
                  <a:srgbClr val="10111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1296650" y="4076700"/>
            <a:ext cx="2286000" cy="666750"/>
          </a:xfrm>
          <a:prstGeom prst="rect">
            <a:avLst/>
          </a:prstGeom>
          <a:noFill/>
          <a:ln/>
        </p:spPr>
        <p:txBody>
          <a:bodyPr wrap="square" lIns="0" tIns="18667" rIns="0" bIns="-18667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b="1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They</a:t>
            </a:r>
            <a:r>
              <a:rPr lang="en-US" sz="1950" b="1" dirty="0" spc="-3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request</a:t>
            </a:r>
            <a:r>
              <a:rPr lang="en-US" sz="1950" b="1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</a:t>
            </a:r>
            <a:r>
              <a:rPr lang="en-US" sz="1950" b="1" dirty="0" spc="-4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quote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1296650" y="4876800"/>
            <a:ext cx="2286000" cy="1238250"/>
          </a:xfrm>
          <a:prstGeom prst="rect">
            <a:avLst/>
          </a:prstGeom>
          <a:noFill/>
          <a:ln/>
        </p:spPr>
        <p:txBody>
          <a:bodyPr wrap="square" lIns="0" tIns="7950" rIns="0" bIns="-795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</a:t>
            </a:r>
            <a:r>
              <a:rPr lang="en-US" sz="165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existing</a:t>
            </a:r>
            <a:r>
              <a:rPr lang="en-US" sz="165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form, or</a:t>
            </a:r>
            <a:r>
              <a:rPr lang="en-US" sz="1650" dirty="0" spc="4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 call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4325600" y="3143250"/>
            <a:ext cx="2819400" cy="3238500"/>
          </a:xfrm>
          <a:prstGeom prst="roundRect">
            <a:avLst>
              <a:gd name="adj" fmla="val 6757"/>
            </a:avLst>
          </a:prstGeom>
          <a:solidFill>
            <a:srgbClr val="101112"/>
          </a:solidFill>
          <a:ln/>
        </p:spPr>
      </p:sp>
      <p:sp>
        <p:nvSpPr>
          <p:cNvPr id="21" name="Text 19"/>
          <p:cNvSpPr/>
          <p:nvPr/>
        </p:nvSpPr>
        <p:spPr>
          <a:xfrm>
            <a:off x="14592300" y="340995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FFA73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" kern="0">
                <a:solidFill>
                  <a:srgbClr val="10111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4592300" y="4076700"/>
            <a:ext cx="2286000" cy="666750"/>
          </a:xfrm>
          <a:prstGeom prst="rect">
            <a:avLst/>
          </a:prstGeom>
          <a:noFill/>
          <a:ln/>
        </p:spPr>
        <p:txBody>
          <a:bodyPr wrap="square" lIns="0" tIns="18667" rIns="0" bIns="-18667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b="1" dirty="0" spc="-2" kern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 see</a:t>
            </a:r>
            <a:r>
              <a:rPr lang="en-US" sz="1950" b="1" dirty="0" spc="-5" kern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it</a:t>
            </a:r>
            <a:r>
              <a:rPr lang="en-US" sz="1950" b="1" dirty="0" spc="-3" kern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all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4592300" y="4876800"/>
            <a:ext cx="2286000" cy="1238250"/>
          </a:xfrm>
          <a:prstGeom prst="rect">
            <a:avLst/>
          </a:prstGeom>
          <a:noFill/>
          <a:ln/>
        </p:spPr>
        <p:txBody>
          <a:bodyPr wrap="square" lIns="0" tIns="7950" rIns="0" bIns="-795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 spc="1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Every</a:t>
            </a:r>
            <a:r>
              <a:rPr lang="en-US" sz="1650" dirty="0" spc="4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call</a:t>
            </a:r>
            <a:r>
              <a:rPr lang="en-US" sz="1650" dirty="0" spc="1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</a:t>
            </a:r>
            <a:r>
              <a:rPr lang="en-US" sz="1650" dirty="0" spc="3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form</a:t>
            </a:r>
            <a:r>
              <a:rPr lang="en-US" sz="1650" dirty="0" spc="2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tracked</a:t>
            </a:r>
            <a:r>
              <a:rPr lang="en-US" sz="1650" dirty="0" spc="1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refined</a:t>
            </a:r>
            <a:endParaRPr lang="en-US" sz="1650" dirty="0"/>
          </a:p>
        </p:txBody>
      </p:sp>
      <p:sp>
        <p:nvSpPr>
          <p:cNvPr id="24" name="Connector line-1792012290901-512792157"/>
          <p:cNvSpPr/>
          <p:nvPr/>
        </p:nvSpPr>
        <p:spPr>
          <a:xfrm>
            <a:off x="4019550" y="4762500"/>
            <a:ext cx="361950" cy="0"/>
          </a:xfrm>
          <a:prstGeom prst="line">
            <a:avLst/>
          </a:prstGeom>
          <a:noFill/>
          <a:ln w="28575">
            <a:solidFill>
              <a:srgbClr val="919399"/>
            </a:solidFill>
            <a:prstDash val="solid"/>
            <a:headEnd type="none"/>
            <a:tailEnd type="triangle" w="lg" len="lg"/>
          </a:ln>
        </p:spPr>
      </p:sp>
      <p:sp>
        <p:nvSpPr>
          <p:cNvPr id="25" name="Connector line-1792012290902-90461028"/>
          <p:cNvSpPr/>
          <p:nvPr/>
        </p:nvSpPr>
        <p:spPr>
          <a:xfrm>
            <a:off x="7315200" y="4762500"/>
            <a:ext cx="361950" cy="0"/>
          </a:xfrm>
          <a:prstGeom prst="line">
            <a:avLst/>
          </a:prstGeom>
          <a:noFill/>
          <a:ln w="28575">
            <a:solidFill>
              <a:srgbClr val="919399"/>
            </a:solidFill>
            <a:prstDash val="solid"/>
            <a:headEnd type="none"/>
            <a:tailEnd type="triangle" w="lg" len="lg"/>
          </a:ln>
        </p:spPr>
      </p:sp>
      <p:sp>
        <p:nvSpPr>
          <p:cNvPr id="26" name="Connector line-1792012290902-446235167"/>
          <p:cNvSpPr/>
          <p:nvPr/>
        </p:nvSpPr>
        <p:spPr>
          <a:xfrm>
            <a:off x="10610850" y="4762500"/>
            <a:ext cx="361950" cy="0"/>
          </a:xfrm>
          <a:prstGeom prst="line">
            <a:avLst/>
          </a:prstGeom>
          <a:noFill/>
          <a:ln w="28575">
            <a:solidFill>
              <a:srgbClr val="919399"/>
            </a:solidFill>
            <a:prstDash val="solid"/>
            <a:headEnd type="none"/>
            <a:tailEnd type="triangle" w="lg" len="lg"/>
          </a:ln>
        </p:spPr>
      </p:sp>
      <p:sp>
        <p:nvSpPr>
          <p:cNvPr id="27" name="Connector line-1792012290902-223664326"/>
          <p:cNvSpPr/>
          <p:nvPr/>
        </p:nvSpPr>
        <p:spPr>
          <a:xfrm>
            <a:off x="13906500" y="4762500"/>
            <a:ext cx="361950" cy="0"/>
          </a:xfrm>
          <a:prstGeom prst="line">
            <a:avLst/>
          </a:prstGeom>
          <a:noFill/>
          <a:ln w="28575">
            <a:solidFill>
              <a:srgbClr val="919399"/>
            </a:solidFill>
            <a:prstDash val="solid"/>
            <a:headEnd type="none"/>
            <a:tailEnd type="triangle" w="lg" len="lg"/>
          </a:ln>
        </p:spPr>
      </p:sp>
      <p:sp>
        <p:nvSpPr>
          <p:cNvPr id="28" name="Shape 26"/>
          <p:cNvSpPr/>
          <p:nvPr/>
        </p:nvSpPr>
        <p:spPr>
          <a:xfrm>
            <a:off x="1143000" y="7239000"/>
            <a:ext cx="16002000" cy="1524000"/>
          </a:xfrm>
          <a:prstGeom prst="roundRect">
            <a:avLst>
              <a:gd name="adj" fmla="val 12500"/>
            </a:avLst>
          </a:prstGeom>
          <a:solidFill>
            <a:srgbClr val="F3F3F5"/>
          </a:solidFill>
          <a:ln/>
        </p:spPr>
      </p:sp>
      <p:sp>
        <p:nvSpPr>
          <p:cNvPr id="29" name="Text 27"/>
          <p:cNvSpPr/>
          <p:nvPr/>
        </p:nvSpPr>
        <p:spPr>
          <a:xfrm>
            <a:off x="1485900" y="7581900"/>
            <a:ext cx="15316200" cy="762000"/>
          </a:xfrm>
          <a:prstGeom prst="rect">
            <a:avLst/>
          </a:prstGeom>
          <a:noFill/>
          <a:ln/>
        </p:spPr>
        <p:txBody>
          <a:bodyPr wrap="square" lIns="0" tIns="6050" rIns="0" bIns="-6050" rtlCol="0" anchor="ctr"/>
          <a:lstStyle/>
          <a:p>
            <a:pPr algn="l" indent="0" marL="0">
              <a:lnSpc>
                <a:spcPts val="2719"/>
              </a:lnSpc>
              <a:buNone/>
            </a:pPr>
            <a:r>
              <a:rPr lang="en-US" sz="1875" dirty="0" spc="3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</a:t>
            </a:r>
            <a:r>
              <a:rPr lang="en-US" sz="1875" dirty="0" spc="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every</a:t>
            </a:r>
            <a:r>
              <a:rPr lang="en-US" sz="1875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click</a:t>
            </a:r>
            <a:r>
              <a:rPr lang="en-US" sz="1875" dirty="0" spc="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becomes a</a:t>
            </a:r>
            <a:r>
              <a:rPr lang="en-US" sz="1875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job,</a:t>
            </a:r>
            <a:r>
              <a:rPr lang="en-US" sz="1875" dirty="0" spc="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we</a:t>
            </a:r>
            <a:r>
              <a:rPr lang="en-US" sz="1875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will</a:t>
            </a:r>
            <a:r>
              <a:rPr lang="en-US" sz="1875" dirty="0" spc="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never pretend</a:t>
            </a:r>
            <a:r>
              <a:rPr lang="en-US" sz="1875" dirty="0" spc="3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otherwise.</a:t>
            </a:r>
            <a:r>
              <a:rPr lang="en-US" sz="1875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</a:t>
            </a:r>
            <a:r>
              <a:rPr lang="en-US" sz="1875" dirty="0" spc="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point</a:t>
            </a:r>
            <a:r>
              <a:rPr lang="en-US" sz="1875" dirty="0" spc="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of this</a:t>
            </a:r>
            <a:r>
              <a:rPr lang="en-US" sz="1875" dirty="0" spc="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journey</a:t>
            </a:r>
            <a:r>
              <a:rPr lang="en-US" sz="1875" dirty="0" spc="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is</a:t>
            </a:r>
            <a:r>
              <a:rPr lang="en-US" sz="1875" dirty="0" spc="3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that</a:t>
            </a:r>
            <a:r>
              <a:rPr lang="en-US" sz="1875" dirty="0" spc="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every step</a:t>
            </a:r>
            <a:r>
              <a:rPr lang="en-US" sz="1875" dirty="0" spc="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is</a:t>
            </a:r>
            <a:r>
              <a:rPr lang="en-US" sz="1875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visible,</a:t>
            </a:r>
            <a:r>
              <a:rPr lang="en-US" sz="1875" dirty="0" spc="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measured and improvable.</a:t>
            </a:r>
            <a:endParaRPr lang="en-US" sz="1875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261ea450-2a54-49a0-b113-a6a0794f758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3335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376" kern="0" dirty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MEASUREMENT</a:t>
            </a:r>
            <a:r>
              <a:rPr lang="en-US" sz="1650" b="1" spc="377" kern="0" dirty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OPTIMIZATION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428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You'll</a:t>
            </a:r>
            <a:r>
              <a:rPr lang="en-US" sz="4200" b="1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always</a:t>
            </a:r>
            <a:r>
              <a:rPr lang="en-US" sz="4200" b="1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see</a:t>
            </a:r>
            <a:r>
              <a:rPr lang="en-US" sz="4200" b="1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what's</a:t>
            </a:r>
            <a:r>
              <a:rPr lang="en-US" sz="4200" b="1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working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143000" y="2667000"/>
            <a:ext cx="9334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2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What</a:t>
            </a:r>
            <a:r>
              <a:rPr lang="en-US" sz="1950" dirty="0" spc="-1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we</a:t>
            </a:r>
            <a:r>
              <a:rPr lang="en-US" sz="1950" dirty="0" spc="0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measure</a:t>
            </a:r>
            <a:r>
              <a:rPr lang="en-US" sz="1950" dirty="0" spc="1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and</a:t>
            </a:r>
            <a:r>
              <a:rPr lang="en-US" sz="1950" dirty="0" spc="0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act</a:t>
            </a:r>
            <a:r>
              <a:rPr lang="en-US" sz="1950" dirty="0" spc="-1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on:</a:t>
            </a:r>
            <a:endParaRPr lang="en-US" sz="1950" dirty="0"/>
          </a:p>
        </p:txBody>
      </p:sp>
      <p:sp>
        <p:nvSpPr>
          <p:cNvPr id="5" name="Text richtext-1792012332999-475380633"/>
          <p:cNvSpPr/>
          <p:nvPr/>
        </p:nvSpPr>
        <p:spPr>
          <a:xfrm>
            <a:off x="1143000" y="3238500"/>
            <a:ext cx="9334500" cy="4191000"/>
          </a:xfrm>
          <a:prstGeom prst="rect">
            <a:avLst/>
          </a:prstGeom>
          <a:noFill/>
          <a:ln/>
        </p:spPr>
        <p:txBody>
          <a:bodyPr wrap="square" lIns="0" tIns="-2872" rIns="0" bIns="2872" rtlCol="0" anchor="t"/>
          <a:lstStyle/>
          <a:p>
            <a:pPr algn="l" marL="238125" indent="-170126">
              <a:lnSpc>
                <a:spcPts val="3000"/>
              </a:lnSpc>
              <a:buSzPct val="100000"/>
              <a:buFont typeface="Arial"/>
              <a:buChar char="•"/>
            </a:pPr>
            <a:r>
              <a:rPr lang="en-US" sz="1875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Quote-form submissions</a:t>
            </a:r>
            <a:r>
              <a:rPr lang="en-US" sz="1875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</a:t>
            </a:r>
            <a:r>
              <a:rPr lang="en-US" sz="1875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calls, tracked</a:t>
            </a:r>
            <a:r>
              <a:rPr lang="en-US" sz="1875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 the search</a:t>
            </a:r>
            <a:r>
              <a:rPr lang="en-US" sz="1875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that</a:t>
            </a:r>
            <a:r>
              <a:rPr lang="en-US" sz="1875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produced</a:t>
            </a:r>
            <a:r>
              <a:rPr lang="en-US" sz="1875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them</a:t>
            </a:r>
            <a:endParaRPr lang="en-US" sz="1875" dirty="0"/>
          </a:p>
          <a:p>
            <a:pPr algn="l" marL="238125" indent="-170126">
              <a:lnSpc>
                <a:spcPts val="3000"/>
              </a:lnSpc>
              <a:buSzPct val="100000"/>
              <a:buFont typeface="Arial"/>
              <a:buChar char="•"/>
            </a:pPr>
            <a:r>
              <a:rPr lang="en-US" sz="1875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Commercial and residential inquiries, measured</a:t>
            </a:r>
            <a:r>
              <a:rPr lang="en-US" sz="1875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separately</a:t>
            </a:r>
            <a:endParaRPr lang="en-US" sz="1875" dirty="0"/>
          </a:p>
          <a:p>
            <a:pPr algn="l" marL="238125" indent="-170126">
              <a:lnSpc>
                <a:spcPts val="3000"/>
              </a:lnSpc>
              <a:buSzPct val="100000"/>
              <a:buFont typeface="Arial"/>
              <a:buChar char="•"/>
            </a:pPr>
            <a:r>
              <a:rPr lang="en-US" sz="1875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Search-term reviews,</a:t>
            </a:r>
            <a:r>
              <a:rPr lang="en-US" sz="1875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so</a:t>
            </a:r>
            <a:r>
              <a:rPr lang="en-US" sz="1875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budget moves</a:t>
            </a:r>
            <a:r>
              <a:rPr lang="en-US" sz="1875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toward</a:t>
            </a:r>
            <a:r>
              <a:rPr lang="en-US" sz="1875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what brings</a:t>
            </a:r>
            <a:r>
              <a:rPr lang="en-US" sz="1875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quote</a:t>
            </a:r>
            <a:r>
              <a:rPr lang="en-US" sz="1875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requests</a:t>
            </a:r>
            <a:endParaRPr lang="en-US" sz="1875" dirty="0"/>
          </a:p>
          <a:p>
            <a:pPr algn="l" marL="238125" indent="-170126">
              <a:lnSpc>
                <a:spcPts val="3000"/>
              </a:lnSpc>
              <a:buSzPct val="100000"/>
              <a:buFont typeface="Arial"/>
              <a:buChar char="•"/>
            </a:pPr>
            <a:r>
              <a:rPr lang="en-US" sz="1875" dirty="0" spc="5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Cost</a:t>
            </a:r>
            <a:r>
              <a:rPr lang="en-US" sz="1875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per</a:t>
            </a:r>
            <a:r>
              <a:rPr lang="en-US" sz="1875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inquiry, once</a:t>
            </a:r>
            <a:r>
              <a:rPr lang="en-US" sz="1875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enough</a:t>
            </a:r>
            <a:r>
              <a:rPr lang="en-US" sz="1875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reliable</a:t>
            </a:r>
            <a:r>
              <a:rPr lang="en-US" sz="1875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data</a:t>
            </a:r>
            <a:r>
              <a:rPr lang="en-US" sz="1875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accumulates</a:t>
            </a:r>
            <a:endParaRPr lang="en-US" sz="1875" dirty="0"/>
          </a:p>
          <a:p>
            <a:pPr algn="l" marL="238125" indent="-170126">
              <a:lnSpc>
                <a:spcPts val="3000"/>
              </a:lnSpc>
              <a:buSzPct val="100000"/>
              <a:buFont typeface="Arial"/>
              <a:buChar char="•"/>
            </a:pPr>
            <a:r>
              <a:rPr lang="en-US" sz="1875" dirty="0" spc="-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</a:t>
            </a:r>
            <a:r>
              <a:rPr lang="en-US" sz="1875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plain-English monthly report,</a:t>
            </a:r>
            <a:r>
              <a:rPr lang="en-US" sz="1875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not</a:t>
            </a:r>
            <a:r>
              <a:rPr lang="en-US" sz="1875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 spreadsheet</a:t>
            </a:r>
            <a:r>
              <a:rPr lang="en-US" sz="1875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dump</a:t>
            </a:r>
            <a:endParaRPr lang="en-US" sz="1875" dirty="0"/>
          </a:p>
        </p:txBody>
      </p:sp>
      <p:sp>
        <p:nvSpPr>
          <p:cNvPr id="6" name="Shape 4"/>
          <p:cNvSpPr/>
          <p:nvPr/>
        </p:nvSpPr>
        <p:spPr>
          <a:xfrm>
            <a:off x="11049000" y="2667000"/>
            <a:ext cx="6096000" cy="4762500"/>
          </a:xfrm>
          <a:prstGeom prst="roundRect">
            <a:avLst>
              <a:gd name="adj" fmla="val 4000"/>
            </a:avLst>
          </a:prstGeom>
          <a:solidFill>
            <a:srgbClr val="101112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0" y="3048000"/>
            <a:ext cx="533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25" b="1" dirty="0" spc="1" kern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</a:t>
            </a:r>
            <a:r>
              <a:rPr lang="en-US" sz="2025" b="1" dirty="0" spc="-2" kern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we</a:t>
            </a:r>
            <a:r>
              <a:rPr lang="en-US" sz="2025" b="1" dirty="0" spc="2" kern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won't</a:t>
            </a:r>
            <a:r>
              <a:rPr lang="en-US" sz="2025" b="1" dirty="0" spc="-1" kern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do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11430000" y="3543300"/>
            <a:ext cx="5334000" cy="3143250"/>
          </a:xfrm>
          <a:prstGeom prst="rect">
            <a:avLst/>
          </a:prstGeom>
          <a:noFill/>
          <a:ln/>
        </p:spPr>
        <p:txBody>
          <a:bodyPr wrap="square" lIns="0" tIns="100" rIns="0" bIns="-10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Promise</a:t>
            </a:r>
            <a:r>
              <a:rPr lang="en-US" sz="180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</a:t>
            </a:r>
            <a:r>
              <a:rPr lang="en-US" sz="180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number of</a:t>
            </a:r>
            <a:r>
              <a:rPr lang="en-US" sz="180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leads.</a:t>
            </a:r>
            <a:r>
              <a:rPr lang="en-US" sz="180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Guarantee outcomes.</a:t>
            </a:r>
            <a:r>
              <a:rPr lang="en-US" sz="180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Keep spending</a:t>
            </a:r>
            <a:r>
              <a:rPr lang="en-US" sz="180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where</a:t>
            </a:r>
            <a:r>
              <a:rPr lang="en-US" sz="1800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</a:t>
            </a:r>
            <a:r>
              <a:rPr lang="en-US" sz="180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evidence</a:t>
            </a:r>
            <a:r>
              <a:rPr lang="en-US" sz="180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says</a:t>
            </a:r>
            <a:r>
              <a:rPr lang="en-US" sz="180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stop.</a:t>
            </a:r>
            <a:endParaRPr lang="en-US" sz="1800" dirty="0"/>
          </a:p>
          <a:p>
            <a:pPr algn="l" indent="0" marL="0">
              <a:lnSpc>
                <a:spcPts val="2790"/>
              </a:lnSpc>
              <a:buNone/>
            </a:pPr>
            <a:r>
              <a:rPr lang="en-US" sz="180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Call</a:t>
            </a:r>
            <a:r>
              <a:rPr lang="en-US" sz="180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tracking and</a:t>
            </a:r>
            <a:r>
              <a:rPr lang="en-US" sz="180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conversion</a:t>
            </a:r>
            <a:r>
              <a:rPr lang="en-US" sz="180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measurement don't</a:t>
            </a:r>
            <a:r>
              <a:rPr lang="en-US" sz="180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exist</a:t>
            </a:r>
            <a:r>
              <a:rPr lang="en-US" sz="1800" dirty="0" spc="4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until</a:t>
            </a:r>
            <a:r>
              <a:rPr lang="en-US" sz="180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someone</a:t>
            </a:r>
            <a:r>
              <a:rPr lang="en-US" sz="1800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builds them,</a:t>
            </a:r>
            <a:r>
              <a:rPr lang="en-US" sz="1800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so</a:t>
            </a:r>
            <a:r>
              <a:rPr lang="en-US" sz="180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we</a:t>
            </a:r>
            <a:r>
              <a:rPr lang="en-US" sz="1800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build</a:t>
            </a:r>
            <a:r>
              <a:rPr lang="en-US" sz="1800" dirty="0" spc="4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them</a:t>
            </a:r>
            <a:r>
              <a:rPr lang="en-US" sz="180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as</a:t>
            </a:r>
            <a:r>
              <a:rPr lang="en-US" sz="180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part of</a:t>
            </a:r>
            <a:r>
              <a:rPr lang="en-US" sz="1800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</a:t>
            </a:r>
            <a:r>
              <a:rPr lang="en-US" sz="180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setup.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9144000"/>
            <a:ext cx="142875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 spc="0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Decisions follow</a:t>
            </a:r>
            <a:r>
              <a:rPr lang="en-US" sz="1500" i="1" dirty="0" spc="1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evidence from</a:t>
            </a:r>
            <a:r>
              <a:rPr lang="en-US" sz="1500" i="1" dirty="0" spc="2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your</a:t>
            </a:r>
            <a:r>
              <a:rPr lang="en-US" sz="1500" i="1" dirty="0" spc="-1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own</a:t>
            </a:r>
            <a:r>
              <a:rPr lang="en-US" sz="1500" i="1" dirty="0" spc="1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campaign</a:t>
            </a:r>
            <a:r>
              <a:rPr lang="en-US" sz="1500" i="1" dirty="0" spc="-1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data,</a:t>
            </a:r>
            <a:r>
              <a:rPr lang="en-US" sz="1500" i="1" dirty="0" spc="1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never industry averages.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1" name="Moda image moda-export-watermark-8abc12cd-2f65-42a4-b697-200928372b6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3335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374" kern="0" dirty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PROPOSED</a:t>
            </a:r>
            <a:r>
              <a:rPr lang="en-US" sz="1650" b="1" spc="376" kern="0" dirty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IMPLEMENTATION</a:t>
            </a:r>
            <a:r>
              <a:rPr lang="en-US" sz="1650" b="1" spc="375" kern="0" dirty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PROCESS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428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How</a:t>
            </a:r>
            <a:r>
              <a:rPr lang="en-US" sz="4200" b="1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we'd</a:t>
            </a:r>
            <a:r>
              <a:rPr lang="en-US" sz="4200" b="1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work</a:t>
            </a:r>
            <a:r>
              <a:rPr lang="en-US" sz="4200" b="1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together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143000" y="2857500"/>
            <a:ext cx="5105400" cy="1905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409700" y="312420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FFA73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4" kern="0">
                <a:solidFill>
                  <a:srgbClr val="10111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09700" y="3649133"/>
            <a:ext cx="4572000" cy="846667"/>
          </a:xfrm>
          <a:prstGeom prst="rect">
            <a:avLst/>
          </a:prstGeom>
          <a:noFill/>
          <a:ln/>
        </p:spPr>
        <p:txBody>
          <a:bodyPr wrap="square" lIns="0" tIns="8312" rIns="0" bIns="-8312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sz="1725" dirty="0" spc="0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Confirm</a:t>
            </a:r>
            <a:r>
              <a:rPr lang="en-US" sz="1725" dirty="0" spc="-2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your commercial</a:t>
            </a:r>
            <a:r>
              <a:rPr lang="en-US" sz="1725" dirty="0" spc="-1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and residential</a:t>
            </a:r>
            <a:r>
              <a:rPr lang="en-US" sz="1725" dirty="0" spc="0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priorities</a:t>
            </a:r>
            <a:r>
              <a:rPr lang="en-US" sz="1725" dirty="0" spc="-1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and</a:t>
            </a:r>
            <a:r>
              <a:rPr lang="en-US" sz="1725" dirty="0" spc="-2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budget</a:t>
            </a:r>
            <a:endParaRPr lang="en-US" sz="1725" dirty="0"/>
          </a:p>
        </p:txBody>
      </p:sp>
      <p:sp>
        <p:nvSpPr>
          <p:cNvPr id="7" name="Shape 5"/>
          <p:cNvSpPr/>
          <p:nvPr/>
        </p:nvSpPr>
        <p:spPr>
          <a:xfrm>
            <a:off x="6591300" y="2857500"/>
            <a:ext cx="5105400" cy="1905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0" y="312420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FFA73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4" kern="0">
                <a:solidFill>
                  <a:srgbClr val="10111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0" y="3649133"/>
            <a:ext cx="4572000" cy="846667"/>
          </a:xfrm>
          <a:prstGeom prst="rect">
            <a:avLst/>
          </a:prstGeom>
          <a:noFill/>
          <a:ln/>
        </p:spPr>
        <p:txBody>
          <a:bodyPr wrap="square" lIns="0" tIns="8312" rIns="0" bIns="-8312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sz="1725" dirty="0" spc="-2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Agree</a:t>
            </a:r>
            <a:r>
              <a:rPr lang="en-US" sz="1725" dirty="0" spc="-4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the</a:t>
            </a:r>
            <a:r>
              <a:rPr lang="en-US" sz="1725" dirty="0" spc="-1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season</a:t>
            </a:r>
            <a:r>
              <a:rPr lang="en-US" sz="1725" dirty="0" spc="-2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calendar together</a:t>
            </a:r>
            <a:endParaRPr lang="en-US" sz="1725" dirty="0"/>
          </a:p>
        </p:txBody>
      </p:sp>
      <p:sp>
        <p:nvSpPr>
          <p:cNvPr id="10" name="Shape 8"/>
          <p:cNvSpPr/>
          <p:nvPr/>
        </p:nvSpPr>
        <p:spPr>
          <a:xfrm>
            <a:off x="12039600" y="2857500"/>
            <a:ext cx="5105400" cy="1905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2306300" y="312420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FFA73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4" kern="0">
                <a:solidFill>
                  <a:srgbClr val="10111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06300" y="3649133"/>
            <a:ext cx="4572000" cy="846667"/>
          </a:xfrm>
          <a:prstGeom prst="rect">
            <a:avLst/>
          </a:prstGeom>
          <a:noFill/>
          <a:ln/>
        </p:spPr>
        <p:txBody>
          <a:bodyPr wrap="square" lIns="0" tIns="8312" rIns="0" bIns="-8312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sz="1725" dirty="0" spc="-4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Prepare the</a:t>
            </a:r>
            <a:r>
              <a:rPr lang="en-US" sz="1725" dirty="0" spc="-2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exterior</a:t>
            </a:r>
            <a:r>
              <a:rPr lang="en-US" sz="1725" dirty="0" spc="-1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page</a:t>
            </a:r>
            <a:r>
              <a:rPr lang="en-US" sz="1725" dirty="0" spc="-2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and</a:t>
            </a:r>
            <a:r>
              <a:rPr lang="en-US" sz="1725" dirty="0" spc="1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call</a:t>
            </a:r>
            <a:r>
              <a:rPr lang="en-US" sz="1725" dirty="0" spc="-1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tracking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1143000" y="5143500"/>
            <a:ext cx="5105400" cy="1905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409700" y="541020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FFA73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4" kern="0">
                <a:solidFill>
                  <a:srgbClr val="10111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09700" y="5935133"/>
            <a:ext cx="4572000" cy="846667"/>
          </a:xfrm>
          <a:prstGeom prst="rect">
            <a:avLst/>
          </a:prstGeom>
          <a:noFill/>
          <a:ln/>
        </p:spPr>
        <p:txBody>
          <a:bodyPr wrap="square" lIns="0" tIns="8312" rIns="0" bIns="-8312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sz="1725" dirty="0" spc="1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Build</a:t>
            </a:r>
            <a:r>
              <a:rPr lang="en-US" sz="1725" dirty="0" spc="-4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the</a:t>
            </a:r>
            <a:r>
              <a:rPr lang="en-US" sz="1725" dirty="0" spc="0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campaigns</a:t>
            </a:r>
            <a:r>
              <a:rPr lang="en-US" sz="1725" dirty="0" spc="-2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for your</a:t>
            </a:r>
            <a:r>
              <a:rPr lang="en-US" sz="1725" dirty="0" spc="0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approval</a:t>
            </a:r>
            <a:endParaRPr lang="en-US" sz="1725" dirty="0"/>
          </a:p>
        </p:txBody>
      </p:sp>
      <p:sp>
        <p:nvSpPr>
          <p:cNvPr id="16" name="Shape 14"/>
          <p:cNvSpPr/>
          <p:nvPr/>
        </p:nvSpPr>
        <p:spPr>
          <a:xfrm>
            <a:off x="6591300" y="5143500"/>
            <a:ext cx="5105400" cy="1905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541020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FFA73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4" kern="0">
                <a:solidFill>
                  <a:srgbClr val="10111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858000" y="5935133"/>
            <a:ext cx="4572000" cy="846667"/>
          </a:xfrm>
          <a:prstGeom prst="rect">
            <a:avLst/>
          </a:prstGeom>
          <a:noFill/>
          <a:ln/>
        </p:spPr>
        <p:txBody>
          <a:bodyPr wrap="square" lIns="0" tIns="8312" rIns="0" bIns="-8312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sz="1725" dirty="0" spc="-3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Launch</a:t>
            </a:r>
            <a:r>
              <a:rPr lang="en-US" sz="1725" dirty="0" spc="-4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when</a:t>
            </a:r>
            <a:r>
              <a:rPr lang="en-US" sz="1725" dirty="0" spc="-2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you</a:t>
            </a:r>
            <a:r>
              <a:rPr lang="en-US" sz="1725" dirty="0" spc="0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say go,</a:t>
            </a:r>
            <a:r>
              <a:rPr lang="en-US" sz="1725" dirty="0" spc="-2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commercial</a:t>
            </a:r>
            <a:r>
              <a:rPr lang="en-US" sz="1725" dirty="0" spc="0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first</a:t>
            </a:r>
            <a:endParaRPr lang="en-US" sz="1725" dirty="0"/>
          </a:p>
        </p:txBody>
      </p:sp>
      <p:sp>
        <p:nvSpPr>
          <p:cNvPr id="19" name="Shape 17"/>
          <p:cNvSpPr/>
          <p:nvPr/>
        </p:nvSpPr>
        <p:spPr>
          <a:xfrm>
            <a:off x="12039600" y="5143500"/>
            <a:ext cx="5105400" cy="1905000"/>
          </a:xfrm>
          <a:prstGeom prst="roundRect">
            <a:avLst>
              <a:gd name="adj" fmla="val 9000"/>
            </a:avLst>
          </a:prstGeom>
          <a:solidFill>
            <a:srgbClr val="101112"/>
          </a:solidFill>
          <a:ln/>
        </p:spPr>
      </p:sp>
      <p:sp>
        <p:nvSpPr>
          <p:cNvPr id="20" name="Text 18"/>
          <p:cNvSpPr/>
          <p:nvPr/>
        </p:nvSpPr>
        <p:spPr>
          <a:xfrm>
            <a:off x="12306300" y="541020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FFA73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4" kern="0">
                <a:solidFill>
                  <a:srgbClr val="10111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306300" y="5935133"/>
            <a:ext cx="4572000" cy="846667"/>
          </a:xfrm>
          <a:prstGeom prst="rect">
            <a:avLst/>
          </a:prstGeom>
          <a:noFill/>
          <a:ln/>
        </p:spPr>
        <p:txBody>
          <a:bodyPr wrap="square" lIns="0" tIns="8312" rIns="0" bIns="-8312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sz="1725" dirty="0" spc="-2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Review results</a:t>
            </a:r>
            <a:r>
              <a:rPr lang="en-US" sz="1725" dirty="0" spc="-3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together</a:t>
            </a:r>
            <a:r>
              <a:rPr lang="en-US" sz="1725" dirty="0" spc="-1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and</a:t>
            </a:r>
            <a:r>
              <a:rPr lang="en-US" sz="1725" dirty="0" spc="-3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refine, month after month</a:t>
            </a:r>
            <a:endParaRPr lang="en-US" sz="1725" dirty="0"/>
          </a:p>
        </p:txBody>
      </p:sp>
      <p:sp>
        <p:nvSpPr>
          <p:cNvPr id="22" name="Text 20"/>
          <p:cNvSpPr/>
          <p:nvPr/>
        </p:nvSpPr>
        <p:spPr>
          <a:xfrm>
            <a:off x="1143000" y="7715250"/>
            <a:ext cx="15240000" cy="666750"/>
          </a:xfrm>
          <a:prstGeom prst="rect">
            <a:avLst/>
          </a:prstGeom>
          <a:noFill/>
          <a:ln/>
        </p:spPr>
        <p:txBody>
          <a:bodyPr wrap="square" lIns="0" tIns="2958" rIns="0" bIns="-2958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Nothing</a:t>
            </a:r>
            <a:r>
              <a:rPr lang="en-US" sz="1800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goes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live without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your approval,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you</a:t>
            </a:r>
            <a:r>
              <a:rPr lang="en-US" sz="1800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keep</a:t>
            </a: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ownership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</a:t>
            </a:r>
            <a:r>
              <a:rPr lang="en-US" sz="1800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access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your</a:t>
            </a: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own</a:t>
            </a:r>
            <a:r>
              <a:rPr lang="en-US" sz="1800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Google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Ads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account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throughout.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a925ad12-1387-4cb5-a332-0ca4445eff8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1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192250" y="-3905250"/>
            <a:ext cx="6286500" cy="6286500"/>
          </a:xfrm>
          <a:prstGeom prst="ellipse">
            <a:avLst/>
          </a:prstGeom>
          <a:solidFill>
            <a:srgbClr val="1B1B1C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857250"/>
            <a:ext cx="13335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377" kern="0" dirty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NEXT</a:t>
            </a:r>
            <a:r>
              <a:rPr lang="en-US" sz="1650" b="1" spc="376" kern="0" dirty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STEP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43000" y="1333500"/>
            <a:ext cx="14287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Worth</a:t>
            </a:r>
            <a:r>
              <a:rPr lang="en-US" sz="4500" b="1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</a:t>
            </a:r>
            <a:r>
              <a:rPr lang="en-US" sz="4500" b="1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20-minute</a:t>
            </a:r>
            <a:r>
              <a:rPr lang="en-US" sz="4500" b="1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conversation?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143000" y="2762250"/>
            <a:ext cx="895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2" kern="0">
                <a:solidFill>
                  <a:srgbClr val="FFA737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What</a:t>
            </a:r>
            <a:r>
              <a:rPr lang="en-US" sz="1950" dirty="0" spc="-1" kern="0">
                <a:solidFill>
                  <a:srgbClr val="FFA737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we'd</a:t>
            </a:r>
            <a:r>
              <a:rPr lang="en-US" sz="1950" dirty="0" spc="2" kern="0">
                <a:solidFill>
                  <a:srgbClr val="FFA737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like</a:t>
            </a:r>
            <a:r>
              <a:rPr lang="en-US" sz="1950" dirty="0" spc="-2" kern="0">
                <a:solidFill>
                  <a:srgbClr val="FFA737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to</a:t>
            </a:r>
            <a:r>
              <a:rPr lang="en-US" sz="1950" dirty="0" spc="2" kern="0">
                <a:solidFill>
                  <a:srgbClr val="FFA737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learn</a:t>
            </a:r>
            <a:r>
              <a:rPr lang="en-US" sz="1950" dirty="0" spc="0" kern="0">
                <a:solidFill>
                  <a:srgbClr val="FFA737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from</a:t>
            </a:r>
            <a:r>
              <a:rPr lang="en-US" sz="1950" dirty="0" spc="1" kern="0">
                <a:solidFill>
                  <a:srgbClr val="FFA737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you:</a:t>
            </a:r>
            <a:endParaRPr lang="en-US" sz="1950" dirty="0"/>
          </a:p>
        </p:txBody>
      </p:sp>
      <p:sp>
        <p:nvSpPr>
          <p:cNvPr id="6" name="Text richtext-1792012433420-142199262"/>
          <p:cNvSpPr/>
          <p:nvPr/>
        </p:nvSpPr>
        <p:spPr>
          <a:xfrm>
            <a:off x="1143000" y="3333750"/>
            <a:ext cx="8953500" cy="3429000"/>
          </a:xfrm>
          <a:prstGeom prst="rect">
            <a:avLst/>
          </a:prstGeom>
          <a:noFill/>
          <a:ln/>
        </p:spPr>
        <p:txBody>
          <a:bodyPr wrap="square" lIns="0" tIns="-2872" rIns="0" bIns="2872" rtlCol="0" anchor="t"/>
          <a:lstStyle/>
          <a:p>
            <a:pPr algn="l" marL="238125" indent="-170126">
              <a:lnSpc>
                <a:spcPts val="3000"/>
              </a:lnSpc>
              <a:buSzPct val="100000"/>
              <a:buFont typeface="Arial"/>
              <a:buChar char="•"/>
            </a:pPr>
            <a:r>
              <a:rPr lang="en-US" sz="1875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</a:t>
            </a:r>
            <a:r>
              <a:rPr lang="en-US" sz="1875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commercial</a:t>
            </a:r>
            <a:r>
              <a:rPr lang="en-US" sz="1875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versus</a:t>
            </a:r>
            <a:r>
              <a:rPr lang="en-US" sz="1875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residential</a:t>
            </a:r>
            <a:r>
              <a:rPr lang="en-US" sz="1875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mix</a:t>
            </a:r>
            <a:r>
              <a:rPr lang="en-US" sz="1875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</a:t>
            </a:r>
            <a:r>
              <a:rPr lang="en-US" sz="1875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want</a:t>
            </a:r>
            <a:endParaRPr lang="en-US" sz="1875" dirty="0"/>
          </a:p>
          <a:p>
            <a:pPr algn="l" marL="238125" indent="-170126">
              <a:lnSpc>
                <a:spcPts val="3000"/>
              </a:lnSpc>
              <a:buSzPct val="100000"/>
              <a:buFont typeface="Arial"/>
              <a:buChar char="•"/>
            </a:pPr>
            <a:r>
              <a:rPr lang="en-US" sz="1875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How</a:t>
            </a:r>
            <a:r>
              <a:rPr lang="en-US" sz="1875" dirty="0" spc="4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far</a:t>
            </a:r>
            <a:r>
              <a:rPr lang="en-US" sz="1875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ahead</a:t>
            </a:r>
            <a:r>
              <a:rPr lang="en-US" sz="1875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 exterior</a:t>
            </a:r>
            <a:r>
              <a:rPr lang="en-US" sz="1875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season</a:t>
            </a:r>
            <a:r>
              <a:rPr lang="en-US" sz="1875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books</a:t>
            </a:r>
            <a:r>
              <a:rPr lang="en-US" sz="1875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up</a:t>
            </a:r>
            <a:endParaRPr lang="en-US" sz="1875" dirty="0"/>
          </a:p>
          <a:p>
            <a:pPr algn="l" marL="238125" indent="-170126">
              <a:lnSpc>
                <a:spcPts val="3000"/>
              </a:lnSpc>
              <a:buSzPct val="100000"/>
              <a:buFont typeface="Arial"/>
              <a:buChar char="•"/>
            </a:pPr>
            <a:r>
              <a:rPr lang="en-US" sz="1875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</a:t>
            </a:r>
            <a:r>
              <a:rPr lang="en-US" sz="1875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</a:t>
            </a:r>
            <a:r>
              <a:rPr lang="en-US" sz="1875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typical</a:t>
            </a:r>
            <a:r>
              <a:rPr lang="en-US" sz="1875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exterior</a:t>
            </a:r>
            <a:r>
              <a:rPr lang="en-US" sz="1875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repaint and</a:t>
            </a:r>
            <a:r>
              <a:rPr lang="en-US" sz="1875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commercial job</a:t>
            </a:r>
            <a:r>
              <a:rPr lang="en-US" sz="1875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are</a:t>
            </a:r>
            <a:r>
              <a:rPr lang="en-US" sz="1875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worth</a:t>
            </a:r>
            <a:endParaRPr lang="en-US" sz="1875" dirty="0"/>
          </a:p>
          <a:p>
            <a:pPr algn="l" marL="238125" indent="-170126">
              <a:lnSpc>
                <a:spcPts val="3000"/>
              </a:lnSpc>
              <a:buSzPct val="100000"/>
              <a:buFont typeface="Arial"/>
              <a:buChar char="•"/>
            </a:pPr>
            <a:r>
              <a:rPr lang="en-US" sz="1875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Whether</a:t>
            </a:r>
            <a:r>
              <a:rPr lang="en-US" sz="1875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</a:t>
            </a:r>
            <a:r>
              <a:rPr lang="en-US" sz="1875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focused</a:t>
            </a:r>
            <a:r>
              <a:rPr lang="en-US" sz="1875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Google Ads</a:t>
            </a:r>
            <a:r>
              <a:rPr lang="en-US" sz="1875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pilot</a:t>
            </a:r>
            <a:r>
              <a:rPr lang="en-US" sz="1875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makes</a:t>
            </a:r>
            <a:r>
              <a:rPr lang="en-US" sz="1875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sense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10858500" y="2762250"/>
            <a:ext cx="6286500" cy="409575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</p:spPr>
      </p:sp>
      <p:pic>
        <p:nvPicPr>
          <p:cNvPr id="8" name="Moda image rect-1792012433844-33220420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239500" y="3143250"/>
            <a:ext cx="609600" cy="609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239500" y="3943350"/>
            <a:ext cx="5524500" cy="1714500"/>
          </a:xfrm>
          <a:prstGeom prst="rect">
            <a:avLst/>
          </a:prstGeom>
          <a:noFill/>
          <a:ln/>
        </p:spPr>
        <p:txBody>
          <a:bodyPr wrap="square" lIns="0" tIns="2819" rIns="0" bIns="-2819" rtlCol="0" anchor="t"/>
          <a:lstStyle/>
          <a:p>
            <a:pPr algn="l" indent="0" marL="0">
              <a:lnSpc>
                <a:spcPts val="2588"/>
              </a:lnSpc>
              <a:buNone/>
            </a:pPr>
            <a:r>
              <a:rPr lang="en-US" sz="1725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Around29</a:t>
            </a:r>
            <a:r>
              <a:rPr lang="en-US" sz="1725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Digital</a:t>
            </a:r>
            <a:r>
              <a:rPr lang="en-US" sz="1725" dirty="0" spc="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Media</a:t>
            </a:r>
            <a:r>
              <a:rPr lang="en-US" sz="1725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Solutions</a:t>
            </a:r>
            <a:r>
              <a:rPr lang="en-US" sz="1725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builds</a:t>
            </a:r>
            <a:r>
              <a:rPr lang="en-US" sz="1725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manages</a:t>
            </a:r>
            <a:r>
              <a:rPr lang="en-US" sz="1725" dirty="0" spc="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Google Ads</a:t>
            </a:r>
            <a:r>
              <a:rPr lang="en-US" sz="1725" dirty="0" spc="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</a:t>
            </a:r>
            <a:r>
              <a:rPr lang="en-US" sz="1725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local</a:t>
            </a:r>
            <a:r>
              <a:rPr lang="en-US" sz="1725" dirty="0" spc="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service</a:t>
            </a:r>
            <a:r>
              <a:rPr lang="en-US" sz="1725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businesses, with</a:t>
            </a:r>
            <a:r>
              <a:rPr lang="en-US" sz="1725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landing</a:t>
            </a:r>
            <a:r>
              <a:rPr lang="en-US" sz="1725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pages,</a:t>
            </a:r>
            <a:r>
              <a:rPr lang="en-US" sz="1725" dirty="0" spc="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web</a:t>
            </a:r>
            <a:r>
              <a:rPr lang="en-US" sz="1725" dirty="0" spc="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development,</a:t>
            </a:r>
            <a:r>
              <a:rPr lang="en-US" sz="1725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SEO</a:t>
            </a:r>
            <a:r>
              <a:rPr lang="en-US" sz="1725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</a:t>
            </a:r>
            <a:r>
              <a:rPr lang="en-US" sz="1725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content</a:t>
            </a:r>
            <a:r>
              <a:rPr lang="en-US" sz="1725" dirty="0" spc="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under</a:t>
            </a:r>
            <a:r>
              <a:rPr lang="en-US" sz="1725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one</a:t>
            </a:r>
            <a:r>
              <a:rPr lang="en-US" sz="1725" dirty="0" spc="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roof.</a:t>
            </a:r>
            <a:endParaRPr lang="en-US" sz="1725" dirty="0"/>
          </a:p>
        </p:txBody>
      </p:sp>
      <p:sp>
        <p:nvSpPr>
          <p:cNvPr id="10" name="Text 7"/>
          <p:cNvSpPr/>
          <p:nvPr/>
        </p:nvSpPr>
        <p:spPr>
          <a:xfrm>
            <a:off x="11239500" y="5848350"/>
            <a:ext cx="5524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-1" kern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around29.com</a:t>
            </a:r>
            <a:endParaRPr lang="en-US" sz="1950" dirty="0"/>
          </a:p>
        </p:txBody>
      </p:sp>
      <p:sp>
        <p:nvSpPr>
          <p:cNvPr id="11" name="Shape 8"/>
          <p:cNvSpPr/>
          <p:nvPr/>
        </p:nvSpPr>
        <p:spPr>
          <a:xfrm>
            <a:off x="1143000" y="7620000"/>
            <a:ext cx="16002000" cy="1428750"/>
          </a:xfrm>
          <a:prstGeom prst="roundRect">
            <a:avLst>
              <a:gd name="adj" fmla="val 13333"/>
            </a:avLst>
          </a:prstGeom>
          <a:solidFill>
            <a:srgbClr val="FFA737"/>
          </a:solidFill>
          <a:ln/>
        </p:spPr>
      </p:sp>
      <p:sp>
        <p:nvSpPr>
          <p:cNvPr id="12" name="Text 9"/>
          <p:cNvSpPr/>
          <p:nvPr/>
        </p:nvSpPr>
        <p:spPr>
          <a:xfrm>
            <a:off x="1485900" y="7962900"/>
            <a:ext cx="15316200" cy="742950"/>
          </a:xfrm>
          <a:prstGeom prst="rect">
            <a:avLst/>
          </a:prstGeom>
          <a:noFill/>
          <a:ln/>
        </p:spPr>
        <p:txBody>
          <a:bodyPr wrap="square" lIns="0" tIns="9757" rIns="0" bIns="-9757" rtlCol="0" anchor="ctr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025" dirty="0" spc="-2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No</a:t>
            </a:r>
            <a:r>
              <a:rPr lang="en-US" sz="2025" dirty="0" spc="0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pressure and</a:t>
            </a:r>
            <a:r>
              <a:rPr lang="en-US" sz="2025" dirty="0" spc="-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no</a:t>
            </a:r>
            <a:r>
              <a:rPr lang="en-US" sz="2025" dirty="0" spc="0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obligation:</a:t>
            </a:r>
            <a:r>
              <a:rPr lang="en-US" sz="2025" dirty="0" spc="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if the</a:t>
            </a:r>
            <a:r>
              <a:rPr lang="en-US" sz="2025" dirty="0" spc="-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numbers</a:t>
            </a:r>
            <a:r>
              <a:rPr lang="en-US" sz="2025" dirty="0" spc="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don't</a:t>
            </a:r>
            <a:r>
              <a:rPr lang="en-US" sz="2025" dirty="0" spc="-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make</a:t>
            </a:r>
            <a:r>
              <a:rPr lang="en-US" sz="2025" dirty="0" spc="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sense</a:t>
            </a:r>
            <a:r>
              <a:rPr lang="en-US" sz="2025" dirty="0" spc="-2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for</a:t>
            </a:r>
            <a:r>
              <a:rPr lang="en-US" sz="2025" dirty="0" spc="0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Superior</a:t>
            </a:r>
            <a:r>
              <a:rPr lang="en-US" sz="2025" dirty="0" spc="-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Coatings</a:t>
            </a:r>
            <a:r>
              <a:rPr lang="en-US" sz="2025" dirty="0" spc="2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NW, we'll tell</a:t>
            </a:r>
            <a:r>
              <a:rPr lang="en-US" sz="2025" dirty="0" spc="-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you</a:t>
            </a:r>
            <a:r>
              <a:rPr lang="en-US" sz="2025" dirty="0" spc="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so.</a:t>
            </a:r>
            <a:r>
              <a:rPr lang="en-US" sz="2025" dirty="0" spc="-2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Thank</a:t>
            </a:r>
            <a:r>
              <a:rPr lang="en-US" sz="2025" dirty="0" spc="-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you</a:t>
            </a:r>
            <a:r>
              <a:rPr lang="en-US" sz="2025" dirty="0" spc="-2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for</a:t>
            </a:r>
            <a:r>
              <a:rPr lang="en-US" sz="2025" dirty="0" spc="-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your</a:t>
            </a:r>
            <a:r>
              <a:rPr lang="en-US" sz="2025" dirty="0" spc="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time.</a:t>
            </a:r>
            <a:endParaRPr lang="en-US" sz="2025" dirty="0"/>
          </a:p>
        </p:txBody>
      </p:sp>
      <p:sp>
        <p:nvSpPr>
          <p:cNvPr id="13" name="Shape 1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4" name="Moda image moda-export-watermark-6bd044c5-f4b6-4561-9deb-5d7bd7c462f5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2026-10-14T21:15:52Z</dcterms:created>
  <dcterms:modified xsi:type="dcterms:W3CDTF">2026-10-14T21:15:52Z</dcterms:modified>
</cp:coreProperties>
</file>