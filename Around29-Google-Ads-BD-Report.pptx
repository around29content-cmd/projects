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4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e973aa1a-6fa1-b649-47b5-1a635b5731de}">
          <p14:sldIdLst>
            <p14:sldId id="256"/>
            <p14:sldId id="257"/>
            <p14:sldId id="258"/>
          </p14:sldIdLst>
        </p14:section>
        <p14:section name="Findings" id="{8ba89923-2421-885d-67f3-1ee102bab4a0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Advertising" id="{10377a66-d281-ce53-79d4-ed48d597a1f0}">
          <p14:sldIdLst>
            <p14:sldId id="265"/>
            <p14:sldId id="266"/>
            <p14:sldId id="267"/>
            <p14:sldId id="268"/>
          </p14:sldIdLst>
        </p14:section>
        <p14:section name="Traffic" id="{16d71b57-acf8-aa60-98a4-46b03668d09e}">
          <p14:sldIdLst>
            <p14:sldId id="269"/>
            <p14:sldId id="270"/>
            <p14:sldId id="271"/>
            <p14:sldId id="272"/>
          </p14:sldIdLst>
        </p14:section>
        <p14:section name="Action" id="{40ab4fef-27aa-422e-17b6-50e43bab7e90}">
          <p14:sldIdLst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A33D"/>
              </a:solidFill>
              <a:effectLst/>
            </c:spPr>
          </c:dPt>
          <c:dPt>
            <c:idx val="1"/>
            <c:bubble3D val="0"/>
            <c:spPr>
              <a:solidFill>
                <a:srgbClr val="14213D"/>
              </a:solidFill>
              <a:effectLst/>
            </c:spPr>
          </c:dPt>
          <c:dPt>
            <c:idx val="2"/>
            <c:bubble3D val="0"/>
            <c:spPr>
              <a:solidFill>
                <a:srgbClr val="8A9BB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HIGH 15</c:v>
                </c:pt>
                <c:pt idx="1">
                  <c:v>MEDIUM 18</c:v>
                </c:pt>
                <c:pt idx="2">
                  <c:v>LOW 12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15</c:v>
                </c:pt>
                <c:pt idx="1">
                  <c:v>18</c:v>
                </c:pt>
                <c:pt idx="2">
                  <c:v>12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4A556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opportunity score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Unknown (1)</c:v>
                  </c:pt>
                  <c:pt idx="1">
                    <c:v>Other (10)</c:v>
                  </c:pt>
                  <c:pt idx="2">
                    <c:v>Education (1)</c:v>
                  </c:pt>
                  <c:pt idx="3">
                    <c:v>Retail (3)</c:v>
                  </c:pt>
                  <c:pt idx="4">
                    <c:v>Ecommerce (1)</c:v>
                  </c:pt>
                  <c:pt idx="5">
                    <c:v>Financial Services (1)</c:v>
                  </c:pt>
                  <c:pt idx="6">
                    <c:v>B2B (1)</c:v>
                  </c:pt>
                  <c:pt idx="7">
                    <c:v>Automotive (3)</c:v>
                  </c:pt>
                  <c:pt idx="8">
                    <c:v>Hospitality (1)</c:v>
                  </c:pt>
                  <c:pt idx="9">
                    <c:v>Real Estate (1)</c:v>
                  </c:pt>
                  <c:pt idx="10">
                    <c:v>Insurance (1)</c:v>
                  </c:pt>
                  <c:pt idx="11">
                    <c:v>Home Services (8)</c:v>
                  </c:pt>
                  <c:pt idx="12">
                    <c:v>Healthcare (1)</c:v>
                  </c:pt>
                  <c:pt idx="13">
                    <c:v>Dental (3)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20</c:v>
                </c:pt>
                <c:pt idx="1">
                  <c:v>42.5</c:v>
                </c:pt>
                <c:pt idx="2">
                  <c:v>47.8</c:v>
                </c:pt>
                <c:pt idx="3">
                  <c:v>55.7</c:v>
                </c:pt>
                <c:pt idx="4">
                  <c:v>58.2</c:v>
                </c:pt>
                <c:pt idx="5">
                  <c:v>65.7</c:v>
                </c:pt>
                <c:pt idx="6">
                  <c:v>69</c:v>
                </c:pt>
                <c:pt idx="7">
                  <c:v>74.5</c:v>
                </c:pt>
                <c:pt idx="8">
                  <c:v>78.5</c:v>
                </c:pt>
                <c:pt idx="9">
                  <c:v>78.7</c:v>
                </c:pt>
                <c:pt idx="10">
                  <c:v>79.3</c:v>
                </c:pt>
                <c:pt idx="11">
                  <c:v>84.1</c:v>
                </c:pt>
                <c:pt idx="12">
                  <c:v>85.2</c:v>
                </c:pt>
                <c:pt idx="13">
                  <c:v>86.7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D9DE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Prospects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A33D"/>
              </a:solidFill>
              <a:effectLst/>
            </c:spPr>
          </c:dPt>
          <c:dPt>
            <c:idx val="1"/>
            <c:bubble3D val="0"/>
            <c:spPr>
              <a:solidFill>
                <a:srgbClr val="8A9BB0"/>
              </a:solidFill>
              <a:effectLst/>
            </c:spPr>
          </c:dPt>
          <c:dPt>
            <c:idx val="2"/>
            <c:bubble3D val="0"/>
            <c:spPr>
              <a:solidFill>
                <a:srgbClr val="1E2D4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Running Google Ads now: 7</c:v>
                </c:pt>
                <c:pt idx="1">
                  <c:v>No Google Ads evidence: 28</c:v>
                </c:pt>
                <c:pt idx="2">
                  <c:v>Unknown (US-only lookup): 1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</c:v>
                </c:pt>
                <c:pt idx="1">
                  <c:v>28</c:v>
                </c:pt>
                <c:pt idx="2">
                  <c:v>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BFD8D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Paid Search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Cunning Dental Group (480)</c:v>
                  </c:pt>
                  <c:pt idx="1">
                    <c:v>Affordable Junk Removal (838)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124</c:v>
                </c:pt>
                <c:pt idx="1">
                  <c:v>523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Organic Search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Cunning Dental Group (480)</c:v>
                  </c:pt>
                  <c:pt idx="1">
                    <c:v>Affordable Junk Removal (838)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153</c:v>
                </c:pt>
                <c:pt idx="1">
                  <c:v>192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Direct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Cunning Dental Group (480)</c:v>
                  </c:pt>
                  <c:pt idx="1">
                    <c:v>Affordable Junk Removal (838)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89</c:v>
                </c:pt>
                <c:pt idx="1">
                  <c:v>44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Referral</c:v>
                </c:pt>
              </c:strCache>
            </c:strRef>
          </c:tx>
          <c:spPr>
            <a:solidFill>
              <a:srgbClr val="8A9B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Cunning Dental Group (480)</c:v>
                  </c:pt>
                  <c:pt idx="1">
                    <c:v>Affordable Junk Removal (838)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49</c:v>
                </c:pt>
                <c:pt idx="1">
                  <c:v>16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Organic Social</c:v>
                </c:pt>
              </c:strCache>
            </c:strRef>
          </c:tx>
          <c:spPr>
            <a:solidFill>
              <a:srgbClr val="BFD8D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Cunning Dental Group (480)</c:v>
                  </c:pt>
                  <c:pt idx="1">
                    <c:v>Affordable Junk Removal (838)</c:v>
                  </c:pt>
                </c:lvl>
              </c:multiLvlStrCache>
            </c:multiLvl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27</c:v>
                </c:pt>
                <c:pt idx="1">
                  <c:v>46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D9DEE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Cunning Dental Group (480)</c:v>
                  </c:pt>
                  <c:pt idx="1">
                    <c:v>Affordable Junk Removal (838)</c:v>
                  </c:pt>
                </c:lvl>
              </c:multiLvlStrCache>
            </c:multiLvl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38</c:v>
                </c:pt>
                <c:pt idx="1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A556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The report covers 45 records: 36 external prospects and 9 internal Around29 properties. Every figure in this deck comes from the final BD report dated 8 October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headline figures. All are counts from the workbook tabs; none are estimates.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Priorities come from Step 9: fit, contactability, readiness, urgency and data confidence. Bands come from the management score: HIGH 75+, MEDIUM 50 to 74, LOW under 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raw Prospects tab had eight columns and no contact person, address, industry or budget. Most of what the report uses was recovered from websites and directories in Step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 Services has eight prospects, seven of them already Contact Now, with a Pierce County cluster that lets one team learn the market once. Dental is second on value per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industries as the previous slide, but on the management score. Everything at or above 75 is the HIGH band. Single-record industries are one business each and not a trend.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Prioritise local services with urgent or high-ticket demand and a call or quote conversion, then recurring and subscription services, then appointment practices with booking live. Deprioritise nonprofits, associations and offshore ecommerce.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states hold 16 of the 19. The Puget Sound group is tight enough for one team to learn one market; the California group is six separate local markets and should be treated that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Running Ads and Ads Ever Run refer to Google Ads only. Platforms records paid advertising elsewhere, so a business can show Ads Ever Run = No with Facebook Ads in Platforms. That is a real pattern, not a data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Segment A is the headline: nine HIGH-opportunity businesses with no Google Ads activity at all. Segment B needs a different conversation, and for the two existing Around29 accounts it is an internal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Orion Optical, Calvary Cemetery, Ocean View Lodging and Affordable Junk Removal, confirm who controls the account before pitching.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Search29 stores daily users, not monthly deduplicated users, so Sessions is the exact monthly metric reported. Evidence per business is on the WEBSITE TRAFFIC RESEARCH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Affordable Junk Removal is 62% paid search with no Google Ads account in Search29, consistent with the third-party advertiser in the Transparency Center. Cunning Dental's paid search is 124 sessions against several hundred Ads clicks, so check tagging before quoting a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observations from the four verified properties, and the one action that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four time-bound prospects: Zellers Group, Workhub Tulsa, Clean and Clear by Cliff and American Tree Excavation. Then the rest in BD-score order, confirming directory-sourced names on each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prospects have a live or imminent window: American Tree now, Zellers until 7 December, Clean and Clear through December, Workhub on 1 November. Two more open in March. Call the first four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Priority 2 is a phone job for the research team over the next two weeks. Priority 3 needs a policy or fit decision before anyone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recommendations, each traceable to the sections before it. The pitch-by-segment point is the change the advertising research introduced.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actions. The first two are this week's calls. The traffic access request is new with this version of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Point the audience to the MASTER MANAGEMENT VIEW tab for the one-page version and to BD_PRIORITIZATION for the full ranked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NT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image" Target="../media/image-11-3.png"/><Relationship Id="rId5" Type="http://schemas.openxmlformats.org/officeDocument/2006/relationships/image" Target="../media/image-11-4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16-1.png"/><Relationship Id="rId3" Type="http://schemas.openxmlformats.org/officeDocument/2006/relationships/image" Target="../media/image-16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"/>
          <p:cNvSpPr/>
          <p:nvPr/>
        </p:nvSpPr>
        <p:spPr>
          <a:xfrm>
            <a:off x="8229600" y="-1463040"/>
            <a:ext cx="5669280" cy="56692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eyebrow"/>
          <p:cNvSpPr txBox="1"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chemeClr val="accent1"/>
                </a:solidFill>
              </a:rPr>
              <a:t>AROUND29 DIGITAL MEDIA SOLUTIONS</a:t>
            </a:r>
            <a:endParaRPr lang="en-US" sz="1300" dirty="0"/>
          </a:p>
        </p:txBody>
      </p:sp>
      <p:sp>
        <p:nvSpPr>
          <p:cNvPr id="4" name="cover title"/>
          <p:cNvSpPr txBox="1"/>
          <p:nvPr/>
        </p:nvSpPr>
        <p:spPr>
          <a:xfrm>
            <a:off x="548640" y="1371600"/>
            <a:ext cx="7498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Ads Business Development Report</a:t>
            </a:r>
            <a:endParaRPr lang="en-US" sz="54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7033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45 records analysed, 36 external prospects scored, 13 ready for immediate outreach.</a:t>
            </a:r>
            <a:endParaRPr lang="en-US" sz="2000" dirty="0"/>
          </a:p>
        </p:txBody>
      </p:sp>
      <p:sp>
        <p:nvSpPr>
          <p:cNvPr id="6" name="date"/>
          <p:cNvSpPr txBox="1"/>
          <p:nvPr/>
        </p:nvSpPr>
        <p:spPr>
          <a:xfrm>
            <a:off x="548640" y="4754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8 October 2026   |   Source workbook: Around29 Google Ads Prospects</a:t>
            </a:r>
            <a:endParaRPr lang="en-US" sz="1300" dirty="0"/>
          </a:p>
        </p:txBody>
      </p:sp>
      <p:sp>
        <p:nvSpPr>
          <p:cNvPr id="7" name="tile 45"/>
          <p:cNvSpPr/>
          <p:nvPr/>
        </p:nvSpPr>
        <p:spPr>
          <a:xfrm>
            <a:off x="8503920" y="1417320"/>
            <a:ext cx="310896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ile num 45"/>
          <p:cNvSpPr txBox="1"/>
          <p:nvPr/>
        </p:nvSpPr>
        <p:spPr>
          <a:xfrm>
            <a:off x="8686800" y="149047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45</a:t>
            </a:r>
            <a:endParaRPr lang="en-US" sz="4000" dirty="0"/>
          </a:p>
        </p:txBody>
      </p:sp>
      <p:sp>
        <p:nvSpPr>
          <p:cNvPr id="9" name="tile label 45"/>
          <p:cNvSpPr txBox="1"/>
          <p:nvPr/>
        </p:nvSpPr>
        <p:spPr>
          <a:xfrm>
            <a:off x="9875520" y="15087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records analysed</a:t>
            </a:r>
            <a:endParaRPr lang="en-US" sz="1400" dirty="0"/>
          </a:p>
        </p:txBody>
      </p:sp>
      <p:sp>
        <p:nvSpPr>
          <p:cNvPr id="10" name="tile 13"/>
          <p:cNvSpPr/>
          <p:nvPr/>
        </p:nvSpPr>
        <p:spPr>
          <a:xfrm>
            <a:off x="8503920" y="2651760"/>
            <a:ext cx="3108960" cy="1051560"/>
          </a:xfrm>
          <a:prstGeom prst="roundRect">
            <a:avLst>
              <a:gd name="adj" fmla="val 10435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ile num 13"/>
          <p:cNvSpPr txBox="1"/>
          <p:nvPr/>
        </p:nvSpPr>
        <p:spPr>
          <a:xfrm>
            <a:off x="8686800" y="272491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13</a:t>
            </a:r>
            <a:endParaRPr lang="en-US" sz="4000" dirty="0"/>
          </a:p>
        </p:txBody>
      </p:sp>
      <p:sp>
        <p:nvSpPr>
          <p:cNvPr id="12" name="tile label 13"/>
          <p:cNvSpPr txBox="1"/>
          <p:nvPr/>
        </p:nvSpPr>
        <p:spPr>
          <a:xfrm>
            <a:off x="9875520" y="27432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ready to contact</a:t>
            </a:r>
            <a:endParaRPr lang="en-US" sz="1400" dirty="0"/>
          </a:p>
        </p:txBody>
      </p:sp>
      <p:sp>
        <p:nvSpPr>
          <p:cNvPr id="13" name="tile 9"/>
          <p:cNvSpPr/>
          <p:nvPr/>
        </p:nvSpPr>
        <p:spPr>
          <a:xfrm>
            <a:off x="8503920" y="3886200"/>
            <a:ext cx="310896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ile num 9"/>
          <p:cNvSpPr txBox="1"/>
          <p:nvPr/>
        </p:nvSpPr>
        <p:spPr>
          <a:xfrm>
            <a:off x="8686800" y="395935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9</a:t>
            </a:r>
            <a:endParaRPr lang="en-US" sz="4000" dirty="0"/>
          </a:p>
        </p:txBody>
      </p:sp>
      <p:sp>
        <p:nvSpPr>
          <p:cNvPr id="15" name="tile label 9"/>
          <p:cNvSpPr txBox="1"/>
          <p:nvPr/>
        </p:nvSpPr>
        <p:spPr>
          <a:xfrm>
            <a:off x="9875520" y="39776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untapped HIGH opportunities</a:t>
            </a:r>
            <a:endParaRPr lang="en-US" sz="1400" dirty="0"/>
          </a:p>
        </p:txBody>
      </p:sp>
      <p:sp>
        <p:nvSpPr>
          <p:cNvPr id="16" name="conventions"/>
          <p:cNvSpPr txBox="1"/>
          <p:nvPr/>
        </p:nvSpPr>
        <p:spPr>
          <a:xfrm>
            <a:off x="548640" y="6263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Verified = confirmed against the sheet, a live website or Search29. Inferred = Around29's reading of verified facts. Nothing was estimated.</a:t>
            </a:r>
            <a:endParaRPr lang="en-US" sz="1100" dirty="0"/>
          </a:p>
        </p:txBody>
      </p:sp>
      <p:sp>
        <p:nvSpPr>
          <p:cNvPr id="18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19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EXECUTIVE SUMMARY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list in numbers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Source: Executive Summary, final BD report, 8 October 2026</a:t>
            </a:r>
            <a:endParaRPr lang="en-US" sz="1100" dirty="0"/>
          </a:p>
        </p:txBody>
      </p:sp>
      <p:sp>
        <p:nvSpPr>
          <p:cNvPr id="6" name="stat 45"/>
          <p:cNvSpPr/>
          <p:nvPr/>
        </p:nvSpPr>
        <p:spPr>
          <a:xfrm>
            <a:off x="548640" y="1508760"/>
            <a:ext cx="3515258" cy="2194560"/>
          </a:xfrm>
          <a:prstGeom prst="roundRect">
            <a:avLst>
              <a:gd name="adj" fmla="val 58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7" name="badge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 FiLayer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92808"/>
            <a:ext cx="237744" cy="237744"/>
          </a:xfrm>
          <a:prstGeom prst="rect">
            <a:avLst/>
          </a:prstGeom>
        </p:spPr>
      </p:pic>
      <p:sp>
        <p:nvSpPr>
          <p:cNvPr id="9" name="num 45"/>
          <p:cNvSpPr txBox="1"/>
          <p:nvPr/>
        </p:nvSpPr>
        <p:spPr>
          <a:xfrm>
            <a:off x="822960" y="2331720"/>
            <a:ext cx="2966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45</a:t>
            </a:r>
            <a:endParaRPr lang="en-US" sz="4800" dirty="0"/>
          </a:p>
        </p:txBody>
      </p:sp>
      <p:sp>
        <p:nvSpPr>
          <p:cNvPr id="10" name="label 45"/>
          <p:cNvSpPr txBox="1"/>
          <p:nvPr/>
        </p:nvSpPr>
        <p:spPr>
          <a:xfrm>
            <a:off x="822960" y="324612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records analysed: 36 external prospects, 9 internal properties</a:t>
            </a:r>
            <a:endParaRPr lang="en-US" sz="1400" dirty="0"/>
          </a:p>
        </p:txBody>
      </p:sp>
      <p:sp>
        <p:nvSpPr>
          <p:cNvPr id="11" name="stat 13"/>
          <p:cNvSpPr/>
          <p:nvPr/>
        </p:nvSpPr>
        <p:spPr>
          <a:xfrm>
            <a:off x="4338218" y="1508760"/>
            <a:ext cx="3515258" cy="2194560"/>
          </a:xfrm>
          <a:prstGeom prst="roundRect">
            <a:avLst>
              <a:gd name="adj" fmla="val 58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12" name="badge"/>
          <p:cNvSpPr/>
          <p:nvPr/>
        </p:nvSpPr>
        <p:spPr>
          <a:xfrm>
            <a:off x="4612538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con FiPhoneCal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266" y="1892808"/>
            <a:ext cx="237744" cy="237744"/>
          </a:xfrm>
          <a:prstGeom prst="rect">
            <a:avLst/>
          </a:prstGeom>
        </p:spPr>
      </p:pic>
      <p:sp>
        <p:nvSpPr>
          <p:cNvPr id="14" name="num 13"/>
          <p:cNvSpPr txBox="1"/>
          <p:nvPr/>
        </p:nvSpPr>
        <p:spPr>
          <a:xfrm>
            <a:off x="4612538" y="2331720"/>
            <a:ext cx="2966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13</a:t>
            </a:r>
            <a:endParaRPr lang="en-US" sz="4800" dirty="0"/>
          </a:p>
        </p:txBody>
      </p:sp>
      <p:sp>
        <p:nvSpPr>
          <p:cNvPr id="15" name="label 13"/>
          <p:cNvSpPr txBox="1"/>
          <p:nvPr/>
        </p:nvSpPr>
        <p:spPr>
          <a:xfrm>
            <a:off x="4612538" y="324612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Priority 1 prospects ready for immediate outreach</a:t>
            </a:r>
            <a:endParaRPr lang="en-US" sz="1400" dirty="0"/>
          </a:p>
        </p:txBody>
      </p:sp>
      <p:sp>
        <p:nvSpPr>
          <p:cNvPr id="16" name="stat 9"/>
          <p:cNvSpPr/>
          <p:nvPr/>
        </p:nvSpPr>
        <p:spPr>
          <a:xfrm>
            <a:off x="8127797" y="1508760"/>
            <a:ext cx="3515258" cy="2194560"/>
          </a:xfrm>
          <a:prstGeom prst="roundRect">
            <a:avLst>
              <a:gd name="adj" fmla="val 58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17" name="badge"/>
          <p:cNvSpPr/>
          <p:nvPr/>
        </p:nvSpPr>
        <p:spPr>
          <a:xfrm>
            <a:off x="8402117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on FiTarge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845" y="1892808"/>
            <a:ext cx="237744" cy="237744"/>
          </a:xfrm>
          <a:prstGeom prst="rect">
            <a:avLst/>
          </a:prstGeom>
        </p:spPr>
      </p:pic>
      <p:sp>
        <p:nvSpPr>
          <p:cNvPr id="19" name="num 9"/>
          <p:cNvSpPr txBox="1"/>
          <p:nvPr/>
        </p:nvSpPr>
        <p:spPr>
          <a:xfrm>
            <a:off x="8402117" y="2331720"/>
            <a:ext cx="2966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9</a:t>
            </a:r>
            <a:endParaRPr lang="en-US" sz="4800" dirty="0"/>
          </a:p>
        </p:txBody>
      </p:sp>
      <p:sp>
        <p:nvSpPr>
          <p:cNvPr id="20" name="label 9"/>
          <p:cNvSpPr txBox="1"/>
          <p:nvPr/>
        </p:nvSpPr>
        <p:spPr>
          <a:xfrm>
            <a:off x="8402117" y="324612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HIGH-opportunity prospects with no Google Ads activity found</a:t>
            </a:r>
            <a:endParaRPr lang="en-US" sz="1400" dirty="0"/>
          </a:p>
        </p:txBody>
      </p:sp>
      <p:sp>
        <p:nvSpPr>
          <p:cNvPr id="21" name="stat 7"/>
          <p:cNvSpPr/>
          <p:nvPr/>
        </p:nvSpPr>
        <p:spPr>
          <a:xfrm>
            <a:off x="548640" y="3977640"/>
            <a:ext cx="3515258" cy="2194560"/>
          </a:xfrm>
          <a:prstGeom prst="roundRect">
            <a:avLst>
              <a:gd name="adj" fmla="val 58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22" name="badge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 FiDollarSig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361688"/>
            <a:ext cx="237744" cy="237744"/>
          </a:xfrm>
          <a:prstGeom prst="rect">
            <a:avLst/>
          </a:prstGeom>
        </p:spPr>
      </p:pic>
      <p:sp>
        <p:nvSpPr>
          <p:cNvPr id="24" name="num 7"/>
          <p:cNvSpPr txBox="1"/>
          <p:nvPr/>
        </p:nvSpPr>
        <p:spPr>
          <a:xfrm>
            <a:off x="822960" y="4800600"/>
            <a:ext cx="2966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7</a:t>
            </a:r>
            <a:endParaRPr lang="en-US" sz="4800" dirty="0"/>
          </a:p>
        </p:txBody>
      </p:sp>
      <p:sp>
        <p:nvSpPr>
          <p:cNvPr id="25" name="label 7"/>
          <p:cNvSpPr txBox="1"/>
          <p:nvPr/>
        </p:nvSpPr>
        <p:spPr>
          <a:xfrm>
            <a:off x="822960" y="571500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prospects already running Google Ads, 2 of them through Around29</a:t>
            </a:r>
            <a:endParaRPr lang="en-US" sz="1400" dirty="0"/>
          </a:p>
        </p:txBody>
      </p:sp>
      <p:sp>
        <p:nvSpPr>
          <p:cNvPr id="26" name="stat 4"/>
          <p:cNvSpPr/>
          <p:nvPr/>
        </p:nvSpPr>
        <p:spPr>
          <a:xfrm>
            <a:off x="4338218" y="3977640"/>
            <a:ext cx="3515258" cy="2194560"/>
          </a:xfrm>
          <a:prstGeom prst="roundRect">
            <a:avLst>
              <a:gd name="adj" fmla="val 58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27" name="badge"/>
          <p:cNvSpPr/>
          <p:nvPr/>
        </p:nvSpPr>
        <p:spPr>
          <a:xfrm>
            <a:off x="4612538" y="4251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icon FiShare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2266" y="4361688"/>
            <a:ext cx="237744" cy="237744"/>
          </a:xfrm>
          <a:prstGeom prst="rect">
            <a:avLst/>
          </a:prstGeom>
        </p:spPr>
      </p:pic>
      <p:sp>
        <p:nvSpPr>
          <p:cNvPr id="29" name="num 4"/>
          <p:cNvSpPr txBox="1"/>
          <p:nvPr/>
        </p:nvSpPr>
        <p:spPr>
          <a:xfrm>
            <a:off x="4612538" y="4800600"/>
            <a:ext cx="2966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4</a:t>
            </a:r>
            <a:endParaRPr lang="en-US" sz="4800" dirty="0"/>
          </a:p>
        </p:txBody>
      </p:sp>
      <p:sp>
        <p:nvSpPr>
          <p:cNvPr id="30" name="label 4"/>
          <p:cNvSpPr txBox="1"/>
          <p:nvPr/>
        </p:nvSpPr>
        <p:spPr>
          <a:xfrm>
            <a:off x="4612538" y="571500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prospects with paid Meta (Facebook) advertising found</a:t>
            </a:r>
            <a:endParaRPr lang="en-US" sz="1400" dirty="0"/>
          </a:p>
        </p:txBody>
      </p:sp>
      <p:sp>
        <p:nvSpPr>
          <p:cNvPr id="31" name="stat 4"/>
          <p:cNvSpPr/>
          <p:nvPr/>
        </p:nvSpPr>
        <p:spPr>
          <a:xfrm>
            <a:off x="8127797" y="3977640"/>
            <a:ext cx="3515258" cy="2194560"/>
          </a:xfrm>
          <a:prstGeom prst="roundRect">
            <a:avLst>
              <a:gd name="adj" fmla="val 58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32" name="badge"/>
          <p:cNvSpPr/>
          <p:nvPr/>
        </p:nvSpPr>
        <p:spPr>
          <a:xfrm>
            <a:off x="8402117" y="4251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3" name="icon FiBarChart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1845" y="4361688"/>
            <a:ext cx="237744" cy="237744"/>
          </a:xfrm>
          <a:prstGeom prst="rect">
            <a:avLst/>
          </a:prstGeom>
        </p:spPr>
      </p:pic>
      <p:sp>
        <p:nvSpPr>
          <p:cNvPr id="34" name="num 4"/>
          <p:cNvSpPr txBox="1"/>
          <p:nvPr/>
        </p:nvSpPr>
        <p:spPr>
          <a:xfrm>
            <a:off x="8402117" y="4800600"/>
            <a:ext cx="2966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4</a:t>
            </a:r>
            <a:endParaRPr lang="en-US" sz="4800" dirty="0"/>
          </a:p>
        </p:txBody>
      </p:sp>
      <p:sp>
        <p:nvSpPr>
          <p:cNvPr id="35" name="label 4"/>
          <p:cNvSpPr txBox="1"/>
          <p:nvPr/>
        </p:nvSpPr>
        <p:spPr>
          <a:xfrm>
            <a:off x="8402117" y="571500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websites with verified first-party traffic; the other 41 are Not Available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PRIORITISATION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Where the 45 records landed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Source: Step 5 scoring, Step 9 prioritisation, MASTER MANAGEMENT VIEW</a:t>
            </a:r>
            <a:endParaRPr lang="en-US" sz="1100" dirty="0"/>
          </a:p>
        </p:txBody>
      </p:sp>
      <p:sp>
        <p:nvSpPr>
          <p:cNvPr id="6" name="stat 13"/>
          <p:cNvSpPr/>
          <p:nvPr/>
        </p:nvSpPr>
        <p:spPr>
          <a:xfrm>
            <a:off x="548640" y="1508760"/>
            <a:ext cx="2567864" cy="224028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eyebrow 13"/>
          <p:cNvSpPr txBox="1"/>
          <p:nvPr/>
        </p:nvSpPr>
        <p:spPr>
          <a:xfrm>
            <a:off x="822960" y="178308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Priority 1</a:t>
            </a:r>
            <a:endParaRPr lang="en-US" sz="1300" dirty="0"/>
          </a:p>
        </p:txBody>
      </p:sp>
      <p:sp>
        <p:nvSpPr>
          <p:cNvPr id="8" name="num 13"/>
          <p:cNvSpPr txBox="1"/>
          <p:nvPr/>
        </p:nvSpPr>
        <p:spPr>
          <a:xfrm>
            <a:off x="822960" y="2331720"/>
            <a:ext cx="2019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13</a:t>
            </a:r>
            <a:endParaRPr lang="en-US" sz="4400" dirty="0"/>
          </a:p>
        </p:txBody>
      </p:sp>
      <p:sp>
        <p:nvSpPr>
          <p:cNvPr id="9" name="label 13"/>
          <p:cNvSpPr txBox="1"/>
          <p:nvPr/>
        </p:nvSpPr>
        <p:spPr>
          <a:xfrm>
            <a:off x="822960" y="324612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Contact now. Decision-maker and channel known.</a:t>
            </a:r>
            <a:endParaRPr lang="en-US" sz="1400" dirty="0"/>
          </a:p>
        </p:txBody>
      </p:sp>
      <p:sp>
        <p:nvSpPr>
          <p:cNvPr id="10" name="stat 6"/>
          <p:cNvSpPr/>
          <p:nvPr/>
        </p:nvSpPr>
        <p:spPr>
          <a:xfrm>
            <a:off x="3390824" y="1508760"/>
            <a:ext cx="2567864" cy="224028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11" name="eyebrow 6"/>
          <p:cNvSpPr txBox="1"/>
          <p:nvPr/>
        </p:nvSpPr>
        <p:spPr>
          <a:xfrm>
            <a:off x="3665144" y="178308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Priority 2</a:t>
            </a:r>
            <a:endParaRPr lang="en-US" sz="1300" dirty="0"/>
          </a:p>
        </p:txBody>
      </p:sp>
      <p:sp>
        <p:nvSpPr>
          <p:cNvPr id="12" name="num 6"/>
          <p:cNvSpPr txBox="1"/>
          <p:nvPr/>
        </p:nvSpPr>
        <p:spPr>
          <a:xfrm>
            <a:off x="3665144" y="2331720"/>
            <a:ext cx="2019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6</a:t>
            </a:r>
            <a:endParaRPr lang="en-US" sz="4400" dirty="0"/>
          </a:p>
        </p:txBody>
      </p:sp>
      <p:sp>
        <p:nvSpPr>
          <p:cNvPr id="13" name="label 6"/>
          <p:cNvSpPr txBox="1"/>
          <p:nvPr/>
        </p:nvSpPr>
        <p:spPr>
          <a:xfrm>
            <a:off x="3665144" y="324612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Enrichment required: strong fit, contact gap.</a:t>
            </a:r>
            <a:endParaRPr lang="en-US" sz="1400" dirty="0"/>
          </a:p>
        </p:txBody>
      </p:sp>
      <p:sp>
        <p:nvSpPr>
          <p:cNvPr id="14" name="stat 6"/>
          <p:cNvSpPr/>
          <p:nvPr/>
        </p:nvSpPr>
        <p:spPr>
          <a:xfrm>
            <a:off x="6233008" y="1508760"/>
            <a:ext cx="2567864" cy="224028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15" name="eyebrow 6"/>
          <p:cNvSpPr txBox="1"/>
          <p:nvPr/>
        </p:nvSpPr>
        <p:spPr>
          <a:xfrm>
            <a:off x="6507328" y="178308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Priority 3</a:t>
            </a:r>
            <a:endParaRPr lang="en-US" sz="1300" dirty="0"/>
          </a:p>
        </p:txBody>
      </p:sp>
      <p:sp>
        <p:nvSpPr>
          <p:cNvPr id="16" name="num 6"/>
          <p:cNvSpPr txBox="1"/>
          <p:nvPr/>
        </p:nvSpPr>
        <p:spPr>
          <a:xfrm>
            <a:off x="6507328" y="2331720"/>
            <a:ext cx="2019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6</a:t>
            </a:r>
            <a:endParaRPr lang="en-US" sz="4400" dirty="0"/>
          </a:p>
        </p:txBody>
      </p:sp>
      <p:sp>
        <p:nvSpPr>
          <p:cNvPr id="17" name="label 6"/>
          <p:cNvSpPr txBox="1"/>
          <p:nvPr/>
        </p:nvSpPr>
        <p:spPr>
          <a:xfrm>
            <a:off x="6507328" y="324612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Research required: policy or fit questions open.</a:t>
            </a:r>
            <a:endParaRPr lang="en-US" sz="1400" dirty="0"/>
          </a:p>
        </p:txBody>
      </p:sp>
      <p:sp>
        <p:nvSpPr>
          <p:cNvPr id="18" name="stat 20"/>
          <p:cNvSpPr/>
          <p:nvPr/>
        </p:nvSpPr>
        <p:spPr>
          <a:xfrm>
            <a:off x="9075191" y="1508760"/>
            <a:ext cx="2567864" cy="224028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19" name="eyebrow 20"/>
          <p:cNvSpPr txBox="1"/>
          <p:nvPr/>
        </p:nvSpPr>
        <p:spPr>
          <a:xfrm>
            <a:off x="9349511" y="178308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Priority 4</a:t>
            </a:r>
            <a:endParaRPr lang="en-US" sz="1300" dirty="0"/>
          </a:p>
        </p:txBody>
      </p:sp>
      <p:sp>
        <p:nvSpPr>
          <p:cNvPr id="20" name="num 20"/>
          <p:cNvSpPr txBox="1"/>
          <p:nvPr/>
        </p:nvSpPr>
        <p:spPr>
          <a:xfrm>
            <a:off x="9349511" y="2331720"/>
            <a:ext cx="2019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20</a:t>
            </a:r>
            <a:endParaRPr lang="en-US" sz="4400" dirty="0"/>
          </a:p>
        </p:txBody>
      </p:sp>
      <p:sp>
        <p:nvSpPr>
          <p:cNvPr id="21" name="label 20"/>
          <p:cNvSpPr txBox="1"/>
          <p:nvPr/>
        </p:nvSpPr>
        <p:spPr>
          <a:xfrm>
            <a:off x="9349511" y="324612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Deprioritised: 11 external, 9 internal.</a:t>
            </a:r>
            <a:endParaRPr lang="en-US" sz="1400" dirty="0"/>
          </a:p>
        </p:txBody>
      </p:sp>
      <p:sp>
        <p:nvSpPr>
          <p:cNvPr id="22" name="tier Tier 1: 7 prospects"/>
          <p:cNvSpPr txBox="1"/>
          <p:nvPr/>
        </p:nvSpPr>
        <p:spPr>
          <a:xfrm>
            <a:off x="548640" y="4206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Tier 1: 7 prospects</a:t>
            </a:r>
            <a:endParaRPr lang="en-US" sz="1600" dirty="0"/>
          </a:p>
        </p:txBody>
      </p:sp>
      <p:sp>
        <p:nvSpPr>
          <p:cNvPr id="23" name="tier body Tier 1: 7 prospects"/>
          <p:cNvSpPr txBox="1"/>
          <p:nvPr/>
        </p:nvSpPr>
        <p:spPr>
          <a:xfrm>
            <a:off x="548640" y="45720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Google Ads score 85 to 100 (Step 5)</a:t>
            </a:r>
            <a:endParaRPr lang="en-US" sz="1300" dirty="0"/>
          </a:p>
        </p:txBody>
      </p:sp>
      <p:sp>
        <p:nvSpPr>
          <p:cNvPr id="24" name="tier Tier 2: 13 records"/>
          <p:cNvSpPr txBox="1"/>
          <p:nvPr/>
        </p:nvSpPr>
        <p:spPr>
          <a:xfrm>
            <a:off x="3063240" y="4206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Tier 2: 13 records</a:t>
            </a:r>
            <a:endParaRPr lang="en-US" sz="1600" dirty="0"/>
          </a:p>
        </p:txBody>
      </p:sp>
      <p:sp>
        <p:nvSpPr>
          <p:cNvPr id="25" name="tier body Tier 2: 13 records"/>
          <p:cNvSpPr txBox="1"/>
          <p:nvPr/>
        </p:nvSpPr>
        <p:spPr>
          <a:xfrm>
            <a:off x="3063240" y="45720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Score 70 to 84 (12 external, 1 internal)</a:t>
            </a:r>
            <a:endParaRPr lang="en-US" sz="1300" dirty="0"/>
          </a:p>
        </p:txBody>
      </p:sp>
      <p:sp>
        <p:nvSpPr>
          <p:cNvPr id="26" name="tier Management view"/>
          <p:cNvSpPr txBox="1"/>
          <p:nvPr/>
        </p:nvSpPr>
        <p:spPr>
          <a:xfrm>
            <a:off x="5577840" y="4206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Management view</a:t>
            </a:r>
            <a:endParaRPr lang="en-US" sz="1600" dirty="0"/>
          </a:p>
        </p:txBody>
      </p:sp>
      <p:sp>
        <p:nvSpPr>
          <p:cNvPr id="27" name="tier body Management view"/>
          <p:cNvSpPr txBox="1"/>
          <p:nvPr/>
        </p:nvSpPr>
        <p:spPr>
          <a:xfrm>
            <a:off x="5577840" y="45720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P1 10 under the stricter HIGH-band rule (13 on the BD list)</a:t>
            </a:r>
            <a:endParaRPr lang="en-US" sz="1300" dirty="0"/>
          </a:p>
        </p:txBody>
      </p:sp>
      <p:sp>
        <p:nvSpPr>
          <p:cNvPr id="28" name="band head"/>
          <p:cNvSpPr txBox="1"/>
          <p:nvPr/>
        </p:nvSpPr>
        <p:spPr>
          <a:xfrm>
            <a:off x="8229600" y="4160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Opportunity bands, all 45</a:t>
            </a:r>
            <a:endParaRPr lang="en-US" sz="1400" dirty="0"/>
          </a:p>
        </p:txBody>
      </p:sp>
      <p:graphicFrame>
        <p:nvGraphicFramePr>
          <p:cNvPr id="29" name="bands chart" descr=""/>
          <p:cNvGraphicFramePr/>
          <p:nvPr/>
        </p:nvGraphicFramePr>
        <p:xfrm>
          <a:off x="8046720" y="4434840"/>
          <a:ext cx="365760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 txBox="1"/>
          <p:nvPr/>
        </p:nvSpPr>
        <p:spPr>
          <a:xfrm>
            <a:off x="548640" y="128016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chemeClr val="accent1"/>
                </a:solidFill>
              </a:rPr>
              <a:t>01</a:t>
            </a:r>
            <a:endParaRPr lang="en-US" sz="15000" dirty="0"/>
          </a:p>
        </p:txBody>
      </p:sp>
      <p:sp>
        <p:nvSpPr>
          <p:cNvPr id="3" name="section title"/>
          <p:cNvSpPr txBox="1"/>
          <p:nvPr/>
        </p:nvSpPr>
        <p:spPr>
          <a:xfrm>
            <a:off x="548640" y="33832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</a:t>
            </a:r>
            <a:endParaRPr lang="en-US" sz="4800" dirty="0"/>
          </a:p>
        </p:txBody>
      </p:sp>
      <p:sp>
        <p:nvSpPr>
          <p:cNvPr id="4" name="section line"/>
          <p:cNvSpPr txBox="1"/>
          <p:nvPr/>
        </p:nvSpPr>
        <p:spPr>
          <a:xfrm>
            <a:off x="548640" y="4297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Data quality, industry opportunity, business models and geography.</a:t>
            </a:r>
            <a:endParaRPr lang="en-US" sz="2000" dirty="0"/>
          </a:p>
        </p:txBody>
      </p:sp>
      <p:sp>
        <p:nvSpPr>
          <p:cNvPr id="5" name="decor circle"/>
          <p:cNvSpPr/>
          <p:nvPr/>
        </p:nvSpPr>
        <p:spPr>
          <a:xfrm>
            <a:off x="8503920" y="1097280"/>
            <a:ext cx="3108960" cy="3108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decor dot"/>
          <p:cNvSpPr/>
          <p:nvPr/>
        </p:nvSpPr>
        <p:spPr>
          <a:xfrm>
            <a:off x="9966960" y="3291840"/>
            <a:ext cx="1463040" cy="1463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DATA QUALITY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source sheet was thin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Source: Section 1, Data Quality (Steps 1, 2 and 6)</a:t>
            </a:r>
            <a:endParaRPr lang="en-US" sz="1100" dirty="0"/>
          </a:p>
        </p:txBody>
      </p:sp>
      <p:graphicFrame>
        <p:nvGraphicFramePr>
          <p:cNvPr id="6" name="missing field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4008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56616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State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Of 45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Phone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Valid 10-digit number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29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Phone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Invalid or corrupted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Phone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Blank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Email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Present (3 free-mail)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Contact person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Any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Location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Any (recovered later from websites)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Industry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Any (classified in Step 3)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rd Existing clients mixed in"/>
          <p:cNvSpPr/>
          <p:nvPr/>
        </p:nvSpPr>
        <p:spPr>
          <a:xfrm>
            <a:off x="7315200" y="1508760"/>
            <a:ext cx="4327855" cy="1371600"/>
          </a:xfrm>
          <a:prstGeom prst="roundRect">
            <a:avLst>
              <a:gd name="adj" fmla="val 93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8" name="badge"/>
          <p:cNvSpPr/>
          <p:nvPr/>
        </p:nvSpPr>
        <p:spPr>
          <a:xfrm>
            <a:off x="7589520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on FiUser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9248" y="1892808"/>
            <a:ext cx="237744" cy="237744"/>
          </a:xfrm>
          <a:prstGeom prst="rect">
            <a:avLst/>
          </a:prstGeom>
        </p:spPr>
      </p:pic>
      <p:sp>
        <p:nvSpPr>
          <p:cNvPr id="10" name="head Existing clients mixed in"/>
          <p:cNvSpPr txBox="1"/>
          <p:nvPr/>
        </p:nvSpPr>
        <p:spPr>
          <a:xfrm>
            <a:off x="8183880" y="1783080"/>
            <a:ext cx="3184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Existing clients mixed in</a:t>
            </a:r>
            <a:endParaRPr lang="en-US" sz="1700" dirty="0"/>
          </a:p>
        </p:txBody>
      </p:sp>
      <p:sp>
        <p:nvSpPr>
          <p:cNvPr id="11" name="body Existing clients mixed in"/>
          <p:cNvSpPr txBox="1"/>
          <p:nvPr/>
        </p:nvSpPr>
        <p:spPr>
          <a:xfrm>
            <a:off x="7589520" y="237744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Cunning Dental Group and Workhub Tulsa are current Around29 Google Ads accounts. Four more are Search29 clients without Google Ads.</a:t>
            </a:r>
            <a:endParaRPr lang="en-US" sz="1200" dirty="0"/>
          </a:p>
        </p:txBody>
      </p:sp>
      <p:sp>
        <p:nvSpPr>
          <p:cNvPr id="12" name="card Two possible duplicate pairs"/>
          <p:cNvSpPr/>
          <p:nvPr/>
        </p:nvSpPr>
        <p:spPr>
          <a:xfrm>
            <a:off x="7315200" y="3063240"/>
            <a:ext cx="4327855" cy="1371600"/>
          </a:xfrm>
          <a:prstGeom prst="roundRect">
            <a:avLst>
              <a:gd name="adj" fmla="val 93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13" name="badge"/>
          <p:cNvSpPr/>
          <p:nvPr/>
        </p:nvSpPr>
        <p:spPr>
          <a:xfrm>
            <a:off x="7589520" y="3337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 FiCopy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3447288"/>
            <a:ext cx="237744" cy="237744"/>
          </a:xfrm>
          <a:prstGeom prst="rect">
            <a:avLst/>
          </a:prstGeom>
        </p:spPr>
      </p:pic>
      <p:sp>
        <p:nvSpPr>
          <p:cNvPr id="15" name="head Two possible duplicate pairs"/>
          <p:cNvSpPr txBox="1"/>
          <p:nvPr/>
        </p:nvSpPr>
        <p:spPr>
          <a:xfrm>
            <a:off x="8183880" y="3337560"/>
            <a:ext cx="3184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Two possible duplicate pairs</a:t>
            </a:r>
            <a:endParaRPr lang="en-US" sz="1700" dirty="0"/>
          </a:p>
        </p:txBody>
      </p:sp>
      <p:sp>
        <p:nvSpPr>
          <p:cNvPr id="16" name="body Two possible duplicate pairs"/>
          <p:cNvSpPr txBox="1"/>
          <p:nvPr/>
        </p:nvSpPr>
        <p:spPr>
          <a:xfrm>
            <a:off x="7589520" y="393192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Cunning Dental Group / Cunningsmiles Implant Experts (dead site) and Starling Education / Starling Wonder Kids (internal). Unresolved.</a:t>
            </a:r>
            <a:endParaRPr lang="en-US" sz="1200" dirty="0"/>
          </a:p>
        </p:txBody>
      </p:sp>
      <p:sp>
        <p:nvSpPr>
          <p:cNvPr id="17" name="card Raw tabs untouched"/>
          <p:cNvSpPr/>
          <p:nvPr/>
        </p:nvSpPr>
        <p:spPr>
          <a:xfrm>
            <a:off x="7315200" y="4617720"/>
            <a:ext cx="4327855" cy="1371600"/>
          </a:xfrm>
          <a:prstGeom prst="roundRect">
            <a:avLst>
              <a:gd name="adj" fmla="val 93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18" name="badge"/>
          <p:cNvSpPr/>
          <p:nvPr/>
        </p:nvSpPr>
        <p:spPr>
          <a:xfrm>
            <a:off x="7589520" y="4892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 FiLo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5001768"/>
            <a:ext cx="237744" cy="237744"/>
          </a:xfrm>
          <a:prstGeom prst="rect">
            <a:avLst/>
          </a:prstGeom>
        </p:spPr>
      </p:pic>
      <p:sp>
        <p:nvSpPr>
          <p:cNvPr id="20" name="head Raw tabs untouched"/>
          <p:cNvSpPr txBox="1"/>
          <p:nvPr/>
        </p:nvSpPr>
        <p:spPr>
          <a:xfrm>
            <a:off x="8183880" y="4892040"/>
            <a:ext cx="3184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Raw tabs untouched</a:t>
            </a:r>
            <a:endParaRPr lang="en-US" sz="1700" dirty="0"/>
          </a:p>
        </p:txBody>
      </p:sp>
      <p:sp>
        <p:nvSpPr>
          <p:cNvPr id="21" name="body Raw tabs untouched"/>
          <p:cNvSpPr txBox="1"/>
          <p:nvPr/>
        </p:nvSpPr>
        <p:spPr>
          <a:xfrm>
            <a:off x="7589520" y="548640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Six source-data corrections were found in Step 6 and recorded in new tabs, not applied to Prospects or Internal.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INDUSTRY OPPORTUNITY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Home Services and Dental lead the industries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Source: Section 2, Industry Opportunity. Scores are the Step 5 Google Ads score out of 100.</a:t>
            </a:r>
            <a:endParaRPr lang="en-US" sz="1100" dirty="0"/>
          </a:p>
        </p:txBody>
      </p:sp>
      <p:graphicFrame>
        <p:nvGraphicFramePr>
          <p:cNvPr id="7" name="industr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05840"/>
                <a:gridCol w="1005840"/>
                <a:gridCol w="822960"/>
                <a:gridCol w="822960"/>
                <a:gridCol w="731520"/>
                <a:gridCol w="395935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Industry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Prospects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Avg score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Tier 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Tier 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Attractiveness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Home Services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82.6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Highest: volume, value, contactability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Dental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84.0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Very high value per case; one dead site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Medical (optometry)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85.5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High; decision-maker unknown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Real Estate (coworking)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79.0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Good; pre-leasing 1 Nov 2026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Hospitality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78.5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Good; operator unknown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Insurance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77.0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Good; Medicare enrollment underway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Automotive (B2B repair)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75.5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Good for the two mobile operators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Retail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57.4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Low to moderate; store visits at best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Other (cemetery, pets, nonprofits)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44.6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Mixed; six are nonprofits or non-businesses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not shown"/>
          <p:cNvSpPr txBox="1"/>
          <p:nvPr/>
        </p:nvSpPr>
        <p:spPr>
          <a:xfrm>
            <a:off x="548640" y="55321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Not shown: B2B printing (1, 70.0), pawn (1, 67.0), external education (1), healthcare nonprofit (1), two unassessable records, and nine internal properties.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INDUSTRY OPPORTUNITY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Industry scores at a glance (management framework)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Source: MASTER MANAGEMENT VIEW, average Opportunity Score by consolidated industry, external prospects only. Count in brackets.</a:t>
            </a:r>
            <a:endParaRPr lang="en-US" sz="1100" dirty="0"/>
          </a:p>
        </p:txBody>
      </p:sp>
      <p:graphicFrame>
        <p:nvGraphicFramePr>
          <p:cNvPr id="6" name="industry chart" descr=""/>
          <p:cNvGraphicFramePr/>
          <p:nvPr/>
        </p:nvGraphicFramePr>
        <p:xfrm>
          <a:off x="548640" y="1417320"/>
          <a:ext cx="76809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ard Two real clusters"/>
          <p:cNvSpPr/>
          <p:nvPr/>
        </p:nvSpPr>
        <p:spPr>
          <a:xfrm>
            <a:off x="8549640" y="1508760"/>
            <a:ext cx="3093415" cy="1417320"/>
          </a:xfrm>
          <a:prstGeom prst="roundRect">
            <a:avLst>
              <a:gd name="adj" fmla="val 9032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8" name="badge"/>
          <p:cNvSpPr/>
          <p:nvPr/>
        </p:nvSpPr>
        <p:spPr>
          <a:xfrm>
            <a:off x="8823960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on FiTarge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3688" y="1892808"/>
            <a:ext cx="237744" cy="237744"/>
          </a:xfrm>
          <a:prstGeom prst="rect">
            <a:avLst/>
          </a:prstGeom>
        </p:spPr>
      </p:pic>
      <p:sp>
        <p:nvSpPr>
          <p:cNvPr id="10" name="head Two real clusters"/>
          <p:cNvSpPr txBox="1"/>
          <p:nvPr/>
        </p:nvSpPr>
        <p:spPr>
          <a:xfrm>
            <a:off x="9418320" y="1783080"/>
            <a:ext cx="1950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Two real clusters</a:t>
            </a:r>
            <a:endParaRPr lang="en-US" sz="1700" dirty="0"/>
          </a:p>
        </p:txBody>
      </p:sp>
      <p:sp>
        <p:nvSpPr>
          <p:cNvPr id="11" name="body Two real clusters"/>
          <p:cNvSpPr txBox="1"/>
          <p:nvPr/>
        </p:nvSpPr>
        <p:spPr>
          <a:xfrm>
            <a:off x="8823960" y="2377440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Dental (3) and Home Services (8) are the only multi-record industries in the HIGH band.</a:t>
            </a:r>
            <a:endParaRPr lang="en-US" sz="1300" dirty="0"/>
          </a:p>
        </p:txBody>
      </p:sp>
      <p:sp>
        <p:nvSpPr>
          <p:cNvPr id="12" name="card Four one-offs"/>
          <p:cNvSpPr/>
          <p:nvPr/>
        </p:nvSpPr>
        <p:spPr>
          <a:xfrm>
            <a:off x="8549640" y="3108960"/>
            <a:ext cx="3093415" cy="1417320"/>
          </a:xfrm>
          <a:prstGeom prst="roundRect">
            <a:avLst>
              <a:gd name="adj" fmla="val 9032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13" name="badge"/>
          <p:cNvSpPr/>
          <p:nvPr/>
        </p:nvSpPr>
        <p:spPr>
          <a:xfrm>
            <a:off x="8823960" y="3383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 FiAlertCircl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3688" y="3493008"/>
            <a:ext cx="237744" cy="237744"/>
          </a:xfrm>
          <a:prstGeom prst="rect">
            <a:avLst/>
          </a:prstGeom>
        </p:spPr>
      </p:pic>
      <p:sp>
        <p:nvSpPr>
          <p:cNvPr id="15" name="head Four one-offs"/>
          <p:cNvSpPr txBox="1"/>
          <p:nvPr/>
        </p:nvSpPr>
        <p:spPr>
          <a:xfrm>
            <a:off x="9418320" y="3383280"/>
            <a:ext cx="1950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Four one-offs</a:t>
            </a:r>
            <a:endParaRPr lang="en-US" sz="1700" dirty="0"/>
          </a:p>
        </p:txBody>
      </p:sp>
      <p:sp>
        <p:nvSpPr>
          <p:cNvPr id="16" name="body Four one-offs"/>
          <p:cNvSpPr txBox="1"/>
          <p:nvPr/>
        </p:nvSpPr>
        <p:spPr>
          <a:xfrm>
            <a:off x="8823960" y="3977640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Healthcare, Insurance, Real Estate and Hospitality score HIGH but are one business each.</a:t>
            </a:r>
            <a:endParaRPr lang="en-US" sz="1300" dirty="0"/>
          </a:p>
        </p:txBody>
      </p:sp>
      <p:sp>
        <p:nvSpPr>
          <p:cNvPr id="17" name="card Below the line"/>
          <p:cNvSpPr/>
          <p:nvPr/>
        </p:nvSpPr>
        <p:spPr>
          <a:xfrm>
            <a:off x="8549640" y="4709160"/>
            <a:ext cx="3093415" cy="1417320"/>
          </a:xfrm>
          <a:prstGeom prst="roundRect">
            <a:avLst>
              <a:gd name="adj" fmla="val 9032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18" name="badge"/>
          <p:cNvSpPr/>
          <p:nvPr/>
        </p:nvSpPr>
        <p:spPr>
          <a:xfrm>
            <a:off x="8823960" y="4983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 FiTrendingUp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3688" y="5093208"/>
            <a:ext cx="237744" cy="237744"/>
          </a:xfrm>
          <a:prstGeom prst="rect">
            <a:avLst/>
          </a:prstGeom>
        </p:spPr>
      </p:pic>
      <p:sp>
        <p:nvSpPr>
          <p:cNvPr id="20" name="head Below the line"/>
          <p:cNvSpPr txBox="1"/>
          <p:nvPr/>
        </p:nvSpPr>
        <p:spPr>
          <a:xfrm>
            <a:off x="9418320" y="4983480"/>
            <a:ext cx="1950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Below the line</a:t>
            </a:r>
            <a:endParaRPr lang="en-US" sz="1700" dirty="0"/>
          </a:p>
        </p:txBody>
      </p:sp>
      <p:sp>
        <p:nvSpPr>
          <p:cNvPr id="21" name="body Below the line"/>
          <p:cNvSpPr txBox="1"/>
          <p:nvPr/>
        </p:nvSpPr>
        <p:spPr>
          <a:xfrm>
            <a:off x="8823960" y="5577840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Retail, Education and Other are dominated by store-visit models and nonprofits.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BUSINESS MODELS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Urgent, high-ticket, local models score best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Source: Section 3, Business Model Opportunity. A prospect can carry several attributes.</a:t>
            </a:r>
            <a:endParaRPr lang="en-US" sz="1100" dirty="0"/>
          </a:p>
        </p:txBody>
      </p:sp>
      <p:graphicFrame>
        <p:nvGraphicFramePr>
          <p:cNvPr id="9" name="model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88720"/>
                <a:gridCol w="1188720"/>
                <a:gridCol w="5788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Business model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Prospects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Avg score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Why it is attractive (Inferred from Step 4 and 5 rubrics)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Multi-location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92.0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Each dental office is its own local target with its own Maps presence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Emergency service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89.3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Urgent search then a call; little price shopping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High-ticket service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82.8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One roof, implant case or termite job pays for weeks of clicks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Lead generation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82.2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Tracked call or quote form; cost per lead measurable from day one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Subscription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80.8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Recurring pest plans, bin cleaning, office memberships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Local service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18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79.8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Clean geo-targeting; Maps and location extensions apply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B2B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75.7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Smaller volume, high intent, repeat accounts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Retail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63.7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Store visits hard to measure; thin margins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Nonprofit, event or association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41.7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No commercial conversion; Google Ad Grants fits better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GEOGRAPHY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Where the 19 Priority 1 and 2 prospects are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Source: ENRICHED_PROSPECTS verified addresses and service areas (Step 6). Counts cover the 13 Priority 1 and 6 Priority 2 businesses.</a:t>
            </a:r>
            <a:endParaRPr lang="en-US" sz="1100" dirty="0"/>
          </a:p>
        </p:txBody>
      </p:sp>
      <p:sp>
        <p:nvSpPr>
          <p:cNvPr id="6" name="stat 8"/>
          <p:cNvSpPr/>
          <p:nvPr/>
        </p:nvSpPr>
        <p:spPr>
          <a:xfrm>
            <a:off x="548640" y="1508760"/>
            <a:ext cx="2567864" cy="2468880"/>
          </a:xfrm>
          <a:prstGeom prst="roundRect">
            <a:avLst>
              <a:gd name="adj" fmla="val 518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badge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 FiMapPi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92808"/>
            <a:ext cx="237744" cy="237744"/>
          </a:xfrm>
          <a:prstGeom prst="rect">
            <a:avLst/>
          </a:prstGeom>
        </p:spPr>
      </p:pic>
      <p:sp>
        <p:nvSpPr>
          <p:cNvPr id="9" name="eyebrow 8"/>
          <p:cNvSpPr txBox="1"/>
          <p:nvPr/>
        </p:nvSpPr>
        <p:spPr>
          <a:xfrm>
            <a:off x="1417320" y="1783080"/>
            <a:ext cx="1424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Puget Sound, WA</a:t>
            </a:r>
            <a:endParaRPr lang="en-US" sz="1300" dirty="0"/>
          </a:p>
        </p:txBody>
      </p:sp>
      <p:sp>
        <p:nvSpPr>
          <p:cNvPr id="10" name="num 8"/>
          <p:cNvSpPr txBox="1"/>
          <p:nvPr/>
        </p:nvSpPr>
        <p:spPr>
          <a:xfrm>
            <a:off x="822960" y="2331720"/>
            <a:ext cx="2019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8</a:t>
            </a:r>
            <a:endParaRPr lang="en-US" sz="4400" dirty="0"/>
          </a:p>
        </p:txBody>
      </p:sp>
      <p:sp>
        <p:nvSpPr>
          <p:cNvPr id="11" name="label 8"/>
          <p:cNvSpPr txBox="1"/>
          <p:nvPr/>
        </p:nvSpPr>
        <p:spPr>
          <a:xfrm>
            <a:off x="822960" y="3246120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7 in Pierce and south King County, 1 in Renton</a:t>
            </a:r>
            <a:endParaRPr lang="en-US" sz="1200" dirty="0"/>
          </a:p>
        </p:txBody>
      </p:sp>
      <p:sp>
        <p:nvSpPr>
          <p:cNvPr id="12" name="stat 8"/>
          <p:cNvSpPr/>
          <p:nvPr/>
        </p:nvSpPr>
        <p:spPr>
          <a:xfrm>
            <a:off x="3390824" y="1508760"/>
            <a:ext cx="2567864" cy="2468880"/>
          </a:xfrm>
          <a:prstGeom prst="roundRect">
            <a:avLst>
              <a:gd name="adj" fmla="val 5185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13" name="badge"/>
          <p:cNvSpPr/>
          <p:nvPr/>
        </p:nvSpPr>
        <p:spPr>
          <a:xfrm>
            <a:off x="3665144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 FiMapPi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4872" y="1892808"/>
            <a:ext cx="237744" cy="237744"/>
          </a:xfrm>
          <a:prstGeom prst="rect">
            <a:avLst/>
          </a:prstGeom>
        </p:spPr>
      </p:pic>
      <p:sp>
        <p:nvSpPr>
          <p:cNvPr id="15" name="eyebrow 8"/>
          <p:cNvSpPr txBox="1"/>
          <p:nvPr/>
        </p:nvSpPr>
        <p:spPr>
          <a:xfrm>
            <a:off x="4259504" y="1783080"/>
            <a:ext cx="1424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California</a:t>
            </a:r>
            <a:endParaRPr lang="en-US" sz="1300" dirty="0"/>
          </a:p>
        </p:txBody>
      </p:sp>
      <p:sp>
        <p:nvSpPr>
          <p:cNvPr id="16" name="num 8"/>
          <p:cNvSpPr txBox="1"/>
          <p:nvPr/>
        </p:nvSpPr>
        <p:spPr>
          <a:xfrm>
            <a:off x="3665144" y="2331720"/>
            <a:ext cx="2019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8</a:t>
            </a:r>
            <a:endParaRPr lang="en-US" sz="4400" dirty="0"/>
          </a:p>
        </p:txBody>
      </p:sp>
      <p:sp>
        <p:nvSpPr>
          <p:cNvPr id="17" name="label 8"/>
          <p:cNvSpPr txBox="1"/>
          <p:nvPr/>
        </p:nvSpPr>
        <p:spPr>
          <a:xfrm>
            <a:off x="3665144" y="3246120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Spread from the Central Coast to the Inland Empire; no shared market</a:t>
            </a:r>
            <a:endParaRPr lang="en-US" sz="1200" dirty="0"/>
          </a:p>
        </p:txBody>
      </p:sp>
      <p:sp>
        <p:nvSpPr>
          <p:cNvPr id="18" name="stat 2"/>
          <p:cNvSpPr/>
          <p:nvPr/>
        </p:nvSpPr>
        <p:spPr>
          <a:xfrm>
            <a:off x="6233008" y="1508760"/>
            <a:ext cx="2567864" cy="2468880"/>
          </a:xfrm>
          <a:prstGeom prst="roundRect">
            <a:avLst>
              <a:gd name="adj" fmla="val 5185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19" name="badge"/>
          <p:cNvSpPr/>
          <p:nvPr/>
        </p:nvSpPr>
        <p:spPr>
          <a:xfrm>
            <a:off x="6507328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 FiMapPi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056" y="1892808"/>
            <a:ext cx="237744" cy="237744"/>
          </a:xfrm>
          <a:prstGeom prst="rect">
            <a:avLst/>
          </a:prstGeom>
        </p:spPr>
      </p:pic>
      <p:sp>
        <p:nvSpPr>
          <p:cNvPr id="21" name="eyebrow 2"/>
          <p:cNvSpPr txBox="1"/>
          <p:nvPr/>
        </p:nvSpPr>
        <p:spPr>
          <a:xfrm>
            <a:off x="7101688" y="1783080"/>
            <a:ext cx="1424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Tulsa, OK</a:t>
            </a:r>
            <a:endParaRPr lang="en-US" sz="1300" dirty="0"/>
          </a:p>
        </p:txBody>
      </p:sp>
      <p:sp>
        <p:nvSpPr>
          <p:cNvPr id="22" name="num 2"/>
          <p:cNvSpPr txBox="1"/>
          <p:nvPr/>
        </p:nvSpPr>
        <p:spPr>
          <a:xfrm>
            <a:off x="6507328" y="2331720"/>
            <a:ext cx="2019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2</a:t>
            </a:r>
            <a:endParaRPr lang="en-US" sz="4400" dirty="0"/>
          </a:p>
        </p:txBody>
      </p:sp>
      <p:sp>
        <p:nvSpPr>
          <p:cNvPr id="23" name="label 2"/>
          <p:cNvSpPr txBox="1"/>
          <p:nvPr/>
        </p:nvSpPr>
        <p:spPr>
          <a:xfrm>
            <a:off x="6507328" y="3246120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Workhub Tulsa and Calvary Cemetery</a:t>
            </a:r>
            <a:endParaRPr lang="en-US" sz="1200" dirty="0"/>
          </a:p>
        </p:txBody>
      </p:sp>
      <p:sp>
        <p:nvSpPr>
          <p:cNvPr id="24" name="stat 1"/>
          <p:cNvSpPr/>
          <p:nvPr/>
        </p:nvSpPr>
        <p:spPr>
          <a:xfrm>
            <a:off x="9075191" y="1508760"/>
            <a:ext cx="2567864" cy="2468880"/>
          </a:xfrm>
          <a:prstGeom prst="roundRect">
            <a:avLst>
              <a:gd name="adj" fmla="val 5185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25" name="badge"/>
          <p:cNvSpPr/>
          <p:nvPr/>
        </p:nvSpPr>
        <p:spPr>
          <a:xfrm>
            <a:off x="9349511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on FiMapPi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9239" y="1892808"/>
            <a:ext cx="237744" cy="237744"/>
          </a:xfrm>
          <a:prstGeom prst="rect">
            <a:avLst/>
          </a:prstGeom>
        </p:spPr>
      </p:pic>
      <p:sp>
        <p:nvSpPr>
          <p:cNvPr id="27" name="eyebrow 1"/>
          <p:cNvSpPr txBox="1"/>
          <p:nvPr/>
        </p:nvSpPr>
        <p:spPr>
          <a:xfrm>
            <a:off x="9943871" y="1783080"/>
            <a:ext cx="1424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Indianapolis, IN</a:t>
            </a:r>
            <a:endParaRPr lang="en-US" sz="1300" dirty="0"/>
          </a:p>
        </p:txBody>
      </p:sp>
      <p:sp>
        <p:nvSpPr>
          <p:cNvPr id="28" name="num 1"/>
          <p:cNvSpPr txBox="1"/>
          <p:nvPr/>
        </p:nvSpPr>
        <p:spPr>
          <a:xfrm>
            <a:off x="9349511" y="2331720"/>
            <a:ext cx="2019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1</a:t>
            </a:r>
            <a:endParaRPr lang="en-US" sz="4400" dirty="0"/>
          </a:p>
        </p:txBody>
      </p:sp>
      <p:sp>
        <p:nvSpPr>
          <p:cNvPr id="29" name="label 1"/>
          <p:cNvSpPr txBox="1"/>
          <p:nvPr/>
        </p:nvSpPr>
        <p:spPr>
          <a:xfrm>
            <a:off x="9349511" y="3246120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Prime Care Dental Indy, two offices</a:t>
            </a:r>
            <a:endParaRPr lang="en-US" sz="1200" dirty="0"/>
          </a:p>
        </p:txBody>
      </p:sp>
      <p:sp>
        <p:nvSpPr>
          <p:cNvPr id="30" name="card One market to learn once"/>
          <p:cNvSpPr/>
          <p:nvPr/>
        </p:nvSpPr>
        <p:spPr>
          <a:xfrm>
            <a:off x="548640" y="4251960"/>
            <a:ext cx="5410048" cy="1874520"/>
          </a:xfrm>
          <a:prstGeom prst="roundRect">
            <a:avLst>
              <a:gd name="adj" fmla="val 682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31" name="badge"/>
          <p:cNvSpPr/>
          <p:nvPr/>
        </p:nvSpPr>
        <p:spPr>
          <a:xfrm>
            <a:off x="822960" y="4526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icon FiMap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636008"/>
            <a:ext cx="237744" cy="237744"/>
          </a:xfrm>
          <a:prstGeom prst="rect">
            <a:avLst/>
          </a:prstGeom>
        </p:spPr>
      </p:pic>
      <p:sp>
        <p:nvSpPr>
          <p:cNvPr id="33" name="head One market to learn once"/>
          <p:cNvSpPr txBox="1"/>
          <p:nvPr/>
        </p:nvSpPr>
        <p:spPr>
          <a:xfrm>
            <a:off x="1417320" y="452628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One market to learn once</a:t>
            </a:r>
            <a:endParaRPr lang="en-US" sz="1700" dirty="0"/>
          </a:p>
        </p:txBody>
      </p:sp>
      <p:sp>
        <p:nvSpPr>
          <p:cNvPr id="34" name="body One market to learn once"/>
          <p:cNvSpPr txBox="1"/>
          <p:nvPr/>
        </p:nvSpPr>
        <p:spPr>
          <a:xfrm>
            <a:off x="822960" y="5120640"/>
            <a:ext cx="486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AA Roofing, Superior Coatings, American Tree, Trans Landscaping, Clean &amp; Clear, Alignments Northwest and Axle Surgeons all sell into the same Pierce County and south King County radius. Shared geo-targeting, shared landing-page lessons, one field visit covers all seven.</a:t>
            </a:r>
            <a:endParaRPr lang="en-US" sz="1300" dirty="0"/>
          </a:p>
        </p:txBody>
      </p:sp>
      <p:sp>
        <p:nvSpPr>
          <p:cNvPr id="35" name="card Eight separate pitches in California"/>
          <p:cNvSpPr/>
          <p:nvPr/>
        </p:nvSpPr>
        <p:spPr>
          <a:xfrm>
            <a:off x="6233008" y="4251960"/>
            <a:ext cx="5410048" cy="1874520"/>
          </a:xfrm>
          <a:prstGeom prst="roundRect">
            <a:avLst>
              <a:gd name="adj" fmla="val 682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36" name="badge"/>
          <p:cNvSpPr/>
          <p:nvPr/>
        </p:nvSpPr>
        <p:spPr>
          <a:xfrm>
            <a:off x="6507328" y="4526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7" name="icon FiGlob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7056" y="4636008"/>
            <a:ext cx="237744" cy="237744"/>
          </a:xfrm>
          <a:prstGeom prst="rect">
            <a:avLst/>
          </a:prstGeom>
        </p:spPr>
      </p:pic>
      <p:sp>
        <p:nvSpPr>
          <p:cNvPr id="38" name="head Eight separate pitches in California"/>
          <p:cNvSpPr txBox="1"/>
          <p:nvPr/>
        </p:nvSpPr>
        <p:spPr>
          <a:xfrm>
            <a:off x="7101688" y="452628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Eight separate pitches in California</a:t>
            </a:r>
            <a:endParaRPr lang="en-US" sz="1700" dirty="0"/>
          </a:p>
        </p:txBody>
      </p:sp>
      <p:sp>
        <p:nvSpPr>
          <p:cNvPr id="39" name="body Eight separate pitches in California"/>
          <p:cNvSpPr txBox="1"/>
          <p:nvPr/>
        </p:nvSpPr>
        <p:spPr>
          <a:xfrm>
            <a:off x="6507328" y="5120640"/>
            <a:ext cx="486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VIP Pest (Central Coast), Affordable Junk Removal (Sacramento), Zellers Group (Sonoma), Wheeler-Sonoma (Vallejo), Orion Optical (Concord), Ocean View Lodging (Fort Bragg), La Jolla Grooming (San Diego), Cunning Dental (Inland Empire). No shared geography; pitch each on its own local market.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 txBox="1"/>
          <p:nvPr/>
        </p:nvSpPr>
        <p:spPr>
          <a:xfrm>
            <a:off x="548640" y="128016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chemeClr val="accent1"/>
                </a:solidFill>
              </a:rPr>
              <a:t>02</a:t>
            </a:r>
            <a:endParaRPr lang="en-US" sz="15000" dirty="0"/>
          </a:p>
        </p:txBody>
      </p:sp>
      <p:sp>
        <p:nvSpPr>
          <p:cNvPr id="3" name="section title"/>
          <p:cNvSpPr txBox="1"/>
          <p:nvPr/>
        </p:nvSpPr>
        <p:spPr>
          <a:xfrm>
            <a:off x="548640" y="33832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Advertising activity</a:t>
            </a:r>
            <a:endParaRPr lang="en-US" sz="4800" dirty="0"/>
          </a:p>
        </p:txBody>
      </p:sp>
      <p:sp>
        <p:nvSpPr>
          <p:cNvPr id="4" name="section line"/>
          <p:cNvSpPr txBox="1"/>
          <p:nvPr/>
        </p:nvSpPr>
        <p:spPr>
          <a:xfrm>
            <a:off x="548640" y="4297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Who already runs Google Ads, who advertises elsewhere, and who is untapped.</a:t>
            </a:r>
            <a:endParaRPr lang="en-US" sz="2000" dirty="0"/>
          </a:p>
        </p:txBody>
      </p:sp>
      <p:sp>
        <p:nvSpPr>
          <p:cNvPr id="5" name="decor circle"/>
          <p:cNvSpPr/>
          <p:nvPr/>
        </p:nvSpPr>
        <p:spPr>
          <a:xfrm>
            <a:off x="8503920" y="1097280"/>
            <a:ext cx="3108960" cy="3108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decor dot"/>
          <p:cNvSpPr/>
          <p:nvPr/>
        </p:nvSpPr>
        <p:spPr>
          <a:xfrm>
            <a:off x="9966960" y="3291840"/>
            <a:ext cx="1463040" cy="1463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ADVERTISING RESEARCH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Who already advertises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Source: Section 4b, Advertising Activity; evidence per business on the ADS RESEARCH tab</a:t>
            </a:r>
            <a:endParaRPr lang="en-US" sz="1100" dirty="0"/>
          </a:p>
        </p:txBody>
      </p:sp>
      <p:sp>
        <p:nvSpPr>
          <p:cNvPr id="6" name="chart head"/>
          <p:cNvSpPr txBox="1"/>
          <p:nvPr/>
        </p:nvSpPr>
        <p:spPr>
          <a:xfrm>
            <a:off x="548640" y="1508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Google Ads status, 36 external prospects</a:t>
            </a:r>
            <a:endParaRPr lang="en-US" sz="1400" dirty="0"/>
          </a:p>
        </p:txBody>
      </p:sp>
      <p:graphicFrame>
        <p:nvGraphicFramePr>
          <p:cNvPr id="7" name="ads doughnut" descr=""/>
          <p:cNvGraphicFramePr/>
          <p:nvPr/>
        </p:nvGraphicFramePr>
        <p:xfrm>
          <a:off x="457200" y="1828800"/>
          <a:ext cx="53035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other finding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530352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Other findings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Count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Paid Meta (Facebook) advertising found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Google Ads tag on site, no ads found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TikTok or LinkedIn ad tags found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</a:tbl>
          </a:graphicData>
        </a:graphic>
      </p:graphicFrame>
      <p:sp>
        <p:nvSpPr>
          <p:cNvPr id="9" name="method head"/>
          <p:cNvSpPr txBox="1"/>
          <p:nvPr/>
        </p:nvSpPr>
        <p:spPr>
          <a:xfrm>
            <a:off x="6400800" y="1508760"/>
            <a:ext cx="5242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How it was checked</a:t>
            </a:r>
            <a:endParaRPr lang="en-US" sz="1400" dirty="0"/>
          </a:p>
        </p:txBody>
      </p:sp>
      <p:sp>
        <p:nvSpPr>
          <p:cNvPr id="10" name="badge"/>
          <p:cNvSpPr/>
          <p:nvPr/>
        </p:nvSpPr>
        <p:spPr>
          <a:xfrm>
            <a:off x="6400800" y="1965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 FiSearc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2075688"/>
            <a:ext cx="237744" cy="237744"/>
          </a:xfrm>
          <a:prstGeom prst="rect">
            <a:avLst/>
          </a:prstGeom>
        </p:spPr>
      </p:pic>
      <p:sp>
        <p:nvSpPr>
          <p:cNvPr id="12" name="method 0"/>
          <p:cNvSpPr txBox="1"/>
          <p:nvPr/>
        </p:nvSpPr>
        <p:spPr>
          <a:xfrm>
            <a:off x="7040880" y="1965960"/>
            <a:ext cx="4602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Google Ads Transparency Center by domain, US region, Any time and Last 30 days</a:t>
            </a:r>
            <a:endParaRPr lang="en-US" sz="1400" dirty="0"/>
          </a:p>
        </p:txBody>
      </p:sp>
      <p:sp>
        <p:nvSpPr>
          <p:cNvPr id="13" name="badge"/>
          <p:cNvSpPr/>
          <p:nvPr/>
        </p:nvSpPr>
        <p:spPr>
          <a:xfrm>
            <a:off x="6400800" y="2743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 FiShare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2852928"/>
            <a:ext cx="237744" cy="237744"/>
          </a:xfrm>
          <a:prstGeom prst="rect">
            <a:avLst/>
          </a:prstGeom>
        </p:spPr>
      </p:pic>
      <p:sp>
        <p:nvSpPr>
          <p:cNvPr id="15" name="method 1"/>
          <p:cNvSpPr txBox="1"/>
          <p:nvPr/>
        </p:nvSpPr>
        <p:spPr>
          <a:xfrm>
            <a:off x="7040880" y="2743200"/>
            <a:ext cx="4602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Meta Ad Library, exact business name; look-alike advertisers excluded</a:t>
            </a:r>
            <a:endParaRPr lang="en-US" sz="1400" dirty="0"/>
          </a:p>
        </p:txBody>
      </p:sp>
      <p:sp>
        <p:nvSpPr>
          <p:cNvPr id="16" name="badge"/>
          <p:cNvSpPr/>
          <p:nvPr/>
        </p:nvSpPr>
        <p:spPr>
          <a:xfrm>
            <a:off x="6400800" y="3520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 FiActivity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3630168"/>
            <a:ext cx="237744" cy="237744"/>
          </a:xfrm>
          <a:prstGeom prst="rect">
            <a:avLst/>
          </a:prstGeom>
        </p:spPr>
      </p:pic>
      <p:sp>
        <p:nvSpPr>
          <p:cNvPr id="18" name="method 2"/>
          <p:cNvSpPr txBox="1"/>
          <p:nvPr/>
        </p:nvSpPr>
        <p:spPr>
          <a:xfrm>
            <a:off x="7040880" y="3520440"/>
            <a:ext cx="4602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Saved website HTML scanned for Google, Meta, TikTok and LinkedIn ad tags</a:t>
            </a:r>
            <a:endParaRPr lang="en-US" sz="1400" dirty="0"/>
          </a:p>
        </p:txBody>
      </p:sp>
      <p:sp>
        <p:nvSpPr>
          <p:cNvPr id="19" name="badge"/>
          <p:cNvSpPr/>
          <p:nvPr/>
        </p:nvSpPr>
        <p:spPr>
          <a:xfrm>
            <a:off x="6400800" y="42976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 FiDatabas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4407408"/>
            <a:ext cx="237744" cy="237744"/>
          </a:xfrm>
          <a:prstGeom prst="rect">
            <a:avLst/>
          </a:prstGeom>
        </p:spPr>
      </p:pic>
      <p:sp>
        <p:nvSpPr>
          <p:cNvPr id="21" name="method 3"/>
          <p:cNvSpPr txBox="1"/>
          <p:nvPr/>
        </p:nvSpPr>
        <p:spPr>
          <a:xfrm>
            <a:off x="7040880" y="4297680"/>
            <a:ext cx="4602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Search29 for the accounts Around29 manages</a:t>
            </a:r>
            <a:endParaRPr lang="en-US" sz="1400" dirty="0"/>
          </a:p>
        </p:txBody>
      </p:sp>
      <p:sp>
        <p:nvSpPr>
          <p:cNvPr id="22" name="caveat"/>
          <p:cNvSpPr txBox="1"/>
          <p:nvPr/>
        </p:nvSpPr>
        <p:spPr>
          <a:xfrm>
            <a:off x="6400800" y="5166360"/>
            <a:ext cx="5242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"No" means no evidence was found, not that the business never advertised. Yelp and non-US regions could not be verified.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SEGMENTS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Three advertising segments, three pitches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Source: Section 4b. Northwest Eco Clean appears in both A and C: Meta ads found, no Google Ads found.</a:t>
            </a:r>
            <a:endParaRPr lang="en-US" sz="1100" dirty="0"/>
          </a:p>
        </p:txBody>
      </p:sp>
      <p:sp>
        <p:nvSpPr>
          <p:cNvPr id="6" name="stat 9"/>
          <p:cNvSpPr/>
          <p:nvPr/>
        </p:nvSpPr>
        <p:spPr>
          <a:xfrm>
            <a:off x="548640" y="1508760"/>
            <a:ext cx="3515258" cy="4526280"/>
          </a:xfrm>
          <a:prstGeom prst="roundRect">
            <a:avLst>
              <a:gd name="adj" fmla="val 36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badge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 Fi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92808"/>
            <a:ext cx="237744" cy="237744"/>
          </a:xfrm>
          <a:prstGeom prst="rect">
            <a:avLst/>
          </a:prstGeom>
        </p:spPr>
      </p:pic>
      <p:sp>
        <p:nvSpPr>
          <p:cNvPr id="9" name="eyebrow 9"/>
          <p:cNvSpPr txBox="1"/>
          <p:nvPr/>
        </p:nvSpPr>
        <p:spPr>
          <a:xfrm>
            <a:off x="1417320" y="1783080"/>
            <a:ext cx="2372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Segment A: untapped</a:t>
            </a:r>
            <a:endParaRPr lang="en-US" sz="1300" dirty="0"/>
          </a:p>
        </p:txBody>
      </p:sp>
      <p:sp>
        <p:nvSpPr>
          <p:cNvPr id="10" name="num 9"/>
          <p:cNvSpPr txBox="1"/>
          <p:nvPr/>
        </p:nvSpPr>
        <p:spPr>
          <a:xfrm>
            <a:off x="822960" y="2331720"/>
            <a:ext cx="2966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9</a:t>
            </a:r>
            <a:endParaRPr lang="en-US" sz="4400" dirty="0"/>
          </a:p>
        </p:txBody>
      </p:sp>
      <p:sp>
        <p:nvSpPr>
          <p:cNvPr id="11" name="label 9"/>
          <p:cNvSpPr txBox="1"/>
          <p:nvPr/>
        </p:nvSpPr>
        <p:spPr>
          <a:xfrm>
            <a:off x="822960" y="3246120"/>
            <a:ext cx="296661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HIGH opportunity, no Google Ads evidence, Priority 1 or 2. The cleanest acquisition pitches.</a:t>
            </a:r>
            <a:endParaRPr lang="en-US" sz="1400" dirty="0"/>
          </a:p>
        </p:txBody>
      </p:sp>
      <p:sp>
        <p:nvSpPr>
          <p:cNvPr id="12" name="detail Segment A: untapped"/>
          <p:cNvSpPr txBox="1"/>
          <p:nvPr/>
        </p:nvSpPr>
        <p:spPr>
          <a:xfrm>
            <a:off x="822960" y="4206240"/>
            <a:ext cx="296661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AA Roofing and Decking, VIP Pest Solutions, Superior Coatings NW, American Tree Excavation, Zellers Group, Alignments Northwest, Northwest Eco Clean, Trans Landscaping, Axle Surgeons of Seattle</a:t>
            </a:r>
            <a:endParaRPr lang="en-US" sz="1200" dirty="0"/>
          </a:p>
        </p:txBody>
      </p:sp>
      <p:sp>
        <p:nvSpPr>
          <p:cNvPr id="13" name="stat 7"/>
          <p:cNvSpPr/>
          <p:nvPr/>
        </p:nvSpPr>
        <p:spPr>
          <a:xfrm>
            <a:off x="4338218" y="1508760"/>
            <a:ext cx="3515258" cy="4526280"/>
          </a:xfrm>
          <a:prstGeom prst="roundRect">
            <a:avLst>
              <a:gd name="adj" fmla="val 3642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14" name="badge"/>
          <p:cNvSpPr/>
          <p:nvPr/>
        </p:nvSpPr>
        <p:spPr>
          <a:xfrm>
            <a:off x="4612538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 FiDollarSig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266" y="1892808"/>
            <a:ext cx="237744" cy="237744"/>
          </a:xfrm>
          <a:prstGeom prst="rect">
            <a:avLst/>
          </a:prstGeom>
        </p:spPr>
      </p:pic>
      <p:sp>
        <p:nvSpPr>
          <p:cNvPr id="16" name="eyebrow 7"/>
          <p:cNvSpPr txBox="1"/>
          <p:nvPr/>
        </p:nvSpPr>
        <p:spPr>
          <a:xfrm>
            <a:off x="5206898" y="1783080"/>
            <a:ext cx="2372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Segment B: on Google Ads</a:t>
            </a:r>
            <a:endParaRPr lang="en-US" sz="1300" dirty="0"/>
          </a:p>
        </p:txBody>
      </p:sp>
      <p:sp>
        <p:nvSpPr>
          <p:cNvPr id="17" name="num 7"/>
          <p:cNvSpPr txBox="1"/>
          <p:nvPr/>
        </p:nvSpPr>
        <p:spPr>
          <a:xfrm>
            <a:off x="4612538" y="2331720"/>
            <a:ext cx="2966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7</a:t>
            </a:r>
            <a:endParaRPr lang="en-US" sz="4400" dirty="0"/>
          </a:p>
        </p:txBody>
      </p:sp>
      <p:sp>
        <p:nvSpPr>
          <p:cNvPr id="18" name="label 7"/>
          <p:cNvSpPr txBox="1"/>
          <p:nvPr/>
        </p:nvSpPr>
        <p:spPr>
          <a:xfrm>
            <a:off x="4612538" y="3246120"/>
            <a:ext cx="296661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Pitch optimisation, conversion tracking, expansion and landing-page alignment, not acquisition.</a:t>
            </a:r>
            <a:endParaRPr lang="en-US" sz="1400" dirty="0"/>
          </a:p>
        </p:txBody>
      </p:sp>
      <p:sp>
        <p:nvSpPr>
          <p:cNvPr id="19" name="detail Segment B: on Google Ads"/>
          <p:cNvSpPr txBox="1"/>
          <p:nvPr/>
        </p:nvSpPr>
        <p:spPr>
          <a:xfrm>
            <a:off x="4612538" y="4206240"/>
            <a:ext cx="296661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Two are Around29-managed accounts (Cunning Dental Group, Workhub Tulsa): an internal expansion conversation.</a:t>
            </a:r>
            <a:endParaRPr lang="en-US" sz="1200" dirty="0"/>
          </a:p>
        </p:txBody>
      </p:sp>
      <p:sp>
        <p:nvSpPr>
          <p:cNvPr id="20" name="stat 2"/>
          <p:cNvSpPr/>
          <p:nvPr/>
        </p:nvSpPr>
        <p:spPr>
          <a:xfrm>
            <a:off x="8127797" y="1508760"/>
            <a:ext cx="3515258" cy="4526280"/>
          </a:xfrm>
          <a:prstGeom prst="roundRect">
            <a:avLst>
              <a:gd name="adj" fmla="val 3642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21" name="badge"/>
          <p:cNvSpPr/>
          <p:nvPr/>
        </p:nvSpPr>
        <p:spPr>
          <a:xfrm>
            <a:off x="8402117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con FiShare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845" y="1892808"/>
            <a:ext cx="237744" cy="237744"/>
          </a:xfrm>
          <a:prstGeom prst="rect">
            <a:avLst/>
          </a:prstGeom>
        </p:spPr>
      </p:pic>
      <p:sp>
        <p:nvSpPr>
          <p:cNvPr id="23" name="eyebrow 2"/>
          <p:cNvSpPr txBox="1"/>
          <p:nvPr/>
        </p:nvSpPr>
        <p:spPr>
          <a:xfrm>
            <a:off x="8996477" y="1783080"/>
            <a:ext cx="2372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Segment C: paid elsewhere</a:t>
            </a:r>
            <a:endParaRPr lang="en-US" sz="1300" dirty="0"/>
          </a:p>
        </p:txBody>
      </p:sp>
      <p:sp>
        <p:nvSpPr>
          <p:cNvPr id="24" name="num 2"/>
          <p:cNvSpPr txBox="1"/>
          <p:nvPr/>
        </p:nvSpPr>
        <p:spPr>
          <a:xfrm>
            <a:off x="8402117" y="2331720"/>
            <a:ext cx="2966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2</a:t>
            </a:r>
            <a:endParaRPr lang="en-US" sz="4400" dirty="0"/>
          </a:p>
        </p:txBody>
      </p:sp>
      <p:sp>
        <p:nvSpPr>
          <p:cNvPr id="25" name="label 2"/>
          <p:cNvSpPr txBox="1"/>
          <p:nvPr/>
        </p:nvSpPr>
        <p:spPr>
          <a:xfrm>
            <a:off x="8402117" y="3246120"/>
            <a:ext cx="296661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Buying paid acquisition on Meta, no Google Ads found. Position Google Ads as an additional channel.</a:t>
            </a:r>
            <a:endParaRPr lang="en-US" sz="1400" dirty="0"/>
          </a:p>
        </p:txBody>
      </p:sp>
      <p:sp>
        <p:nvSpPr>
          <p:cNvPr id="26" name="detail Segment C: paid elsewhere"/>
          <p:cNvSpPr txBox="1"/>
          <p:nvPr/>
        </p:nvSpPr>
        <p:spPr>
          <a:xfrm>
            <a:off x="8402117" y="4206240"/>
            <a:ext cx="296661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Northwest Eco Clean (own page, since May 2026) and Around Cricket (through Around29's ad account, data to August 2026)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SEGMENT B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seven already running Google Ads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Source: Section 4b, Segment B; Google Ads Transparency Center, Meta Ad Library, Search29</a:t>
            </a:r>
            <a:endParaRPr lang="en-US" sz="1100" dirty="0"/>
          </a:p>
        </p:txBody>
      </p:sp>
      <p:graphicFrame>
        <p:nvGraphicFramePr>
          <p:cNvPr id="14" name="segment b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7315200"/>
                <a:gridCol w="130759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Business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Evidence (Verified unless marked)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Confidence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Cunning Dental Group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36 ads, all within 30 days; Around29-managed account, about $8,239 spend, 585 clicks, 26 conversions 1 Sep to 7 Oct 2026; 4 active Meta ads since 1 Oct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Workhub Tulsa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8 ads placed by Around29; Search29 budget $700 a month, $982 spend, 3 conversions 1 Sep to 7 Oct 2026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Prime Care Dental Indy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5 ads by Primecare Dental LLC, all within 30 days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Orion Optical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9 ads by Orion Optical, LLC, all within 30 days; an outside agency may manage them (Inferred from the email on file)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Calvary Cemetery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14 ads by the advertiser CoxNet within 30 days (a media company, Inferred); one Meta video ad 17 Jun to 28 Sep 2026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Ocean View Lodging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4 ads by an individual advertiser within 30 days; relationship to the lodge unverified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Affordable Junk Removal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 ad by a third-party advertiser (Choice Medias LLC) within 30 days; relationship unverified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no judgement"/>
          <p:cNvSpPr txBox="1"/>
          <p:nvPr/>
        </p:nvSpPr>
        <p:spPr>
          <a:xfrm>
            <a:off x="548640" y="56235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No performance judgement is made about these accounts. The angle is optimisation, conversion tracking, campaign expansion and landing-page alignment.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 txBox="1"/>
          <p:nvPr/>
        </p:nvSpPr>
        <p:spPr>
          <a:xfrm>
            <a:off x="548640" y="128016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chemeClr val="accent1"/>
                </a:solidFill>
              </a:rPr>
              <a:t>03</a:t>
            </a:r>
            <a:endParaRPr lang="en-US" sz="15000" dirty="0"/>
          </a:p>
        </p:txBody>
      </p:sp>
      <p:sp>
        <p:nvSpPr>
          <p:cNvPr id="3" name="section title"/>
          <p:cNvSpPr txBox="1"/>
          <p:nvPr/>
        </p:nvSpPr>
        <p:spPr>
          <a:xfrm>
            <a:off x="548640" y="33832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traffic</a:t>
            </a:r>
            <a:endParaRPr lang="en-US" sz="4800" dirty="0"/>
          </a:p>
        </p:txBody>
      </p:sp>
      <p:sp>
        <p:nvSpPr>
          <p:cNvPr id="4" name="section line"/>
          <p:cNvSpPr txBox="1"/>
          <p:nvPr/>
        </p:nvSpPr>
        <p:spPr>
          <a:xfrm>
            <a:off x="548640" y="4297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First-party analytics only. Four sites verified, 41 marked Not Available rather than estimated.</a:t>
            </a:r>
            <a:endParaRPr lang="en-US" sz="2000" dirty="0"/>
          </a:p>
        </p:txBody>
      </p:sp>
      <p:sp>
        <p:nvSpPr>
          <p:cNvPr id="5" name="decor circle"/>
          <p:cNvSpPr/>
          <p:nvPr/>
        </p:nvSpPr>
        <p:spPr>
          <a:xfrm>
            <a:off x="8503920" y="1097280"/>
            <a:ext cx="3108960" cy="3108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decor dot"/>
          <p:cNvSpPr/>
          <p:nvPr/>
        </p:nvSpPr>
        <p:spPr>
          <a:xfrm>
            <a:off x="9966960" y="3291840"/>
            <a:ext cx="1463040" cy="1463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WEBSITE TRAFFIC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Verified for four sites only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Source: Section 4c; Search29 GA4 properties, 1 to 30 September 2026. Metric is Sessions, which is additive and reconciles to the channel-monthly table.</a:t>
            </a:r>
            <a:endParaRPr lang="en-US" sz="1100" dirty="0"/>
          </a:p>
        </p:txBody>
      </p:sp>
      <p:sp>
        <p:nvSpPr>
          <p:cNvPr id="6" name="rule"/>
          <p:cNvSpPr txBox="1"/>
          <p:nvPr/>
        </p:nvSpPr>
        <p:spPr>
          <a:xfrm>
            <a:off x="548640" y="1463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Only authenticated first-party analytics count. No Similarweb or Semrush estimates were used, and ad clicks were not converted into traffic. Everything else is Not Available, not guessed.</a:t>
            </a:r>
            <a:endParaRPr lang="en-US" sz="1500" dirty="0"/>
          </a:p>
        </p:txBody>
      </p:sp>
      <p:graphicFrame>
        <p:nvGraphicFramePr>
          <p:cNvPr id="16" name="traffic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743200"/>
                <a:gridCol w="4023360"/>
                <a:gridCol w="167335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Business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Website traffic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Domain verification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Confidence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Affordable Junk Removal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838 sessions/month (Sep 2026)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Website, Search Console and GTM container all match the live site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Cunning Dental Group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480 sessions/month (Sep 2026)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GA4 property named with the domain; Search Console and GTM match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Around29 (internal)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695 sessions/month (Sep 2026)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Website and Search Console match; property name lacks the domain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Send29 (internal)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72 sessions (2 to 30 Sep, partial)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GA4 connected 2 Sep; 20 of 30 days present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All other 41 websites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Not Available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No first-party access; most carry a GA4 tag Around29 cannot read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High that none is accessible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CHANNEL MIX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Where the verified traffic comes from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Source: WEBSITE TRAFFIC RESEARCH notes; Search29 GA4 channel-monthly table, September 2026 sessions by default channel group.</a:t>
            </a:r>
            <a:endParaRPr lang="en-US" sz="1100" dirty="0"/>
          </a:p>
        </p:txBody>
      </p:sp>
      <p:graphicFrame>
        <p:nvGraphicFramePr>
          <p:cNvPr id="6" name="channel chart" descr=""/>
          <p:cNvGraphicFramePr/>
          <p:nvPr/>
        </p:nvGraphicFramePr>
        <p:xfrm>
          <a:off x="548640" y="1508760"/>
          <a:ext cx="7589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tat 62%"/>
          <p:cNvSpPr/>
          <p:nvPr/>
        </p:nvSpPr>
        <p:spPr>
          <a:xfrm>
            <a:off x="8458200" y="1508760"/>
            <a:ext cx="3184855" cy="2148840"/>
          </a:xfrm>
          <a:prstGeom prst="roundRect">
            <a:avLst>
              <a:gd name="adj" fmla="val 595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8" name="badge"/>
          <p:cNvSpPr/>
          <p:nvPr/>
        </p:nvSpPr>
        <p:spPr>
          <a:xfrm>
            <a:off x="8732520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on FiDollarSig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2248" y="1892808"/>
            <a:ext cx="237744" cy="237744"/>
          </a:xfrm>
          <a:prstGeom prst="rect">
            <a:avLst/>
          </a:prstGeom>
        </p:spPr>
      </p:pic>
      <p:sp>
        <p:nvSpPr>
          <p:cNvPr id="10" name="num 62%"/>
          <p:cNvSpPr txBox="1"/>
          <p:nvPr/>
        </p:nvSpPr>
        <p:spPr>
          <a:xfrm>
            <a:off x="8732520" y="2331720"/>
            <a:ext cx="2636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62%</a:t>
            </a:r>
            <a:endParaRPr lang="en-US" sz="4400" dirty="0"/>
          </a:p>
        </p:txBody>
      </p:sp>
      <p:sp>
        <p:nvSpPr>
          <p:cNvPr id="11" name="label 62%"/>
          <p:cNvSpPr txBox="1"/>
          <p:nvPr/>
        </p:nvSpPr>
        <p:spPr>
          <a:xfrm>
            <a:off x="8732520" y="3246120"/>
            <a:ext cx="2636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of Affordable Junk Removal's September sessions were paid search (523 of 838), with no Google Ads account in Search29.</a:t>
            </a:r>
            <a:endParaRPr lang="en-US" sz="1200" dirty="0"/>
          </a:p>
        </p:txBody>
      </p:sp>
      <p:sp>
        <p:nvSpPr>
          <p:cNvPr id="12" name="stat 124"/>
          <p:cNvSpPr/>
          <p:nvPr/>
        </p:nvSpPr>
        <p:spPr>
          <a:xfrm>
            <a:off x="8458200" y="3840480"/>
            <a:ext cx="3184855" cy="2148840"/>
          </a:xfrm>
          <a:prstGeom prst="roundRect">
            <a:avLst>
              <a:gd name="adj" fmla="val 595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13" name="badge"/>
          <p:cNvSpPr/>
          <p:nvPr/>
        </p:nvSpPr>
        <p:spPr>
          <a:xfrm>
            <a:off x="8732520" y="4114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 FiAlertCircl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248" y="4224528"/>
            <a:ext cx="237744" cy="237744"/>
          </a:xfrm>
          <a:prstGeom prst="rect">
            <a:avLst/>
          </a:prstGeom>
        </p:spPr>
      </p:pic>
      <p:sp>
        <p:nvSpPr>
          <p:cNvPr id="15" name="num 124"/>
          <p:cNvSpPr txBox="1"/>
          <p:nvPr/>
        </p:nvSpPr>
        <p:spPr>
          <a:xfrm>
            <a:off x="8732520" y="4663440"/>
            <a:ext cx="2636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124</a:t>
            </a:r>
            <a:endParaRPr lang="en-US" sz="4400" dirty="0"/>
          </a:p>
        </p:txBody>
      </p:sp>
      <p:sp>
        <p:nvSpPr>
          <p:cNvPr id="16" name="label 124"/>
          <p:cNvSpPr txBox="1"/>
          <p:nvPr/>
        </p:nvSpPr>
        <p:spPr>
          <a:xfrm>
            <a:off x="8732520" y="5577840"/>
            <a:ext cx="2636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paid-search sessions at Cunning Dental in September against several hundred Ads clicks. Check tagging first.</a:t>
            </a:r>
            <a:endParaRPr lang="en-US" sz="1200" dirty="0"/>
          </a:p>
        </p:txBody>
      </p:sp>
      <p:sp>
        <p:nvSpPr>
          <p:cNvPr id="17" name="workhub note"/>
          <p:cNvSpPr txBox="1"/>
          <p:nvPr/>
        </p:nvSpPr>
        <p:spPr>
          <a:xfrm>
            <a:off x="548640" y="52578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Affordable Junk Removal: Paid Search 523, Organic Search 192, Organic Social 46, Direct 44, Other 17, Referral 16. Cunning Dental Group: Organic Search 153, Paid Search 124, Direct 89, Referral 49, Other 38, Organic Social 27. Workhub Tulsa: 98 Google Ads clicks but no GA4 connected, so traffic stays Not Available.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WHAT IT MEANS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the verified traffic shows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Source: Section 4c observations. Figures Verified from Search29 GA4; the readings are Inferred.</a:t>
            </a:r>
            <a:endParaRPr lang="en-US" sz="1100" dirty="0"/>
          </a:p>
        </p:txBody>
      </p:sp>
      <p:sp>
        <p:nvSpPr>
          <p:cNvPr id="6" name="card Affordable Junk Removal"/>
          <p:cNvSpPr/>
          <p:nvPr/>
        </p:nvSpPr>
        <p:spPr>
          <a:xfrm>
            <a:off x="548640" y="1508760"/>
            <a:ext cx="3515258" cy="2468880"/>
          </a:xfrm>
          <a:prstGeom prst="roundRect">
            <a:avLst>
              <a:gd name="adj" fmla="val 5185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7" name="badge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 FiTrendingU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92808"/>
            <a:ext cx="237744" cy="237744"/>
          </a:xfrm>
          <a:prstGeom prst="rect">
            <a:avLst/>
          </a:prstGeom>
        </p:spPr>
      </p:pic>
      <p:sp>
        <p:nvSpPr>
          <p:cNvPr id="9" name="head Affordable Junk Removal"/>
          <p:cNvSpPr txBox="1"/>
          <p:nvPr/>
        </p:nvSpPr>
        <p:spPr>
          <a:xfrm>
            <a:off x="1417320" y="1783080"/>
            <a:ext cx="2372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Affordable Junk Removal</a:t>
            </a:r>
            <a:endParaRPr lang="en-US" sz="1700" dirty="0"/>
          </a:p>
        </p:txBody>
      </p:sp>
      <p:sp>
        <p:nvSpPr>
          <p:cNvPr id="10" name="body Affordable Junk Removal"/>
          <p:cNvSpPr txBox="1"/>
          <p:nvPr/>
        </p:nvSpPr>
        <p:spPr>
          <a:xfrm>
            <a:off x="822960" y="2377440"/>
            <a:ext cx="296661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Paid search already dominates its traffic. A pitch here is brand defence and Search expansion around the booking form, not 'you have no ads'.</a:t>
            </a:r>
            <a:endParaRPr lang="en-US" sz="1400" dirty="0"/>
          </a:p>
        </p:txBody>
      </p:sp>
      <p:sp>
        <p:nvSpPr>
          <p:cNvPr id="11" name="card Cunning Dental Group"/>
          <p:cNvSpPr/>
          <p:nvPr/>
        </p:nvSpPr>
        <p:spPr>
          <a:xfrm>
            <a:off x="4338218" y="1508760"/>
            <a:ext cx="3515258" cy="2468880"/>
          </a:xfrm>
          <a:prstGeom prst="roundRect">
            <a:avLst>
              <a:gd name="adj" fmla="val 5185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12" name="badge"/>
          <p:cNvSpPr/>
          <p:nvPr/>
        </p:nvSpPr>
        <p:spPr>
          <a:xfrm>
            <a:off x="4612538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con FiAlertCircl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266" y="1892808"/>
            <a:ext cx="237744" cy="237744"/>
          </a:xfrm>
          <a:prstGeom prst="rect">
            <a:avLst/>
          </a:prstGeom>
        </p:spPr>
      </p:pic>
      <p:sp>
        <p:nvSpPr>
          <p:cNvPr id="14" name="head Cunning Dental Group"/>
          <p:cNvSpPr txBox="1"/>
          <p:nvPr/>
        </p:nvSpPr>
        <p:spPr>
          <a:xfrm>
            <a:off x="5206898" y="1783080"/>
            <a:ext cx="2372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Cunning Dental Group</a:t>
            </a:r>
            <a:endParaRPr lang="en-US" sz="1700" dirty="0"/>
          </a:p>
        </p:txBody>
      </p:sp>
      <p:sp>
        <p:nvSpPr>
          <p:cNvPr id="15" name="body Cunning Dental Group"/>
          <p:cNvSpPr txBox="1"/>
          <p:nvPr/>
        </p:nvSpPr>
        <p:spPr>
          <a:xfrm>
            <a:off x="4612538" y="2377440"/>
            <a:ext cx="296661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Sessions fell from several thousand a month in late 2025 (largely Paid Social) to 480. GA4 paid search and Google Ads clicks do not reconcile: fix tracking first.</a:t>
            </a:r>
            <a:endParaRPr lang="en-US" sz="1400" dirty="0"/>
          </a:p>
        </p:txBody>
      </p:sp>
      <p:sp>
        <p:nvSpPr>
          <p:cNvPr id="16" name="card Workhub Tulsa"/>
          <p:cNvSpPr/>
          <p:nvPr/>
        </p:nvSpPr>
        <p:spPr>
          <a:xfrm>
            <a:off x="8127797" y="1508760"/>
            <a:ext cx="3515258" cy="2468880"/>
          </a:xfrm>
          <a:prstGeom prst="roundRect">
            <a:avLst>
              <a:gd name="adj" fmla="val 5185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17" name="badge"/>
          <p:cNvSpPr/>
          <p:nvPr/>
        </p:nvSpPr>
        <p:spPr>
          <a:xfrm>
            <a:off x="8402117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on FiBarChart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845" y="1892808"/>
            <a:ext cx="237744" cy="237744"/>
          </a:xfrm>
          <a:prstGeom prst="rect">
            <a:avLst/>
          </a:prstGeom>
        </p:spPr>
      </p:pic>
      <p:sp>
        <p:nvSpPr>
          <p:cNvPr id="19" name="head Workhub Tulsa"/>
          <p:cNvSpPr txBox="1"/>
          <p:nvPr/>
        </p:nvSpPr>
        <p:spPr>
          <a:xfrm>
            <a:off x="8996477" y="1783080"/>
            <a:ext cx="2372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Workhub Tulsa</a:t>
            </a:r>
            <a:endParaRPr lang="en-US" sz="1700" dirty="0"/>
          </a:p>
        </p:txBody>
      </p:sp>
      <p:sp>
        <p:nvSpPr>
          <p:cNvPr id="20" name="body Workhub Tulsa"/>
          <p:cNvSpPr txBox="1"/>
          <p:nvPr/>
        </p:nvSpPr>
        <p:spPr>
          <a:xfrm>
            <a:off x="8402117" y="2377440"/>
            <a:ext cx="296661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 Around29 account with 98 clicks and no analytics attached. Connecting GA4 is a one-hour job that makes the account reportable.</a:t>
            </a:r>
            <a:endParaRPr lang="en-US" sz="1400" dirty="0"/>
          </a:p>
        </p:txBody>
      </p:sp>
      <p:sp>
        <p:nvSpPr>
          <p:cNvPr id="21" name="action band"/>
          <p:cNvSpPr/>
          <p:nvPr/>
        </p:nvSpPr>
        <p:spPr>
          <a:xfrm>
            <a:off x="548640" y="4251960"/>
            <a:ext cx="11094415" cy="1005840"/>
          </a:xfrm>
          <a:prstGeom prst="roundRect">
            <a:avLst>
              <a:gd name="adj" fmla="val 1272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badge"/>
          <p:cNvSpPr/>
          <p:nvPr/>
        </p:nvSpPr>
        <p:spPr>
          <a:xfrm>
            <a:off x="822960" y="4526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 FiCheckCircl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636008"/>
            <a:ext cx="237744" cy="237744"/>
          </a:xfrm>
          <a:prstGeom prst="rect">
            <a:avLst/>
          </a:prstGeom>
        </p:spPr>
      </p:pic>
      <p:sp>
        <p:nvSpPr>
          <p:cNvPr id="24" name="action text"/>
          <p:cNvSpPr txBox="1"/>
          <p:nvPr/>
        </p:nvSpPr>
        <p:spPr>
          <a:xfrm>
            <a:off x="1463040" y="4251960"/>
            <a:ext cx="9905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Ask every Priority 1 prospect for GA4 or Search Console read access on the first call, so traffic is verified before campaign planning. Do not substitute estimates.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 txBox="1"/>
          <p:nvPr/>
        </p:nvSpPr>
        <p:spPr>
          <a:xfrm>
            <a:off x="548640" y="128016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chemeClr val="accent1"/>
                </a:solidFill>
              </a:rPr>
              <a:t>04</a:t>
            </a:r>
            <a:endParaRPr lang="en-US" sz="15000" dirty="0"/>
          </a:p>
        </p:txBody>
      </p:sp>
      <p:sp>
        <p:nvSpPr>
          <p:cNvPr id="3" name="section title"/>
          <p:cNvSpPr txBox="1"/>
          <p:nvPr/>
        </p:nvSpPr>
        <p:spPr>
          <a:xfrm>
            <a:off x="548640" y="33832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plan</a:t>
            </a:r>
            <a:endParaRPr lang="en-US" sz="4800" dirty="0"/>
          </a:p>
        </p:txBody>
      </p:sp>
      <p:sp>
        <p:nvSpPr>
          <p:cNvPr id="4" name="section line"/>
          <p:cNvSpPr txBox="1"/>
          <p:nvPr/>
        </p:nvSpPr>
        <p:spPr>
          <a:xfrm>
            <a:off x="548640" y="4297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Who to call, when the window is open, what to collect, and what comes next.</a:t>
            </a:r>
            <a:endParaRPr lang="en-US" sz="2000" dirty="0"/>
          </a:p>
        </p:txBody>
      </p:sp>
      <p:sp>
        <p:nvSpPr>
          <p:cNvPr id="5" name="decor circle"/>
          <p:cNvSpPr/>
          <p:nvPr/>
        </p:nvSpPr>
        <p:spPr>
          <a:xfrm>
            <a:off x="8503920" y="1097280"/>
            <a:ext cx="3108960" cy="3108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decor dot"/>
          <p:cNvSpPr/>
          <p:nvPr/>
        </p:nvSpPr>
        <p:spPr>
          <a:xfrm>
            <a:off x="9966960" y="3291840"/>
            <a:ext cx="1463040" cy="1463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IMMEDIATE OUTREACH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Contact now: thirteen businesses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Source: Section 6, Immediate Outreach List, in BD-score order. NV = name from a directory, confirm on the call. Emails and hooks are on SALES_PITCH_INTELLIGENCE.</a:t>
            </a:r>
            <a:endParaRPr lang="en-US" sz="1100" dirty="0"/>
          </a:p>
        </p:txBody>
      </p:sp>
      <p:graphicFrame>
        <p:nvGraphicFramePr>
          <p:cNvPr id="20" name="contac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931920"/>
                <a:gridCol w="1554480"/>
                <a:gridCol w="3136392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Business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Contact to use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Phone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Time sensitivity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VIP Pest Solutions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Jamie Parkins, CEO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(805) 608-3847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Prime Care Dental Indy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Dr. Vijaya Palaparthi, DDS (owner status unknown)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(317) 426-1562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None; already running Google Ads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AA Roofing and Decking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Ahmed R. Al-Jebori, Managing Member (NV)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(206) 280-0536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Deck season from March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Zellers Group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Dean Zellers, President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(707) 996-5282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Medicare enrollment to 7 Dec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Affordable Junk Removal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Ashley Ramirez, Owner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(916) 730-8387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Superior Coatings NW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Donovan (Donny) Peters, Owner (NV)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(253) 405-5424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Exterior season from March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La Jolla Grooming Co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Garrett Larson, Founder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(858) 246-6235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Wheeler-Sonoma Printers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Baird Conner, Owner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(707) 643-6383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Alignments Northwest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Jordan or Austin (roles not stated)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(253) 777-7092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American Tree Excavation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Kristian Guttu, Owner/Partner (NV)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(253) 468-1505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Storm season now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Northwest Eco Clean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Martez Johnson, Owner/Member (NV)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(206) 825-6998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Workhub Tulsa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Carla, Property Manager (NV)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(918) 345-1390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Pre-leasing 1 Nov; existing Around29 account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Clean &amp; Clear by Cliff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Cliff (surname NV), Owner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(253) 350-0457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Christmas lights Oct to Dec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TIMING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Six windows that decide the call order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Source: Section 6 time sensitivity and the Step 8 hooks. Dates are the prospects' own seasons and deadlines, not Around29 targets.</a:t>
            </a:r>
            <a:endParaRPr lang="en-US" sz="1100" dirty="0"/>
          </a:p>
        </p:txBody>
      </p:sp>
      <p:sp>
        <p:nvSpPr>
          <p:cNvPr id="6" name="timeline"/>
          <p:cNvSpPr/>
          <p:nvPr/>
        </p:nvSpPr>
        <p:spPr>
          <a:xfrm>
            <a:off x="731520" y="3246120"/>
            <a:ext cx="10728655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7" name="tick Oct"/>
          <p:cNvSpPr/>
          <p:nvPr/>
        </p:nvSpPr>
        <p:spPr>
          <a:xfrm>
            <a:off x="1497853" y="3136392"/>
            <a:ext cx="0" cy="219456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8" name="month Oct"/>
          <p:cNvSpPr txBox="1"/>
          <p:nvPr/>
        </p:nvSpPr>
        <p:spPr>
          <a:xfrm>
            <a:off x="731520" y="3429000"/>
            <a:ext cx="15326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Oct 2026</a:t>
            </a:r>
            <a:endParaRPr lang="en-US" sz="1300" dirty="0"/>
          </a:p>
        </p:txBody>
      </p:sp>
      <p:sp>
        <p:nvSpPr>
          <p:cNvPr id="9" name="tick Nov"/>
          <p:cNvSpPr/>
          <p:nvPr/>
        </p:nvSpPr>
        <p:spPr>
          <a:xfrm>
            <a:off x="3030518" y="3136392"/>
            <a:ext cx="0" cy="219456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10" name="month Nov"/>
          <p:cNvSpPr txBox="1"/>
          <p:nvPr/>
        </p:nvSpPr>
        <p:spPr>
          <a:xfrm>
            <a:off x="2264185" y="3429000"/>
            <a:ext cx="15326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Nov</a:t>
            </a:r>
            <a:endParaRPr lang="en-US" sz="1300" dirty="0"/>
          </a:p>
        </p:txBody>
      </p:sp>
      <p:sp>
        <p:nvSpPr>
          <p:cNvPr id="11" name="tick Dec"/>
          <p:cNvSpPr/>
          <p:nvPr/>
        </p:nvSpPr>
        <p:spPr>
          <a:xfrm>
            <a:off x="4563183" y="3136392"/>
            <a:ext cx="0" cy="219456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12" name="month Dec"/>
          <p:cNvSpPr txBox="1"/>
          <p:nvPr/>
        </p:nvSpPr>
        <p:spPr>
          <a:xfrm>
            <a:off x="3796850" y="3429000"/>
            <a:ext cx="15326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Dec</a:t>
            </a:r>
            <a:endParaRPr lang="en-US" sz="1300" dirty="0"/>
          </a:p>
        </p:txBody>
      </p:sp>
      <p:sp>
        <p:nvSpPr>
          <p:cNvPr id="13" name="tick Jan"/>
          <p:cNvSpPr/>
          <p:nvPr/>
        </p:nvSpPr>
        <p:spPr>
          <a:xfrm>
            <a:off x="6095848" y="3136392"/>
            <a:ext cx="0" cy="219456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14" name="month Jan"/>
          <p:cNvSpPr txBox="1"/>
          <p:nvPr/>
        </p:nvSpPr>
        <p:spPr>
          <a:xfrm>
            <a:off x="5329515" y="3429000"/>
            <a:ext cx="15326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Jan 2027</a:t>
            </a:r>
            <a:endParaRPr lang="en-US" sz="1300" dirty="0"/>
          </a:p>
        </p:txBody>
      </p:sp>
      <p:sp>
        <p:nvSpPr>
          <p:cNvPr id="15" name="tick Feb"/>
          <p:cNvSpPr/>
          <p:nvPr/>
        </p:nvSpPr>
        <p:spPr>
          <a:xfrm>
            <a:off x="7628513" y="3136392"/>
            <a:ext cx="0" cy="219456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16" name="month Feb"/>
          <p:cNvSpPr txBox="1"/>
          <p:nvPr/>
        </p:nvSpPr>
        <p:spPr>
          <a:xfrm>
            <a:off x="6862180" y="3429000"/>
            <a:ext cx="15326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Feb</a:t>
            </a:r>
            <a:endParaRPr lang="en-US" sz="1300" dirty="0"/>
          </a:p>
        </p:txBody>
      </p:sp>
      <p:sp>
        <p:nvSpPr>
          <p:cNvPr id="17" name="tick Mar"/>
          <p:cNvSpPr/>
          <p:nvPr/>
        </p:nvSpPr>
        <p:spPr>
          <a:xfrm>
            <a:off x="9161178" y="3136392"/>
            <a:ext cx="0" cy="219456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18" name="month Mar"/>
          <p:cNvSpPr txBox="1"/>
          <p:nvPr/>
        </p:nvSpPr>
        <p:spPr>
          <a:xfrm>
            <a:off x="8394845" y="3429000"/>
            <a:ext cx="15326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Mar</a:t>
            </a:r>
            <a:endParaRPr lang="en-US" sz="1300" dirty="0"/>
          </a:p>
        </p:txBody>
      </p:sp>
      <p:sp>
        <p:nvSpPr>
          <p:cNvPr id="19" name="tick Apr"/>
          <p:cNvSpPr/>
          <p:nvPr/>
        </p:nvSpPr>
        <p:spPr>
          <a:xfrm>
            <a:off x="10693843" y="3136392"/>
            <a:ext cx="0" cy="219456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20" name="month Apr"/>
          <p:cNvSpPr txBox="1"/>
          <p:nvPr/>
        </p:nvSpPr>
        <p:spPr>
          <a:xfrm>
            <a:off x="9927510" y="3429000"/>
            <a:ext cx="15326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Apr</a:t>
            </a:r>
            <a:endParaRPr lang="en-US" sz="1300" dirty="0"/>
          </a:p>
        </p:txBody>
      </p:sp>
      <p:sp>
        <p:nvSpPr>
          <p:cNvPr id="21" name="bar 0"/>
          <p:cNvSpPr/>
          <p:nvPr/>
        </p:nvSpPr>
        <p:spPr>
          <a:xfrm>
            <a:off x="731520" y="1645920"/>
            <a:ext cx="4597995" cy="310896"/>
          </a:xfrm>
          <a:prstGeom prst="roundRect">
            <a:avLst>
              <a:gd name="adj" fmla="val 2941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bar label 0"/>
          <p:cNvSpPr txBox="1"/>
          <p:nvPr/>
        </p:nvSpPr>
        <p:spPr>
          <a:xfrm>
            <a:off x="5439243" y="160020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Clean &amp; Clear by Cliff: Christmas lights Oct to Dec</a:t>
            </a:r>
            <a:endParaRPr lang="en-US" sz="1200" dirty="0"/>
          </a:p>
        </p:txBody>
      </p:sp>
      <p:sp>
        <p:nvSpPr>
          <p:cNvPr id="23" name="bar 1"/>
          <p:cNvSpPr/>
          <p:nvPr/>
        </p:nvSpPr>
        <p:spPr>
          <a:xfrm>
            <a:off x="1038053" y="2148840"/>
            <a:ext cx="306533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bar label 1"/>
          <p:cNvSpPr txBox="1"/>
          <p:nvPr/>
        </p:nvSpPr>
        <p:spPr>
          <a:xfrm>
            <a:off x="4213111" y="21031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American Tree Excavation: storm season now</a:t>
            </a:r>
            <a:endParaRPr lang="en-US" sz="1200" dirty="0"/>
          </a:p>
        </p:txBody>
      </p:sp>
      <p:sp>
        <p:nvSpPr>
          <p:cNvPr id="25" name="bar 2"/>
          <p:cNvSpPr/>
          <p:nvPr/>
        </p:nvSpPr>
        <p:spPr>
          <a:xfrm>
            <a:off x="1421219" y="2651760"/>
            <a:ext cx="2758797" cy="310896"/>
          </a:xfrm>
          <a:prstGeom prst="roundRect">
            <a:avLst>
              <a:gd name="adj" fmla="val 2941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bar label 2"/>
          <p:cNvSpPr txBox="1"/>
          <p:nvPr/>
        </p:nvSpPr>
        <p:spPr>
          <a:xfrm>
            <a:off x="4289744" y="26060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Zellers Group: Medicare enrollment 15 Oct to 7 Dec</a:t>
            </a:r>
            <a:endParaRPr lang="en-US" sz="1200" dirty="0"/>
          </a:p>
        </p:txBody>
      </p:sp>
      <p:sp>
        <p:nvSpPr>
          <p:cNvPr id="27" name="bar 3"/>
          <p:cNvSpPr/>
          <p:nvPr/>
        </p:nvSpPr>
        <p:spPr>
          <a:xfrm>
            <a:off x="2264185" y="3794760"/>
            <a:ext cx="536433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bar label 3"/>
          <p:cNvSpPr txBox="1"/>
          <p:nvPr/>
        </p:nvSpPr>
        <p:spPr>
          <a:xfrm>
            <a:off x="2910346" y="37490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Workhub Tulsa: six suites pre-lease 1 Nov</a:t>
            </a:r>
            <a:endParaRPr lang="en-US" sz="1200" dirty="0"/>
          </a:p>
        </p:txBody>
      </p:sp>
      <p:sp>
        <p:nvSpPr>
          <p:cNvPr id="29" name="bar 4"/>
          <p:cNvSpPr/>
          <p:nvPr/>
        </p:nvSpPr>
        <p:spPr>
          <a:xfrm>
            <a:off x="8394845" y="4297680"/>
            <a:ext cx="3065330" cy="310896"/>
          </a:xfrm>
          <a:prstGeom prst="roundRect">
            <a:avLst>
              <a:gd name="adj" fmla="val 2941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0" name="bar label 4"/>
          <p:cNvSpPr txBox="1"/>
          <p:nvPr/>
        </p:nvSpPr>
        <p:spPr>
          <a:xfrm>
            <a:off x="4188605" y="425196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AA Roofing: deck season from March</a:t>
            </a:r>
            <a:endParaRPr lang="en-US" sz="1200" dirty="0"/>
          </a:p>
        </p:txBody>
      </p:sp>
      <p:sp>
        <p:nvSpPr>
          <p:cNvPr id="31" name="bar 5"/>
          <p:cNvSpPr/>
          <p:nvPr/>
        </p:nvSpPr>
        <p:spPr>
          <a:xfrm>
            <a:off x="8394845" y="4800600"/>
            <a:ext cx="3065330" cy="310896"/>
          </a:xfrm>
          <a:prstGeom prst="roundRect">
            <a:avLst>
              <a:gd name="adj" fmla="val 2941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2" name="bar label 5"/>
          <p:cNvSpPr txBox="1"/>
          <p:nvPr/>
        </p:nvSpPr>
        <p:spPr>
          <a:xfrm>
            <a:off x="4188605" y="475488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Superior Coatings NW: exterior season from March</a:t>
            </a:r>
            <a:endParaRPr lang="en-US" sz="1200" dirty="0"/>
          </a:p>
        </p:txBody>
      </p:sp>
      <p:sp>
        <p:nvSpPr>
          <p:cNvPr id="33" name="trans note"/>
          <p:cNvSpPr txBox="1"/>
          <p:nvPr/>
        </p:nvSpPr>
        <p:spPr>
          <a:xfrm>
            <a:off x="548640" y="5715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Trans Landscaping (P2) also opens with the spring hardscape season once a decision-maker is found.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QUEUES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Twelve more need a gap closed first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Source: Sections 7 and 8. Field-level items with next actions are on MISSING_DATA_QUEUE (130 items).</a:t>
            </a:r>
            <a:endParaRPr lang="en-US" sz="1100" dirty="0"/>
          </a:p>
        </p:txBody>
      </p:sp>
      <p:sp>
        <p:nvSpPr>
          <p:cNvPr id="6" name="badge"/>
          <p:cNvSpPr/>
          <p:nvPr/>
        </p:nvSpPr>
        <p:spPr>
          <a:xfrm>
            <a:off x="548640" y="14630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 FiPhoneCal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5" y="1561795"/>
            <a:ext cx="213970" cy="213970"/>
          </a:xfrm>
          <a:prstGeom prst="rect">
            <a:avLst/>
          </a:prstGeom>
        </p:spPr>
      </p:pic>
      <p:sp>
        <p:nvSpPr>
          <p:cNvPr id="8" name="p2 head"/>
          <p:cNvSpPr txBox="1"/>
          <p:nvPr/>
        </p:nvSpPr>
        <p:spPr>
          <a:xfrm>
            <a:off x="1097280" y="146304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Priority 2: enrichment queue</a:t>
            </a:r>
            <a:endParaRPr lang="en-US" sz="1600" dirty="0"/>
          </a:p>
        </p:txBody>
      </p:sp>
      <p:graphicFrame>
        <p:nvGraphicFramePr>
          <p:cNvPr id="22" name="p2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5364328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444088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Business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What is missing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Cunning Dental Group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Current owner; email; existing Around29 account, frame as expansion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Orion Optical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Owner name; whether Premo Media Group already runs marketing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Trans Landscaping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Any decision-maker name; street address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Axle Surgeons of Seattle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Any person; email; link to the national brand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Calvary Cemetery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Current executive director (predecessor retired Oct 2025)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Ocean View Lodging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Owner or general manager; phone on file conflicts with site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10" name="badge"/>
          <p:cNvSpPr/>
          <p:nvPr/>
        </p:nvSpPr>
        <p:spPr>
          <a:xfrm>
            <a:off x="6278728" y="14630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 FiSearc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483" y="1561795"/>
            <a:ext cx="213970" cy="213970"/>
          </a:xfrm>
          <a:prstGeom prst="rect">
            <a:avLst/>
          </a:prstGeom>
        </p:spPr>
      </p:pic>
      <p:sp>
        <p:nvSpPr>
          <p:cNvPr id="12" name="p3 head"/>
          <p:cNvSpPr txBox="1"/>
          <p:nvPr/>
        </p:nvSpPr>
        <p:spPr>
          <a:xfrm>
            <a:off x="6827368" y="146304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Priority 3: research queue</a:t>
            </a:r>
            <a:endParaRPr lang="en-US" sz="1600" dirty="0"/>
          </a:p>
        </p:txBody>
      </p:sp>
      <p:graphicFrame>
        <p:nvGraphicFramePr>
          <p:cNvPr id="43" name="p3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8728" y="2011680"/>
          <a:ext cx="5364328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61208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Business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Open question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Top Dollar Pawn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Which services Google's financial and firearms policies allow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Pinpoint Resource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Can formalwear terms drive measurable store visits; no contact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Occasions Paper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Do carried brands justify a store-visit campaign; no contact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ASL Camguard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Does a national Shopping campaign fit; no phone, email or contact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Cunningsmiles Implant Experts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Live business or dead microsite of Cunning Dental Group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Will Rogers Stage Foundation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Paid search versus Ad Grants for seasonal tickets; no contact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RECOMMENDATIONS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BD recommendations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Source: Section 10, BD Recommendations</a:t>
            </a:r>
            <a:endParaRPr lang="en-US" sz="1100" dirty="0"/>
          </a:p>
        </p:txBody>
      </p:sp>
      <p:sp>
        <p:nvSpPr>
          <p:cNvPr id="6" name="card Target industries first"/>
          <p:cNvSpPr/>
          <p:nvPr/>
        </p:nvSpPr>
        <p:spPr>
          <a:xfrm>
            <a:off x="548640" y="1508760"/>
            <a:ext cx="5410048" cy="2194560"/>
          </a:xfrm>
          <a:prstGeom prst="roundRect">
            <a:avLst>
              <a:gd name="adj" fmla="val 58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7" name="badge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 Fi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92808"/>
            <a:ext cx="237744" cy="237744"/>
          </a:xfrm>
          <a:prstGeom prst="rect">
            <a:avLst/>
          </a:prstGeom>
        </p:spPr>
      </p:pic>
      <p:sp>
        <p:nvSpPr>
          <p:cNvPr id="9" name="head Target industries first"/>
          <p:cNvSpPr txBox="1"/>
          <p:nvPr/>
        </p:nvSpPr>
        <p:spPr>
          <a:xfrm>
            <a:off x="1417320" y="178308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Target industries first</a:t>
            </a:r>
            <a:endParaRPr lang="en-US" sz="1700" dirty="0"/>
          </a:p>
        </p:txBody>
      </p:sp>
      <p:sp>
        <p:nvSpPr>
          <p:cNvPr id="10" name="body Target industries first"/>
          <p:cNvSpPr txBox="1"/>
          <p:nvPr/>
        </p:nvSpPr>
        <p:spPr>
          <a:xfrm>
            <a:off x="822960" y="2377440"/>
            <a:ext cx="48614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Home Services first: eight prospects, average score 82.6, seven already in Contact Now, and a Pierce County cluster. Dental second for value per case. Then optometry, insurance, coworking and hospitality.</a:t>
            </a:r>
            <a:endParaRPr lang="en-US" sz="1300" dirty="0"/>
          </a:p>
        </p:txBody>
      </p:sp>
      <p:sp>
        <p:nvSpPr>
          <p:cNvPr id="11" name="card Prioritise these models"/>
          <p:cNvSpPr/>
          <p:nvPr/>
        </p:nvSpPr>
        <p:spPr>
          <a:xfrm>
            <a:off x="6233008" y="1508760"/>
            <a:ext cx="5410048" cy="2194560"/>
          </a:xfrm>
          <a:prstGeom prst="roundRect">
            <a:avLst>
              <a:gd name="adj" fmla="val 58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12" name="badge"/>
          <p:cNvSpPr/>
          <p:nvPr/>
        </p:nvSpPr>
        <p:spPr>
          <a:xfrm>
            <a:off x="6507328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con FiBriefcas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056" y="1892808"/>
            <a:ext cx="237744" cy="237744"/>
          </a:xfrm>
          <a:prstGeom prst="rect">
            <a:avLst/>
          </a:prstGeom>
        </p:spPr>
      </p:pic>
      <p:sp>
        <p:nvSpPr>
          <p:cNvPr id="14" name="head Prioritise these models"/>
          <p:cNvSpPr txBox="1"/>
          <p:nvPr/>
        </p:nvSpPr>
        <p:spPr>
          <a:xfrm>
            <a:off x="7101688" y="178308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Prioritise these models</a:t>
            </a:r>
            <a:endParaRPr lang="en-US" sz="1700" dirty="0"/>
          </a:p>
        </p:txBody>
      </p:sp>
      <p:sp>
        <p:nvSpPr>
          <p:cNvPr id="15" name="body Prioritise these models"/>
          <p:cNvSpPr txBox="1"/>
          <p:nvPr/>
        </p:nvSpPr>
        <p:spPr>
          <a:xfrm>
            <a:off x="6507328" y="2377440"/>
            <a:ext cx="48614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Local services with urgent or high-ticket demand and a call or quote conversion; recurring and subscription services; appointment practices with booking live. Deprioritise nonprofits, associations and offshore ecommerce.</a:t>
            </a:r>
            <a:endParaRPr lang="en-US" sz="1300" dirty="0"/>
          </a:p>
        </p:txBody>
      </p:sp>
      <p:sp>
        <p:nvSpPr>
          <p:cNvPr id="16" name="card Pitch by segment"/>
          <p:cNvSpPr/>
          <p:nvPr/>
        </p:nvSpPr>
        <p:spPr>
          <a:xfrm>
            <a:off x="548640" y="3977640"/>
            <a:ext cx="5410048" cy="2194560"/>
          </a:xfrm>
          <a:prstGeom prst="roundRect">
            <a:avLst>
              <a:gd name="adj" fmla="val 58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17" name="badge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on FiDollarSig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361688"/>
            <a:ext cx="237744" cy="237744"/>
          </a:xfrm>
          <a:prstGeom prst="rect">
            <a:avLst/>
          </a:prstGeom>
        </p:spPr>
      </p:pic>
      <p:sp>
        <p:nvSpPr>
          <p:cNvPr id="19" name="head Pitch by segment"/>
          <p:cNvSpPr txBox="1"/>
          <p:nvPr/>
        </p:nvSpPr>
        <p:spPr>
          <a:xfrm>
            <a:off x="1417320" y="425196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Pitch by segment</a:t>
            </a:r>
            <a:endParaRPr lang="en-US" sz="1700" dirty="0"/>
          </a:p>
        </p:txBody>
      </p:sp>
      <p:sp>
        <p:nvSpPr>
          <p:cNvPr id="20" name="body Pitch by segment"/>
          <p:cNvSpPr txBox="1"/>
          <p:nvPr/>
        </p:nvSpPr>
        <p:spPr>
          <a:xfrm>
            <a:off x="822960" y="4846320"/>
            <a:ext cx="48614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Search campaigns first; Shopping and Performance Max later. For the seven already running Google Ads, pitch optimisation, conversion tracking and expansion. Handle Cunning Dental Group and Workhub Tulsa as existing Around29 accounts.</a:t>
            </a:r>
            <a:endParaRPr lang="en-US" sz="1300" dirty="0"/>
          </a:p>
        </p:txBody>
      </p:sp>
      <p:sp>
        <p:nvSpPr>
          <p:cNvPr id="21" name="card Collect next"/>
          <p:cNvSpPr/>
          <p:nvPr/>
        </p:nvSpPr>
        <p:spPr>
          <a:xfrm>
            <a:off x="6233008" y="3977640"/>
            <a:ext cx="5410048" cy="2194560"/>
          </a:xfrm>
          <a:prstGeom prst="roundRect">
            <a:avLst>
              <a:gd name="adj" fmla="val 58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22" name="badge"/>
          <p:cNvSpPr/>
          <p:nvPr/>
        </p:nvSpPr>
        <p:spPr>
          <a:xfrm>
            <a:off x="6507328" y="4251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 FiClipboar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056" y="4361688"/>
            <a:ext cx="237744" cy="237744"/>
          </a:xfrm>
          <a:prstGeom prst="rect">
            <a:avLst/>
          </a:prstGeom>
        </p:spPr>
      </p:pic>
      <p:sp>
        <p:nvSpPr>
          <p:cNvPr id="24" name="head Collect next"/>
          <p:cNvSpPr txBox="1"/>
          <p:nvPr/>
        </p:nvSpPr>
        <p:spPr>
          <a:xfrm>
            <a:off x="7101688" y="425196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Collect next</a:t>
            </a:r>
            <a:endParaRPr lang="en-US" sz="1700" dirty="0"/>
          </a:p>
        </p:txBody>
      </p:sp>
      <p:sp>
        <p:nvSpPr>
          <p:cNvPr id="25" name="body Collect next"/>
          <p:cNvSpPr txBox="1"/>
          <p:nvPr/>
        </p:nvSpPr>
        <p:spPr>
          <a:xfrm>
            <a:off x="6507328" y="4846320"/>
            <a:ext cx="48614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Decision-maker names and roles for the six Priority 2 and seven directory-sourced Priority 1 records; service-area cities for four sites; the six source-data corrections; GA4 or Search Console read access from Priority 1 prospects.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NEXT ACTIONS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Next actions, in order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Source: Final outputs E, Recommended Next Actions. No outreach has been sent yet.</a:t>
            </a:r>
            <a:endParaRPr lang="en-US" sz="1100" dirty="0"/>
          </a:p>
        </p:txBody>
      </p:sp>
      <p:graphicFrame>
        <p:nvGraphicFramePr>
          <p:cNvPr id="24" name="ac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6287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When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Action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This week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Call the four time-bound Priority 1 prospects (Zellers Group, Workhub Tulsa, Clean and Clear by Cliff, American Tree Excavation) using the hooks in SALES_PITCH_INTELLIGENCE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This week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Call the remaining nine Priority 1 prospects in BD-score order; confirm directory-sourced owner names on each call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Next two weeks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Close the six Priority 2 gaps by phone and run manual registry lookups; record the six source-data corrections in a new column, not the raw tabs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Before launch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Confirm service-area cities for AA Roofing, American Tree, Alignments Northwest and La Jolla Grooming; fix or build the flagged landing pages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Within a month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Resolve the two possible duplicate pairs and the Cunningsmiles record; decide the Ad Grants referral route for the five nonprofits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Each wave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Re-run the Transparency Center and Meta Ad Library checks before each outreach wave to keep ADS RESEARCH current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First call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Request GA4 or Search Console read access from Priority 1 prospects so traffic is verified before planning; never substitute estimates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Housekeeping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Reconcile the list with Search29: re-label the two existing Google Ads accounts; confirm whether Premo Media Group manages Orion Optical's ads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OUTPUTS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Where everything lives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Pipeline: Steps 1 to 10 plus advertising and traffic research, completed 8 October 2026</a:t>
            </a:r>
            <a:endParaRPr lang="en-US" sz="1100" dirty="0"/>
          </a:p>
        </p:txBody>
      </p:sp>
      <p:sp>
        <p:nvSpPr>
          <p:cNvPr id="6" name="intro"/>
          <p:cNvSpPr txBox="1"/>
          <p:nvPr/>
        </p:nvSpPr>
        <p:spPr>
          <a:xfrm>
            <a:off x="548640" y="146304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All outputs are tabs in the Google Sheet "Around29 Google Ads Prospects". The raw Prospects and Internal tabs were never modified.</a:t>
            </a:r>
            <a:endParaRPr lang="en-US" sz="1500" dirty="0"/>
          </a:p>
        </p:txBody>
      </p:sp>
      <p:sp>
        <p:nvSpPr>
          <p:cNvPr id="7" name="row A. Executive report"/>
          <p:cNvSpPr/>
          <p:nvPr/>
        </p:nvSpPr>
        <p:spPr>
          <a:xfrm>
            <a:off x="548640" y="2148840"/>
            <a:ext cx="11094415" cy="694944"/>
          </a:xfrm>
          <a:prstGeom prst="roundRect">
            <a:avLst>
              <a:gd name="adj" fmla="val 18421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8" name="badge"/>
          <p:cNvSpPr/>
          <p:nvPr/>
        </p:nvSpPr>
        <p:spPr>
          <a:xfrm>
            <a:off x="731520" y="22677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on FiClipboar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377440"/>
            <a:ext cx="237744" cy="237744"/>
          </a:xfrm>
          <a:prstGeom prst="rect">
            <a:avLst/>
          </a:prstGeom>
        </p:spPr>
      </p:pic>
      <p:sp>
        <p:nvSpPr>
          <p:cNvPr id="10" name="out A. Executive report"/>
          <p:cNvSpPr txBox="1"/>
          <p:nvPr/>
        </p:nvSpPr>
        <p:spPr>
          <a:xfrm>
            <a:off x="1371600" y="2148840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A. Executive report</a:t>
            </a:r>
            <a:endParaRPr lang="en-US" sz="1500" dirty="0"/>
          </a:p>
        </p:txBody>
      </p:sp>
      <p:sp>
        <p:nvSpPr>
          <p:cNvPr id="11" name="out body A. Executive report"/>
          <p:cNvSpPr txBox="1"/>
          <p:nvPr/>
        </p:nvSpPr>
        <p:spPr>
          <a:xfrm>
            <a:off x="4480560" y="2148840"/>
            <a:ext cx="69796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This deck and the full written report (web page)</a:t>
            </a:r>
            <a:endParaRPr lang="en-US" sz="1300" dirty="0"/>
          </a:p>
        </p:txBody>
      </p:sp>
      <p:sp>
        <p:nvSpPr>
          <p:cNvPr id="12" name="row B. BD prospect table"/>
          <p:cNvSpPr/>
          <p:nvPr/>
        </p:nvSpPr>
        <p:spPr>
          <a:xfrm>
            <a:off x="548640" y="2953512"/>
            <a:ext cx="11094415" cy="694944"/>
          </a:xfrm>
          <a:prstGeom prst="roundRect">
            <a:avLst>
              <a:gd name="adj" fmla="val 18421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13" name="badge"/>
          <p:cNvSpPr/>
          <p:nvPr/>
        </p:nvSpPr>
        <p:spPr>
          <a:xfrm>
            <a:off x="731520" y="307238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 FiLayer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182112"/>
            <a:ext cx="237744" cy="237744"/>
          </a:xfrm>
          <a:prstGeom prst="rect">
            <a:avLst/>
          </a:prstGeom>
        </p:spPr>
      </p:pic>
      <p:sp>
        <p:nvSpPr>
          <p:cNvPr id="15" name="out B. BD prospect table"/>
          <p:cNvSpPr txBox="1"/>
          <p:nvPr/>
        </p:nvSpPr>
        <p:spPr>
          <a:xfrm>
            <a:off x="1371600" y="2953512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B. BD prospect table</a:t>
            </a:r>
            <a:endParaRPr lang="en-US" sz="1500" dirty="0"/>
          </a:p>
        </p:txBody>
      </p:sp>
      <p:sp>
        <p:nvSpPr>
          <p:cNvPr id="16" name="out body B. BD prospect table"/>
          <p:cNvSpPr txBox="1"/>
          <p:nvPr/>
        </p:nvSpPr>
        <p:spPr>
          <a:xfrm>
            <a:off x="4480560" y="2953512"/>
            <a:ext cx="69796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BD_PRIORITIZATION (45 ranked rows with sub-scores and sales angle), SALES_PITCH_INTELLIGENCE, BD_LISTS</a:t>
            </a:r>
            <a:endParaRPr lang="en-US" sz="1300" dirty="0"/>
          </a:p>
        </p:txBody>
      </p:sp>
      <p:sp>
        <p:nvSpPr>
          <p:cNvPr id="17" name="row C. Enrichment queue"/>
          <p:cNvSpPr/>
          <p:nvPr/>
        </p:nvSpPr>
        <p:spPr>
          <a:xfrm>
            <a:off x="548640" y="3758184"/>
            <a:ext cx="11094415" cy="694944"/>
          </a:xfrm>
          <a:prstGeom prst="roundRect">
            <a:avLst>
              <a:gd name="adj" fmla="val 18421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18" name="badge"/>
          <p:cNvSpPr/>
          <p:nvPr/>
        </p:nvSpPr>
        <p:spPr>
          <a:xfrm>
            <a:off x="731520" y="387705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 FiUser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986784"/>
            <a:ext cx="237744" cy="237744"/>
          </a:xfrm>
          <a:prstGeom prst="rect">
            <a:avLst/>
          </a:prstGeom>
        </p:spPr>
      </p:pic>
      <p:sp>
        <p:nvSpPr>
          <p:cNvPr id="20" name="out C. Enrichment queue"/>
          <p:cNvSpPr txBox="1"/>
          <p:nvPr/>
        </p:nvSpPr>
        <p:spPr>
          <a:xfrm>
            <a:off x="1371600" y="3758184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C. Enrichment queue</a:t>
            </a:r>
            <a:endParaRPr lang="en-US" sz="1500" dirty="0"/>
          </a:p>
        </p:txBody>
      </p:sp>
      <p:sp>
        <p:nvSpPr>
          <p:cNvPr id="21" name="out body C. Enrichment queue"/>
          <p:cNvSpPr txBox="1"/>
          <p:nvPr/>
        </p:nvSpPr>
        <p:spPr>
          <a:xfrm>
            <a:off x="4480560" y="3758184"/>
            <a:ext cx="69796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MISSING_DATA_QUEUE (130 field-level items), ENRICHED_PROSPECTS (verified values with source status)</a:t>
            </a:r>
            <a:endParaRPr lang="en-US" sz="1300" dirty="0"/>
          </a:p>
        </p:txBody>
      </p:sp>
      <p:sp>
        <p:nvSpPr>
          <p:cNvPr id="22" name="row D. Google Ads opportunity"/>
          <p:cNvSpPr/>
          <p:nvPr/>
        </p:nvSpPr>
        <p:spPr>
          <a:xfrm>
            <a:off x="548640" y="4562856"/>
            <a:ext cx="11094415" cy="694944"/>
          </a:xfrm>
          <a:prstGeom prst="roundRect">
            <a:avLst>
              <a:gd name="adj" fmla="val 18421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23" name="badge"/>
          <p:cNvSpPr/>
          <p:nvPr/>
        </p:nvSpPr>
        <p:spPr>
          <a:xfrm>
            <a:off x="731520" y="46817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con FiSearc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791456"/>
            <a:ext cx="237744" cy="237744"/>
          </a:xfrm>
          <a:prstGeom prst="rect">
            <a:avLst/>
          </a:prstGeom>
        </p:spPr>
      </p:pic>
      <p:sp>
        <p:nvSpPr>
          <p:cNvPr id="25" name="out D. Google Ads opportunity"/>
          <p:cNvSpPr txBox="1"/>
          <p:nvPr/>
        </p:nvSpPr>
        <p:spPr>
          <a:xfrm>
            <a:off x="1371600" y="4562856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D. Google Ads opportunity</a:t>
            </a:r>
            <a:endParaRPr lang="en-US" sz="1500" dirty="0"/>
          </a:p>
        </p:txBody>
      </p:sp>
      <p:sp>
        <p:nvSpPr>
          <p:cNvPr id="26" name="out body D. Google Ads opportunity"/>
          <p:cNvSpPr txBox="1"/>
          <p:nvPr/>
        </p:nvSpPr>
        <p:spPr>
          <a:xfrm>
            <a:off x="4480560" y="4562856"/>
            <a:ext cx="69796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ADS RESEARCH, WEBSITE TRAFFIC RESEARCH, GOOGLE_ADS_OPPORTUNITY, GOOGLE_ADS_FIT</a:t>
            </a:r>
            <a:endParaRPr lang="en-US" sz="1300" dirty="0"/>
          </a:p>
        </p:txBody>
      </p:sp>
      <p:sp>
        <p:nvSpPr>
          <p:cNvPr id="27" name="row E. Management summary"/>
          <p:cNvSpPr/>
          <p:nvPr/>
        </p:nvSpPr>
        <p:spPr>
          <a:xfrm>
            <a:off x="548640" y="5367528"/>
            <a:ext cx="11094415" cy="694944"/>
          </a:xfrm>
          <a:prstGeom prst="roundRect">
            <a:avLst>
              <a:gd name="adj" fmla="val 18421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28" name="badge"/>
          <p:cNvSpPr/>
          <p:nvPr/>
        </p:nvSpPr>
        <p:spPr>
          <a:xfrm>
            <a:off x="731520" y="5486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con FiBarChart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596128"/>
            <a:ext cx="237744" cy="237744"/>
          </a:xfrm>
          <a:prstGeom prst="rect">
            <a:avLst/>
          </a:prstGeom>
        </p:spPr>
      </p:pic>
      <p:sp>
        <p:nvSpPr>
          <p:cNvPr id="30" name="out E. Management summary"/>
          <p:cNvSpPr txBox="1"/>
          <p:nvPr/>
        </p:nvSpPr>
        <p:spPr>
          <a:xfrm>
            <a:off x="1371600" y="5367528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E. Management summary</a:t>
            </a:r>
            <a:endParaRPr lang="en-US" sz="1500" dirty="0"/>
          </a:p>
        </p:txBody>
      </p:sp>
      <p:sp>
        <p:nvSpPr>
          <p:cNvPr id="31" name="out body E. Management summary"/>
          <p:cNvSpPr txBox="1"/>
          <p:nvPr/>
        </p:nvSpPr>
        <p:spPr>
          <a:xfrm>
            <a:off x="4480560" y="5367528"/>
            <a:ext cx="69796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MASTER MANAGEMENT VIEW: 12 columns per business, Top 5 industries, Top 10, management insight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ound29 BD">
  <a:themeElements>
    <a:clrScheme name="Around29 BD">
      <a:dk1>
        <a:srgbClr val="14213D"/>
      </a:dk1>
      <a:lt1>
        <a:srgbClr val="FFFFFF"/>
      </a:lt1>
      <a:dk2>
        <a:srgbClr val="4A5568"/>
      </a:dk2>
      <a:lt2>
        <a:srgbClr val="F3F5F8"/>
      </a:lt2>
      <a:accent1>
        <a:srgbClr val="E8A33D"/>
      </a:accent1>
      <a:accent2>
        <a:srgbClr val="1E2D4F"/>
      </a:accent2>
      <a:accent3>
        <a:srgbClr val="BFD8D5"/>
      </a:accent3>
      <a:accent4>
        <a:srgbClr val="8A9BB0"/>
      </a:accent4>
      <a:accent5>
        <a:srgbClr val="D9DEE6"/>
      </a:accent5>
      <a:accent6>
        <a:srgbClr val="2A9D8F"/>
      </a:accent6>
      <a:hlink>
        <a:srgbClr val="E8A33D"/>
      </a:hlink>
      <a:folHlink>
        <a:srgbClr val="E8A33D"/>
      </a:folHlink>
    </a:clrScheme>
    <a:fontScheme name="Around29 B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Ads Business Development Report</dc:title>
  <dc:subject>PptxGenJS Presentation</dc:subject>
  <dc:creator>Around29 Digital Media Solutions</dc:creator>
  <cp:lastModifiedBy>Around29 Digital Media Solutions</cp:lastModifiedBy>
  <cp:revision>1</cp:revision>
  <dcterms:created xsi:type="dcterms:W3CDTF">2026-10-08T16:42:59Z</dcterms:created>
  <dcterms:modified xsi:type="dcterms:W3CDTF">2026-10-08T16:42:59Z</dcterms:modified>
</cp:coreProperties>
</file>